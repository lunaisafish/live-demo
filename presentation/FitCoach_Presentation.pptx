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9be81530-4c9f-3246-5721-d82b77216b18}">
          <p14:sldIdLst>
            <p14:sldId id="256"/>
            <p14:sldId id="257"/>
          </p14:sldIdLst>
        </p14:section>
        <p14:section name="Agentic design" id="{86998e7d-dec2-de2e-9f18-3cffad7c6400}">
          <p14:sldIdLst>
            <p14:sldId id="258"/>
            <p14:sldId id="259"/>
            <p14:sldId id="260"/>
            <p14:sldId id="261"/>
          </p14:sldIdLst>
        </p14:section>
        <p14:section name="Prototype demo" id="{4627f00a-61e5-3c02-5814-63ab6ed57959}">
          <p14:sldIdLst>
            <p14:sldId id="262"/>
            <p14:sldId id="263"/>
          </p14:sldIdLst>
        </p14:section>
        <p14:section name="Safety and oversight" id="{96cf6d75-7bd2-ae54-84c5-c7e96cb7a7da}">
          <p14:sldIdLst>
            <p14:sldId id="264"/>
            <p14:sldId id="265"/>
            <p14:sldId id="266"/>
          </p14:sldIdLst>
        </p14:section>
        <p14:section name="Evaluation" id="{554fcf0f-a5af-fff7-f8b0-e1c5d62adb7a}">
          <p14:sldIdLst>
            <p14:sldId id="267"/>
            <p14:sldId id="268"/>
          </p14:sldIdLst>
        </p14:section>
        <p14:section name="Conclusion" id="{b8ddd804-468b-4306-ddbe-353b74e304a9}">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20 seconds.
We are group 22. FitCoach is a working prototype of an AI fitness coach. It reads one person's own wearable and self-report record, asks what the record cannot show, drafts training plans that only the person can save, and watches their data in the background. This is the running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35 seconds.
Wearables record training, sleep and heart rate in detail, but they decide nothing. A dashboard shows last week, a template plan ignores it, and a chatbot can sound convincing without reading the record. Deciding tomorrow's session needs three things: the person's own record, facts only they can give, and general guidance. It suits an agent because the task recurs, code can check the outputs, mistakes are reversible until the person saves, and tool access can be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One Agent runs three workflows. Check in answers questions about the person's state and history. Plan produces a training plan that the person saves at a checkpoint. Monitor runs in the background: code raises signals, and the Agent reviews each one and decides whether to alert. Each has a goal and a clear end. Our data is PMData, 16 people over five months. It is a finished dataset, so we replay it day by day: the coach only sees records up to the end of the chosen Simulation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There are four layers. The browser page talks to a small Python server, which keeps one conversation per person. The Agent runs on the OpenAI Codex SDK with gpt-5.6-terra. We chose it because conversations persist, the model API enforces the shape of the final answer, and its sandboxed shell gives the Agent a real file workspace and loads skills. The Agent reaches the record only through four tools, and none takes a participant id. Underneath, code seals every read at the simulation date, runs the detectors, checks every answer and writes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This is the principle behind the design. Code enforces the hard limits, and they hold whatever the model does: permissions, time, citations, memory quotes, the human commit, turn bounds and the audit log. The Agent makes the coaching decisions: what to read, what to ask, how to interpret, what to plan, whether a message describes a warning symptom, and whether to alert. Code can check a format exactly, but not whether a plan suits a person, so it does not try. That remaining risk is what our evaluation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seconds.
Grounding has two sources: the person's record, read only through tools, and a library of five documents in 16 passages, searched by keyword. Each tool result carries evidence IDs, and the answer cites them inline, as in this screenshot. Code checks that every cited ID comes from this turn, and guidelines cannot stand in for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50 seconds.
First demo: planning for p05 on 20 March 2020. The person asks to get back into running after an ankle problem. The Agent reads memory and the last 28 and 90 days, says the ankle was last recorded three days ago, then asks how they feel, which days they can train and what equipment they have, and waits. After the answer it stores the goal, days and equipment in the person's own words and drafts a week of two easy rides and a walk, with no running, citing NHS advice on sprains. The person saves version 1, then asks for a walk on Saturday, and the panel marks that day as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45 seconds.
Second demo: monitoring for p16. Advance to next review moves time forward one day at a time while seven detectors run in code. It stops on 1 March on the weekly-activity Condition, which has held since 22 November. Code hands the Agent the facts: severity, 101 days running, history, coverage and earlier Alerts, as facts to weigh, not cut-offs. The Agent reads the record, finds nothing that accounts for it, raises an Alert and chooses to look again in 14 days. An Alert is a prompt to pay attention, not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Three safety mechanisms. First, a plan is committed only when the person presses Save; only the server writes Saved Plans, so the model cannot bypass the person. Second, warning symptoms: here the person described dizziness and a pounding heart and asked for a plan. They got advice to stop and seek care, with no diagnosis and no plan, and code rejects any draft change in that turn. Third, requests to ignore the rules are refused and never stored; even if the model obeyed, it could not reach other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seconds.
Every turn records why it stopped, with six stop reasons, and a failed turn saves nothing. Every turn also adds one audit line with six fields. It stores the prompt and every tool call, never private reasoning. Each line carries a hash of the one before, so an edit breaks the chain, and the person's save is its own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35 seconds.
We planned for four risks. For hallucination, numbers come only from tools and answers cite this turn's evidence; 3.6 percent of Alert statements were still not supported. For prompt injection, all outside text is data and memory needs exact quotes; direct and mixed override requests were declined. For over-permissioning, there are four tools and a sandbox that a test runs directly. For alert fatigue, each signal is reviewed once or on a chosen day, and one Alert in three was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Results are from the recorded runs of 5 October. All 330 offline checks and all 72 live end-to-end checks passed, and 41 of 43 test cases behaved as expected. In 375 live turns, code sent back three answers for citing an earlier turn's ID, and each was corrected. Only the model recognises warning symptoms, so we probed it with 20 messages: 8 of 10 warning descriptions ended as safety advice and the other two still got care advice, while 2 of 10 harmless messages also ended as safety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45 seconds.
PMData has no labels for when a person should be alerted, so we built a reference. We replayed three whole records three times: 335 reviews and 79 Alerts. Two model raters, Claude Opus 5.5 rather than the coach's own model, labelled each review blind, and a third model pass, which we reviewed, settled the disputed cases. Mean precision was 0.69 and recall 0.78, so about two in three Alerts were right. The main error was repetition: 18 of 25 unnecessary Alerts repeated a Condition already reported. On facts, 96.4 percent of Alert statements were supported and 2.1 percent contradicted. The labels come from language models, checked by us, not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seconds.
To conclude: the limits that code enforces held in every test, and the Agent's judgement on when to alert was right about two times in three. That is useful, but not yet good enough to run without a person checking. The limitations and next steps are on the slide; the first priorities are fewer repeat Alerts and labels from a coach or clinician. Thank you. We welcome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5029200" cy="9601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834640"/>
            <a:ext cx="4846320" cy="1143000"/>
          </a:xfrm>
          <a:prstGeom prst="rect">
            <a:avLst/>
          </a:prstGeom>
          <a:noFill/>
          <a:ln/>
        </p:spPr>
        <p:txBody>
          <a:bodyPr wrap="square" rtlCol="0"/>
          <a:lstStyle>
            <a:lvl1pPr indent="0" marL="0">
              <a:buNone/>
              <a:defRPr lang="en-US" sz="2200" dirty="0">
                <a:solidFill>
                  <a:schemeClr val="bg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rtlCol="0"/>
          <a:lstStyle>
            <a:lvl1pPr indent="0" marL="0">
              <a:buNone/>
              <a:defRPr lang="en-US" sz="1200" b="1" spc="15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txBox="1"/>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accent4"/>
                </a:solidFill>
              </a:rPr>
              <a:t>FitCoach · CA6117 AI in Healthcare</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txBox="1"/>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FitCoach · CA6117 AI in Healthcare</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548640" y="1371600"/>
            <a:ext cx="5029200" cy="256032"/>
          </a:xfrm>
          <a:prstGeom prst="rect">
            <a:avLst/>
          </a:prstGeom>
          <a:noFill/>
          <a:ln/>
        </p:spPr>
        <p:txBody>
          <a:bodyPr wrap="square" lIns="0" tIns="0" rIns="0" bIns="0" rtlCol="0" anchor="t"/>
          <a:lstStyle/>
          <a:p>
            <a:pPr algn="l" indent="0" marL="0">
              <a:buNone/>
            </a:pPr>
            <a:r>
              <a:rPr lang="en-US" sz="1200" b="1" spc="150" kern="0" dirty="0">
                <a:solidFill>
                  <a:schemeClr val="accent2"/>
                </a:solidFill>
              </a:rPr>
              <a:t>CA6117 AI IN HEALTHCARE · GROUP PROJECT</a:t>
            </a:r>
            <a:endParaRPr lang="en-US" sz="1200" dirty="0"/>
          </a:p>
        </p:txBody>
      </p:sp>
      <p:sp>
        <p:nvSpPr>
          <p:cNvPr id="3" name="Text 0"/>
          <p:cNvSpPr/>
          <p:nvPr>
            <p:ph idx="100" type="title" hasCustomPrompt="1"/>
          </p:nvPr>
        </p:nvSpPr>
        <p:spPr>
          <a:xfrm>
            <a:off x="548640" y="1783080"/>
            <a:ext cx="5029200" cy="960120"/>
          </a:xfrm>
          <a:prstGeom prst="rect">
            <a:avLst/>
          </a:prstGeom>
          <a:noFill/>
          <a:ln/>
        </p:spPr>
        <p:txBody>
          <a:bodyPr wrap="square" lIns="0" tIns="0" rIns="0" bIns="0" rtlCol="0" anchor="t"/>
          <a:lstStyle/>
          <a:p>
            <a:pPr algn="l" indent="0" marL="0">
              <a:buNone/>
            </a:pPr>
            <a:r>
              <a:rPr lang="en-US" sz="6000" b="1" dirty="0">
                <a:solidFill>
                  <a:schemeClr val="bg1"/>
                </a:solidFill>
              </a:rPr>
              <a:t>FitCoach</a:t>
            </a:r>
            <a:endParaRPr lang="en-US" sz="6000" dirty="0"/>
          </a:p>
        </p:txBody>
      </p:sp>
      <p:sp>
        <p:nvSpPr>
          <p:cNvPr id="4" name="Text 0"/>
          <p:cNvSpPr/>
          <p:nvPr>
            <p:ph idx="101" type="body" hasCustomPrompt="1"/>
          </p:nvPr>
        </p:nvSpPr>
        <p:spPr>
          <a:xfrm>
            <a:off x="548640" y="2834640"/>
            <a:ext cx="4846320" cy="1143000"/>
          </a:xfrm>
          <a:prstGeom prst="rect">
            <a:avLst/>
          </a:prstGeom>
          <a:noFill/>
          <a:ln/>
        </p:spPr>
        <p:txBody>
          <a:bodyPr wrap="square" lIns="0" tIns="0" rIns="0" bIns="0" rtlCol="0" anchor="t"/>
          <a:lstStyle/>
          <a:p>
            <a:pPr indent="0" marL="0">
              <a:buNone/>
            </a:pPr>
            <a:r>
              <a:rPr lang="en-US" sz="2200" dirty="0">
                <a:solidFill>
                  <a:schemeClr val="bg1"/>
                </a:solidFill>
              </a:rPr>
              <a:t>An agentic personal coach grounded in a person's own health record</a:t>
            </a:r>
            <a:endParaRPr lang="en-US" sz="2200" dirty="0"/>
          </a:p>
        </p:txBody>
      </p:sp>
      <p:sp>
        <p:nvSpPr>
          <p:cNvPr id="5" name="Text 2"/>
          <p:cNvSpPr txBox="1"/>
          <p:nvPr/>
        </p:nvSpPr>
        <p:spPr>
          <a:xfrm>
            <a:off x="548640" y="4251960"/>
            <a:ext cx="4846320" cy="274320"/>
          </a:xfrm>
          <a:prstGeom prst="rect">
            <a:avLst/>
          </a:prstGeom>
          <a:noFill/>
          <a:ln/>
        </p:spPr>
        <p:txBody>
          <a:bodyPr wrap="square" lIns="0" tIns="0" rIns="0" bIns="0" rtlCol="0" anchor="t"/>
          <a:lstStyle/>
          <a:p>
            <a:pPr algn="l" indent="0" marL="0">
              <a:buNone/>
            </a:pPr>
            <a:r>
              <a:rPr lang="en-US" sz="1400" dirty="0">
                <a:solidFill>
                  <a:schemeClr val="accent5"/>
                </a:solidFill>
              </a:rPr>
              <a:t>Group 22</a:t>
            </a:r>
            <a:endParaRPr lang="en-US" sz="1400" dirty="0"/>
          </a:p>
        </p:txBody>
      </p:sp>
      <p:sp>
        <p:nvSpPr>
          <p:cNvPr id="6" name="Text 3"/>
          <p:cNvSpPr txBox="1"/>
          <p:nvPr/>
        </p:nvSpPr>
        <p:spPr>
          <a:xfrm>
            <a:off x="548640" y="4553712"/>
            <a:ext cx="4846320" cy="274320"/>
          </a:xfrm>
          <a:prstGeom prst="rect">
            <a:avLst/>
          </a:prstGeom>
          <a:noFill/>
          <a:ln/>
        </p:spPr>
        <p:txBody>
          <a:bodyPr wrap="square" lIns="0" tIns="0" rIns="0" bIns="0" rtlCol="0" anchor="t"/>
          <a:lstStyle/>
          <a:p>
            <a:pPr algn="l" indent="0" marL="0">
              <a:buNone/>
            </a:pPr>
            <a:r>
              <a:rPr lang="en-US" sz="1400" dirty="0">
                <a:solidFill>
                  <a:schemeClr val="accent5"/>
                </a:solidFill>
              </a:rPr>
              <a:t>Li Yiwei, Lu Yu, Liu Ziwei</a:t>
            </a:r>
            <a:endParaRPr lang="en-US" sz="1400" dirty="0"/>
          </a:p>
        </p:txBody>
      </p:sp>
      <p:sp>
        <p:nvSpPr>
          <p:cNvPr id="7" name="Card 4"/>
          <p:cNvSpPr/>
          <p:nvPr/>
        </p:nvSpPr>
        <p:spPr>
          <a:xfrm>
            <a:off x="6537960" y="1143000"/>
            <a:ext cx="5120640" cy="4198620"/>
          </a:xfrm>
          <a:prstGeom prst="roundRect">
            <a:avLst>
              <a:gd name="adj" fmla="val 1089"/>
            </a:avLst>
          </a:prstGeom>
          <a:solidFill>
            <a:schemeClr val="bg1"/>
          </a:solidFill>
          <a:ln w="9525">
            <a:solidFill>
              <a:schemeClr val="accent4">
                <a:alpha val="35000"/>
              </a:schemeClr>
            </a:solidFill>
            <a:prstDash val="solid"/>
          </a:ln>
        </p:spPr>
      </p:sp>
      <p:pic>
        <p:nvPicPr>
          <p:cNvPr id="8" name="Screenshot 5" descr="The FitCoach page in Plan mode: conversation, live Agent trail and plan panel under the simulation date bar">    </p:cNvPr>
          <p:cNvPicPr>
            <a:picLocks noChangeAspect="1"/>
          </p:cNvPicPr>
          <p:nvPr/>
        </p:nvPicPr>
        <p:blipFill>
          <a:blip r:embed="rId1"/>
          <a:stretch>
            <a:fillRect/>
          </a:stretch>
        </p:blipFill>
        <p:spPr>
          <a:xfrm>
            <a:off x="6583680" y="1188720"/>
            <a:ext cx="5029200" cy="4107180"/>
          </a:xfrm>
          <a:prstGeom prst="rect">
            <a:avLst/>
          </a:prstGeom>
        </p:spPr>
      </p:pic>
      <p:sp>
        <p:nvSpPr>
          <p:cNvPr id="9" name="Text 6"/>
          <p:cNvSpPr txBox="1"/>
          <p:nvPr/>
        </p:nvSpPr>
        <p:spPr>
          <a:xfrm>
            <a:off x="6583680" y="5440680"/>
            <a:ext cx="5029200" cy="457200"/>
          </a:xfrm>
          <a:prstGeom prst="rect">
            <a:avLst/>
          </a:prstGeom>
          <a:noFill/>
          <a:ln/>
        </p:spPr>
        <p:txBody>
          <a:bodyPr wrap="square" lIns="0" tIns="0" rIns="0" bIns="0" rtlCol="0" anchor="t"/>
          <a:lstStyle/>
          <a:p>
            <a:pPr algn="l" indent="0" marL="0">
              <a:buNone/>
            </a:pPr>
            <a:r>
              <a:rPr lang="en-US" sz="1200" dirty="0">
                <a:solidFill>
                  <a:schemeClr val="accent5"/>
                </a:solidFill>
              </a:rPr>
              <a:t>The running prototype: conversation, the Agent's live trail and the plan panel, under the Simulation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THE PROBLEM</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Wearables record everything and decide nothing</a:t>
            </a:r>
            <a:endParaRPr lang="en-US" sz="2800" dirty="0"/>
          </a:p>
        </p:txBody>
      </p:sp>
      <p:sp>
        <p:nvSpPr>
          <p:cNvPr id="5" name="Card 7"/>
          <p:cNvSpPr/>
          <p:nvPr/>
        </p:nvSpPr>
        <p:spPr>
          <a:xfrm>
            <a:off x="548640" y="1554480"/>
            <a:ext cx="3515258" cy="1280160"/>
          </a:xfrm>
          <a:prstGeom prst="roundRect">
            <a:avLst>
              <a:gd name="adj" fmla="val 6429"/>
            </a:avLst>
          </a:prstGeom>
          <a:solidFill>
            <a:schemeClr val="bg1"/>
          </a:solidFill>
          <a:ln w="9525">
            <a:solidFill>
              <a:schemeClr val="accent4">
                <a:alpha val="35000"/>
              </a:schemeClr>
            </a:solidFill>
            <a:prstDash val="solid"/>
          </a:ln>
        </p:spPr>
      </p:sp>
      <p:sp>
        <p:nvSpPr>
          <p:cNvPr id="6" name="Text 8"/>
          <p:cNvSpPr txBox="1"/>
          <p:nvPr/>
        </p:nvSpPr>
        <p:spPr>
          <a:xfrm>
            <a:off x="777240" y="1737360"/>
            <a:ext cx="3058058" cy="310896"/>
          </a:xfrm>
          <a:prstGeom prst="rect">
            <a:avLst/>
          </a:prstGeom>
          <a:noFill/>
          <a:ln/>
        </p:spPr>
        <p:txBody>
          <a:bodyPr wrap="square" lIns="0" tIns="0" rIns="0" bIns="0" rtlCol="0" anchor="t"/>
          <a:lstStyle/>
          <a:p>
            <a:pPr algn="l" indent="0" marL="0">
              <a:buNone/>
            </a:pPr>
            <a:r>
              <a:rPr lang="en-US" sz="1800" b="1" dirty="0">
                <a:solidFill>
                  <a:schemeClr val="tx2"/>
                </a:solidFill>
              </a:rPr>
              <a:t>Dashboard</a:t>
            </a:r>
            <a:endParaRPr lang="en-US" sz="1800" dirty="0"/>
          </a:p>
        </p:txBody>
      </p:sp>
      <p:sp>
        <p:nvSpPr>
          <p:cNvPr id="7" name="Text 9"/>
          <p:cNvSpPr txBox="1"/>
          <p:nvPr/>
        </p:nvSpPr>
        <p:spPr>
          <a:xfrm>
            <a:off x="777240" y="2121408"/>
            <a:ext cx="3058058" cy="548640"/>
          </a:xfrm>
          <a:prstGeom prst="rect">
            <a:avLst/>
          </a:prstGeom>
          <a:noFill/>
          <a:ln/>
        </p:spPr>
        <p:txBody>
          <a:bodyPr wrap="square" lIns="0" tIns="0" rIns="0" bIns="0" rtlCol="0" anchor="t"/>
          <a:lstStyle/>
          <a:p>
            <a:pPr algn="l" indent="0" marL="0">
              <a:buNone/>
            </a:pPr>
            <a:r>
              <a:rPr lang="en-US" sz="1400" dirty="0">
                <a:solidFill>
                  <a:schemeClr val="accent4"/>
                </a:solidFill>
              </a:rPr>
              <a:t>Shows last week. It does not say what to do tomorrow.</a:t>
            </a:r>
            <a:endParaRPr lang="en-US" sz="1400" dirty="0"/>
          </a:p>
        </p:txBody>
      </p:sp>
      <p:sp>
        <p:nvSpPr>
          <p:cNvPr id="8" name="Card 10"/>
          <p:cNvSpPr/>
          <p:nvPr/>
        </p:nvSpPr>
        <p:spPr>
          <a:xfrm>
            <a:off x="4338218" y="1554480"/>
            <a:ext cx="3515258" cy="1280160"/>
          </a:xfrm>
          <a:prstGeom prst="roundRect">
            <a:avLst>
              <a:gd name="adj" fmla="val 6429"/>
            </a:avLst>
          </a:prstGeom>
          <a:solidFill>
            <a:schemeClr val="bg1"/>
          </a:solidFill>
          <a:ln w="9525">
            <a:solidFill>
              <a:schemeClr val="accent4">
                <a:alpha val="35000"/>
              </a:schemeClr>
            </a:solidFill>
            <a:prstDash val="solid"/>
          </a:ln>
        </p:spPr>
      </p:sp>
      <p:sp>
        <p:nvSpPr>
          <p:cNvPr id="9" name="Text 11"/>
          <p:cNvSpPr txBox="1"/>
          <p:nvPr/>
        </p:nvSpPr>
        <p:spPr>
          <a:xfrm>
            <a:off x="4566818" y="1737360"/>
            <a:ext cx="3058058" cy="310896"/>
          </a:xfrm>
          <a:prstGeom prst="rect">
            <a:avLst/>
          </a:prstGeom>
          <a:noFill/>
          <a:ln/>
        </p:spPr>
        <p:txBody>
          <a:bodyPr wrap="square" lIns="0" tIns="0" rIns="0" bIns="0" rtlCol="0" anchor="t"/>
          <a:lstStyle/>
          <a:p>
            <a:pPr algn="l" indent="0" marL="0">
              <a:buNone/>
            </a:pPr>
            <a:r>
              <a:rPr lang="en-US" sz="1800" b="1" dirty="0">
                <a:solidFill>
                  <a:schemeClr val="tx2"/>
                </a:solidFill>
              </a:rPr>
              <a:t>Template plan</a:t>
            </a:r>
            <a:endParaRPr lang="en-US" sz="1800" dirty="0"/>
          </a:p>
        </p:txBody>
      </p:sp>
      <p:sp>
        <p:nvSpPr>
          <p:cNvPr id="10" name="Text 12"/>
          <p:cNvSpPr txBox="1"/>
          <p:nvPr/>
        </p:nvSpPr>
        <p:spPr>
          <a:xfrm>
            <a:off x="4566818" y="2121408"/>
            <a:ext cx="3058058" cy="548640"/>
          </a:xfrm>
          <a:prstGeom prst="rect">
            <a:avLst/>
          </a:prstGeom>
          <a:noFill/>
          <a:ln/>
        </p:spPr>
        <p:txBody>
          <a:bodyPr wrap="square" lIns="0" tIns="0" rIns="0" bIns="0" rtlCol="0" anchor="t"/>
          <a:lstStyle/>
          <a:p>
            <a:pPr algn="l" indent="0" marL="0">
              <a:buNone/>
            </a:pPr>
            <a:r>
              <a:rPr lang="en-US" sz="1400" dirty="0">
                <a:solidFill>
                  <a:schemeClr val="accent4"/>
                </a:solidFill>
              </a:rPr>
              <a:t>The same schedule for everyone. It ignores the record.</a:t>
            </a:r>
            <a:endParaRPr lang="en-US" sz="1400" dirty="0"/>
          </a:p>
        </p:txBody>
      </p:sp>
      <p:sp>
        <p:nvSpPr>
          <p:cNvPr id="11" name="Card 13"/>
          <p:cNvSpPr/>
          <p:nvPr/>
        </p:nvSpPr>
        <p:spPr>
          <a:xfrm>
            <a:off x="8127797" y="1554480"/>
            <a:ext cx="3515258" cy="1280160"/>
          </a:xfrm>
          <a:prstGeom prst="roundRect">
            <a:avLst>
              <a:gd name="adj" fmla="val 6429"/>
            </a:avLst>
          </a:prstGeom>
          <a:solidFill>
            <a:schemeClr val="bg1"/>
          </a:solidFill>
          <a:ln w="9525">
            <a:solidFill>
              <a:schemeClr val="accent4">
                <a:alpha val="35000"/>
              </a:schemeClr>
            </a:solidFill>
            <a:prstDash val="solid"/>
          </a:ln>
        </p:spPr>
      </p:sp>
      <p:sp>
        <p:nvSpPr>
          <p:cNvPr id="12" name="Text 14"/>
          <p:cNvSpPr txBox="1"/>
          <p:nvPr/>
        </p:nvSpPr>
        <p:spPr>
          <a:xfrm>
            <a:off x="8356397" y="1737360"/>
            <a:ext cx="3058058" cy="310896"/>
          </a:xfrm>
          <a:prstGeom prst="rect">
            <a:avLst/>
          </a:prstGeom>
          <a:noFill/>
          <a:ln/>
        </p:spPr>
        <p:txBody>
          <a:bodyPr wrap="square" lIns="0" tIns="0" rIns="0" bIns="0" rtlCol="0" anchor="t"/>
          <a:lstStyle/>
          <a:p>
            <a:pPr algn="l" indent="0" marL="0">
              <a:buNone/>
            </a:pPr>
            <a:r>
              <a:rPr lang="en-US" sz="1800" b="1" dirty="0">
                <a:solidFill>
                  <a:schemeClr val="tx2"/>
                </a:solidFill>
              </a:rPr>
              <a:t>General chatbot</a:t>
            </a:r>
            <a:endParaRPr lang="en-US" sz="1800" dirty="0"/>
          </a:p>
        </p:txBody>
      </p:sp>
      <p:sp>
        <p:nvSpPr>
          <p:cNvPr id="13" name="Text 15"/>
          <p:cNvSpPr txBox="1"/>
          <p:nvPr/>
        </p:nvSpPr>
        <p:spPr>
          <a:xfrm>
            <a:off x="8356397" y="2121408"/>
            <a:ext cx="3058058" cy="548640"/>
          </a:xfrm>
          <a:prstGeom prst="rect">
            <a:avLst/>
          </a:prstGeom>
          <a:noFill/>
          <a:ln/>
        </p:spPr>
        <p:txBody>
          <a:bodyPr wrap="square" lIns="0" tIns="0" rIns="0" bIns="0" rtlCol="0" anchor="t"/>
          <a:lstStyle/>
          <a:p>
            <a:pPr algn="l" indent="0" marL="0">
              <a:buNone/>
            </a:pPr>
            <a:r>
              <a:rPr lang="en-US" sz="1400" dirty="0">
                <a:solidFill>
                  <a:schemeClr val="accent4"/>
                </a:solidFill>
              </a:rPr>
              <a:t>Sounds convincing without having read the record.</a:t>
            </a:r>
            <a:endParaRPr lang="en-US" sz="1400" dirty="0"/>
          </a:p>
        </p:txBody>
      </p:sp>
      <p:sp>
        <p:nvSpPr>
          <p:cNvPr id="14" name="Card 16"/>
          <p:cNvSpPr/>
          <p:nvPr/>
        </p:nvSpPr>
        <p:spPr>
          <a:xfrm>
            <a:off x="548640" y="3108960"/>
            <a:ext cx="11094415" cy="1554480"/>
          </a:xfrm>
          <a:prstGeom prst="roundRect">
            <a:avLst>
              <a:gd name="adj" fmla="val 5294"/>
            </a:avLst>
          </a:prstGeom>
          <a:solidFill>
            <a:schemeClr val="tx2"/>
          </a:solidFill>
          <a:ln/>
        </p:spPr>
      </p:sp>
      <p:sp>
        <p:nvSpPr>
          <p:cNvPr id="15" name="Text 17"/>
          <p:cNvSpPr txBox="1"/>
          <p:nvPr/>
        </p:nvSpPr>
        <p:spPr>
          <a:xfrm>
            <a:off x="822960" y="3310128"/>
            <a:ext cx="5486400" cy="219456"/>
          </a:xfrm>
          <a:prstGeom prst="rect">
            <a:avLst/>
          </a:prstGeom>
          <a:noFill/>
          <a:ln/>
        </p:spPr>
        <p:txBody>
          <a:bodyPr wrap="square" lIns="0" tIns="0" rIns="0" bIns="0" rtlCol="0" anchor="t"/>
          <a:lstStyle/>
          <a:p>
            <a:pPr algn="l" indent="0" marL="0">
              <a:buNone/>
            </a:pPr>
            <a:r>
              <a:rPr lang="en-US" sz="1050" b="1" spc="120" kern="0" dirty="0">
                <a:solidFill>
                  <a:schemeClr val="accent2"/>
                </a:solidFill>
              </a:rPr>
              <a:t>WHAT TOMORROW'S DECISION NEEDS</a:t>
            </a:r>
            <a:endParaRPr lang="en-US" sz="1050" dirty="0"/>
          </a:p>
        </p:txBody>
      </p:sp>
      <p:sp>
        <p:nvSpPr>
          <p:cNvPr id="16" name="Dot 18"/>
          <p:cNvSpPr/>
          <p:nvPr/>
        </p:nvSpPr>
        <p:spPr>
          <a:xfrm>
            <a:off x="822960" y="3730752"/>
            <a:ext cx="457200" cy="457200"/>
          </a:xfrm>
          <a:prstGeom prst="ellipse">
            <a:avLst/>
          </a:prstGeom>
          <a:solidFill>
            <a:schemeClr val="accent2"/>
          </a:solidFill>
          <a:ln/>
        </p:spPr>
      </p:sp>
      <p:sp>
        <p:nvSpPr>
          <p:cNvPr id="17" name="Text 19"/>
          <p:cNvSpPr txBox="1"/>
          <p:nvPr/>
        </p:nvSpPr>
        <p:spPr>
          <a:xfrm>
            <a:off x="822960" y="3730752"/>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18" name="Text 20"/>
          <p:cNvSpPr txBox="1"/>
          <p:nvPr/>
        </p:nvSpPr>
        <p:spPr>
          <a:xfrm>
            <a:off x="1444752" y="3675888"/>
            <a:ext cx="2600858" cy="731520"/>
          </a:xfrm>
          <a:prstGeom prst="rect">
            <a:avLst/>
          </a:prstGeom>
          <a:noFill/>
          <a:ln/>
        </p:spPr>
        <p:txBody>
          <a:bodyPr wrap="square" lIns="0" tIns="0" rIns="0" bIns="0" rtlCol="0" anchor="ctr"/>
          <a:lstStyle/>
          <a:p>
            <a:pPr algn="l" indent="0" marL="0">
              <a:buNone/>
            </a:pPr>
            <a:r>
              <a:rPr lang="en-US" sz="1500" dirty="0">
                <a:solidFill>
                  <a:schemeClr val="bg1"/>
                </a:solidFill>
              </a:rPr>
              <a:t>The person's own record over months, not a single day</a:t>
            </a:r>
            <a:endParaRPr lang="en-US" sz="1500" dirty="0"/>
          </a:p>
        </p:txBody>
      </p:sp>
      <p:sp>
        <p:nvSpPr>
          <p:cNvPr id="19" name="Dot 21"/>
          <p:cNvSpPr/>
          <p:nvPr/>
        </p:nvSpPr>
        <p:spPr>
          <a:xfrm>
            <a:off x="4429658" y="3730752"/>
            <a:ext cx="457200" cy="457200"/>
          </a:xfrm>
          <a:prstGeom prst="ellipse">
            <a:avLst/>
          </a:prstGeom>
          <a:solidFill>
            <a:schemeClr val="accent2"/>
          </a:solidFill>
          <a:ln/>
        </p:spPr>
      </p:sp>
      <p:sp>
        <p:nvSpPr>
          <p:cNvPr id="20" name="Text 22"/>
          <p:cNvSpPr txBox="1"/>
          <p:nvPr/>
        </p:nvSpPr>
        <p:spPr>
          <a:xfrm>
            <a:off x="4429658" y="3730752"/>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21" name="Text 23"/>
          <p:cNvSpPr txBox="1"/>
          <p:nvPr/>
        </p:nvSpPr>
        <p:spPr>
          <a:xfrm>
            <a:off x="5051450" y="3675888"/>
            <a:ext cx="2600858" cy="731520"/>
          </a:xfrm>
          <a:prstGeom prst="rect">
            <a:avLst/>
          </a:prstGeom>
          <a:noFill/>
          <a:ln/>
        </p:spPr>
        <p:txBody>
          <a:bodyPr wrap="square" lIns="0" tIns="0" rIns="0" bIns="0" rtlCol="0" anchor="ctr"/>
          <a:lstStyle/>
          <a:p>
            <a:pPr algn="l" indent="0" marL="0">
              <a:buNone/>
            </a:pPr>
            <a:r>
              <a:rPr lang="en-US" sz="1500" dirty="0">
                <a:solidFill>
                  <a:schemeClr val="bg1"/>
                </a:solidFill>
              </a:rPr>
              <a:t>Facts only the person can give: pain, free days, goals, dislikes</a:t>
            </a:r>
            <a:endParaRPr lang="en-US" sz="1500" dirty="0"/>
          </a:p>
        </p:txBody>
      </p:sp>
      <p:sp>
        <p:nvSpPr>
          <p:cNvPr id="22" name="Dot 24"/>
          <p:cNvSpPr/>
          <p:nvPr/>
        </p:nvSpPr>
        <p:spPr>
          <a:xfrm>
            <a:off x="8036357" y="3730752"/>
            <a:ext cx="457200" cy="457200"/>
          </a:xfrm>
          <a:prstGeom prst="ellipse">
            <a:avLst/>
          </a:prstGeom>
          <a:solidFill>
            <a:schemeClr val="accent2"/>
          </a:solidFill>
          <a:ln/>
        </p:spPr>
      </p:sp>
      <p:sp>
        <p:nvSpPr>
          <p:cNvPr id="23" name="Text 25"/>
          <p:cNvSpPr txBox="1"/>
          <p:nvPr/>
        </p:nvSpPr>
        <p:spPr>
          <a:xfrm>
            <a:off x="8036357" y="3730752"/>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4" name="Text 26"/>
          <p:cNvSpPr txBox="1"/>
          <p:nvPr/>
        </p:nvSpPr>
        <p:spPr>
          <a:xfrm>
            <a:off x="8658149" y="3675888"/>
            <a:ext cx="2600858" cy="731520"/>
          </a:xfrm>
          <a:prstGeom prst="rect">
            <a:avLst/>
          </a:prstGeom>
          <a:noFill/>
          <a:ln/>
        </p:spPr>
        <p:txBody>
          <a:bodyPr wrap="square" lIns="0" tIns="0" rIns="0" bIns="0" rtlCol="0" anchor="ctr"/>
          <a:lstStyle/>
          <a:p>
            <a:pPr algn="l" indent="0" marL="0">
              <a:buNone/>
            </a:pPr>
            <a:r>
              <a:rPr lang="en-US" sz="1500" dirty="0">
                <a:solidFill>
                  <a:schemeClr val="bg1"/>
                </a:solidFill>
              </a:rPr>
              <a:t>General guidance on how much activity or sleep is enough</a:t>
            </a:r>
            <a:endParaRPr lang="en-US" sz="1500" dirty="0"/>
          </a:p>
        </p:txBody>
      </p:sp>
      <p:sp>
        <p:nvSpPr>
          <p:cNvPr id="25" name="Text 27"/>
          <p:cNvSpPr txBox="1"/>
          <p:nvPr/>
        </p:nvSpPr>
        <p:spPr>
          <a:xfrm>
            <a:off x="548640" y="4956048"/>
            <a:ext cx="5486400"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WHY AN AGENT, NOT A CHATBOT</a:t>
            </a:r>
            <a:endParaRPr lang="en-US" sz="1050" dirty="0"/>
          </a:p>
        </p:txBody>
      </p:sp>
      <p:sp>
        <p:nvSpPr>
          <p:cNvPr id="26" name="Card 28"/>
          <p:cNvSpPr/>
          <p:nvPr/>
        </p:nvSpPr>
        <p:spPr>
          <a:xfrm>
            <a:off x="548640" y="5285232"/>
            <a:ext cx="2609012" cy="777240"/>
          </a:xfrm>
          <a:prstGeom prst="roundRect">
            <a:avLst>
              <a:gd name="adj" fmla="val 10588"/>
            </a:avLst>
          </a:prstGeom>
          <a:solidFill>
            <a:schemeClr val="accent5"/>
          </a:solidFill>
          <a:ln/>
        </p:spPr>
      </p:sp>
      <p:sp>
        <p:nvSpPr>
          <p:cNvPr id="27" name="Text 29"/>
          <p:cNvSpPr txBox="1"/>
          <p:nvPr/>
        </p:nvSpPr>
        <p:spPr>
          <a:xfrm>
            <a:off x="731520" y="5285232"/>
            <a:ext cx="2243252" cy="777240"/>
          </a:xfrm>
          <a:prstGeom prst="rect">
            <a:avLst/>
          </a:prstGeom>
          <a:noFill/>
          <a:ln/>
        </p:spPr>
        <p:txBody>
          <a:bodyPr wrap="square" lIns="0" tIns="0" rIns="0" bIns="0" rtlCol="0" anchor="ctr"/>
          <a:lstStyle/>
          <a:p>
            <a:pPr algn="l" indent="0" marL="0">
              <a:buNone/>
            </a:pPr>
            <a:r>
              <a:rPr lang="en-US" sz="1400" b="1" dirty="0">
                <a:solidFill>
                  <a:schemeClr val="tx2"/>
                </a:solidFill>
              </a:rPr>
              <a:t>Recurring task within one person's record</a:t>
            </a:r>
            <a:endParaRPr lang="en-US" sz="1400" dirty="0"/>
          </a:p>
        </p:txBody>
      </p:sp>
      <p:sp>
        <p:nvSpPr>
          <p:cNvPr id="28" name="Card 30"/>
          <p:cNvSpPr/>
          <p:nvPr/>
        </p:nvSpPr>
        <p:spPr>
          <a:xfrm>
            <a:off x="3377108" y="5285232"/>
            <a:ext cx="2609012" cy="777240"/>
          </a:xfrm>
          <a:prstGeom prst="roundRect">
            <a:avLst>
              <a:gd name="adj" fmla="val 10588"/>
            </a:avLst>
          </a:prstGeom>
          <a:solidFill>
            <a:schemeClr val="accent5"/>
          </a:solidFill>
          <a:ln/>
        </p:spPr>
      </p:sp>
      <p:sp>
        <p:nvSpPr>
          <p:cNvPr id="29" name="Text 31"/>
          <p:cNvSpPr txBox="1"/>
          <p:nvPr/>
        </p:nvSpPr>
        <p:spPr>
          <a:xfrm>
            <a:off x="3559988" y="5285232"/>
            <a:ext cx="2243252" cy="777240"/>
          </a:xfrm>
          <a:prstGeom prst="rect">
            <a:avLst/>
          </a:prstGeom>
          <a:noFill/>
          <a:ln/>
        </p:spPr>
        <p:txBody>
          <a:bodyPr wrap="square" lIns="0" tIns="0" rIns="0" bIns="0" rtlCol="0" anchor="ctr"/>
          <a:lstStyle/>
          <a:p>
            <a:pPr algn="l" indent="0" marL="0">
              <a:buNone/>
            </a:pPr>
            <a:r>
              <a:rPr lang="en-US" sz="1400" b="1" dirty="0">
                <a:solidFill>
                  <a:schemeClr val="tx2"/>
                </a:solidFill>
              </a:rPr>
              <a:t>Outputs that code can check</a:t>
            </a:r>
            <a:endParaRPr lang="en-US" sz="1400" dirty="0"/>
          </a:p>
        </p:txBody>
      </p:sp>
      <p:sp>
        <p:nvSpPr>
          <p:cNvPr id="30" name="Card 32"/>
          <p:cNvSpPr/>
          <p:nvPr/>
        </p:nvSpPr>
        <p:spPr>
          <a:xfrm>
            <a:off x="6205576" y="5285232"/>
            <a:ext cx="2609012" cy="777240"/>
          </a:xfrm>
          <a:prstGeom prst="roundRect">
            <a:avLst>
              <a:gd name="adj" fmla="val 10588"/>
            </a:avLst>
          </a:prstGeom>
          <a:solidFill>
            <a:schemeClr val="accent5"/>
          </a:solidFill>
          <a:ln/>
        </p:spPr>
      </p:sp>
      <p:sp>
        <p:nvSpPr>
          <p:cNvPr id="31" name="Text 33"/>
          <p:cNvSpPr txBox="1"/>
          <p:nvPr/>
        </p:nvSpPr>
        <p:spPr>
          <a:xfrm>
            <a:off x="6388456" y="5285232"/>
            <a:ext cx="2243252" cy="777240"/>
          </a:xfrm>
          <a:prstGeom prst="rect">
            <a:avLst/>
          </a:prstGeom>
          <a:noFill/>
          <a:ln/>
        </p:spPr>
        <p:txBody>
          <a:bodyPr wrap="square" lIns="0" tIns="0" rIns="0" bIns="0" rtlCol="0" anchor="ctr"/>
          <a:lstStyle/>
          <a:p>
            <a:pPr algn="l" indent="0" marL="0">
              <a:buNone/>
            </a:pPr>
            <a:r>
              <a:rPr lang="en-US" sz="1400" b="1" dirty="0">
                <a:solidFill>
                  <a:schemeClr val="tx2"/>
                </a:solidFill>
              </a:rPr>
              <a:t>Reversible until the person saves</a:t>
            </a:r>
            <a:endParaRPr lang="en-US" sz="1400" dirty="0"/>
          </a:p>
        </p:txBody>
      </p:sp>
      <p:sp>
        <p:nvSpPr>
          <p:cNvPr id="32" name="Card 34"/>
          <p:cNvSpPr/>
          <p:nvPr/>
        </p:nvSpPr>
        <p:spPr>
          <a:xfrm>
            <a:off x="9034043" y="5285232"/>
            <a:ext cx="2609012" cy="777240"/>
          </a:xfrm>
          <a:prstGeom prst="roundRect">
            <a:avLst>
              <a:gd name="adj" fmla="val 10588"/>
            </a:avLst>
          </a:prstGeom>
          <a:solidFill>
            <a:schemeClr val="accent5"/>
          </a:solidFill>
          <a:ln/>
        </p:spPr>
      </p:sp>
      <p:sp>
        <p:nvSpPr>
          <p:cNvPr id="33" name="Text 35"/>
          <p:cNvSpPr txBox="1"/>
          <p:nvPr/>
        </p:nvSpPr>
        <p:spPr>
          <a:xfrm>
            <a:off x="9216923" y="5285232"/>
            <a:ext cx="2243252" cy="777240"/>
          </a:xfrm>
          <a:prstGeom prst="rect">
            <a:avLst/>
          </a:prstGeom>
          <a:noFill/>
          <a:ln/>
        </p:spPr>
        <p:txBody>
          <a:bodyPr wrap="square" lIns="0" tIns="0" rIns="0" bIns="0" rtlCol="0" anchor="ctr"/>
          <a:lstStyle/>
          <a:p>
            <a:pPr algn="l" indent="0" marL="0">
              <a:buNone/>
            </a:pPr>
            <a:r>
              <a:rPr lang="en-US" sz="1400" b="1" dirty="0">
                <a:solidFill>
                  <a:schemeClr val="tx2"/>
                </a:solidFill>
              </a:rPr>
              <a:t>Tool access limited to the task</a:t>
            </a:r>
            <a:endParaRPr lang="en-US" sz="1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AGENTIC WORKFLOW</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One Agent, three workflows, one replayed record</a:t>
            </a:r>
            <a:endParaRPr lang="en-US" sz="2800" dirty="0"/>
          </a:p>
        </p:txBody>
      </p:sp>
      <p:sp>
        <p:nvSpPr>
          <p:cNvPr id="5" name="Card 36"/>
          <p:cNvSpPr/>
          <p:nvPr/>
        </p:nvSpPr>
        <p:spPr>
          <a:xfrm>
            <a:off x="548640" y="1554480"/>
            <a:ext cx="3515258" cy="3611880"/>
          </a:xfrm>
          <a:prstGeom prst="roundRect">
            <a:avLst>
              <a:gd name="adj" fmla="val 2341"/>
            </a:avLst>
          </a:prstGeom>
          <a:solidFill>
            <a:schemeClr val="bg1"/>
          </a:solidFill>
          <a:ln w="9525">
            <a:solidFill>
              <a:schemeClr val="accent4">
                <a:alpha val="35000"/>
              </a:schemeClr>
            </a:solidFill>
            <a:prstDash val="solid"/>
          </a:ln>
        </p:spPr>
      </p:sp>
      <p:sp>
        <p:nvSpPr>
          <p:cNvPr id="6" name="Dot 37"/>
          <p:cNvSpPr/>
          <p:nvPr/>
        </p:nvSpPr>
        <p:spPr>
          <a:xfrm>
            <a:off x="777240" y="1783080"/>
            <a:ext cx="420624" cy="420624"/>
          </a:xfrm>
          <a:prstGeom prst="ellipse">
            <a:avLst/>
          </a:prstGeom>
          <a:solidFill>
            <a:schemeClr val="tx2"/>
          </a:solidFill>
          <a:ln/>
        </p:spPr>
      </p:sp>
      <p:sp>
        <p:nvSpPr>
          <p:cNvPr id="7" name="Text 38"/>
          <p:cNvSpPr txBox="1"/>
          <p:nvPr/>
        </p:nvSpPr>
        <p:spPr>
          <a:xfrm>
            <a:off x="777240" y="1783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39"/>
          <p:cNvSpPr txBox="1"/>
          <p:nvPr/>
        </p:nvSpPr>
        <p:spPr>
          <a:xfrm>
            <a:off x="1353312" y="1783080"/>
            <a:ext cx="2509418" cy="420624"/>
          </a:xfrm>
          <a:prstGeom prst="rect">
            <a:avLst/>
          </a:prstGeom>
          <a:noFill/>
          <a:ln/>
        </p:spPr>
        <p:txBody>
          <a:bodyPr wrap="square" lIns="0" tIns="0" rIns="0" bIns="0" rtlCol="0" anchor="ctr"/>
          <a:lstStyle/>
          <a:p>
            <a:pPr algn="l" indent="0" marL="0">
              <a:buNone/>
            </a:pPr>
            <a:r>
              <a:rPr lang="en-US" sz="2000" b="1" dirty="0">
                <a:solidFill>
                  <a:schemeClr val="tx2"/>
                </a:solidFill>
              </a:rPr>
              <a:t>Check in</a:t>
            </a:r>
            <a:endParaRPr lang="en-US" sz="2000" dirty="0"/>
          </a:p>
        </p:txBody>
      </p:sp>
      <p:sp>
        <p:nvSpPr>
          <p:cNvPr id="9" name="Text 40"/>
          <p:cNvSpPr txBox="1"/>
          <p:nvPr/>
        </p:nvSpPr>
        <p:spPr>
          <a:xfrm>
            <a:off x="777240" y="2340864"/>
            <a:ext cx="3058058" cy="274320"/>
          </a:xfrm>
          <a:prstGeom prst="rect">
            <a:avLst/>
          </a:prstGeom>
          <a:noFill/>
          <a:ln/>
        </p:spPr>
        <p:txBody>
          <a:bodyPr wrap="square" lIns="0" tIns="0" rIns="0" bIns="0" rtlCol="0" anchor="t"/>
          <a:lstStyle/>
          <a:p>
            <a:pPr algn="l" indent="0" marL="0">
              <a:buNone/>
            </a:pPr>
            <a:r>
              <a:rPr lang="en-US" sz="1400" dirty="0">
                <a:solidFill>
                  <a:schemeClr val="accent4"/>
                </a:solidFill>
              </a:rPr>
              <a:t>Questions about state and history</a:t>
            </a:r>
            <a:endParaRPr lang="en-US" sz="1400" dirty="0"/>
          </a:p>
        </p:txBody>
      </p:sp>
      <p:sp>
        <p:nvSpPr>
          <p:cNvPr id="10" name="Text 41"/>
          <p:cNvSpPr txBox="1"/>
          <p:nvPr/>
        </p:nvSpPr>
        <p:spPr>
          <a:xfrm>
            <a:off x="777240" y="2743200"/>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GOAL SET BY</a:t>
            </a:r>
            <a:endParaRPr lang="en-US" sz="1050" dirty="0"/>
          </a:p>
        </p:txBody>
      </p:sp>
      <p:sp>
        <p:nvSpPr>
          <p:cNvPr id="11" name="Text 42"/>
          <p:cNvSpPr txBox="1"/>
          <p:nvPr/>
        </p:nvSpPr>
        <p:spPr>
          <a:xfrm>
            <a:off x="777240" y="2971800"/>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The person's question</a:t>
            </a:r>
            <a:endParaRPr lang="en-US" sz="1400" dirty="0"/>
          </a:p>
        </p:txBody>
      </p:sp>
      <p:sp>
        <p:nvSpPr>
          <p:cNvPr id="12" name="Text 43"/>
          <p:cNvSpPr txBox="1"/>
          <p:nvPr/>
        </p:nvSpPr>
        <p:spPr>
          <a:xfrm>
            <a:off x="777240" y="3529584"/>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THE AGENT</a:t>
            </a:r>
            <a:endParaRPr lang="en-US" sz="1050" dirty="0"/>
          </a:p>
        </p:txBody>
      </p:sp>
      <p:sp>
        <p:nvSpPr>
          <p:cNvPr id="13" name="Text 44"/>
          <p:cNvSpPr txBox="1"/>
          <p:nvPr/>
        </p:nvSpPr>
        <p:spPr>
          <a:xfrm>
            <a:off x="777240" y="3758184"/>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Asks what the record cannot show, then reads the record</a:t>
            </a:r>
            <a:endParaRPr lang="en-US" sz="1400" dirty="0"/>
          </a:p>
        </p:txBody>
      </p:sp>
      <p:sp>
        <p:nvSpPr>
          <p:cNvPr id="14" name="Text 45"/>
          <p:cNvSpPr txBox="1"/>
          <p:nvPr/>
        </p:nvSpPr>
        <p:spPr>
          <a:xfrm>
            <a:off x="777240" y="4315968"/>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DONE WHEN</a:t>
            </a:r>
            <a:endParaRPr lang="en-US" sz="1050" dirty="0"/>
          </a:p>
        </p:txBody>
      </p:sp>
      <p:sp>
        <p:nvSpPr>
          <p:cNvPr id="15" name="Text 46"/>
          <p:cNvSpPr txBox="1"/>
          <p:nvPr/>
        </p:nvSpPr>
        <p:spPr>
          <a:xfrm>
            <a:off x="777240" y="4544568"/>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An answer that cites its evidence</a:t>
            </a:r>
            <a:endParaRPr lang="en-US" sz="1400" dirty="0"/>
          </a:p>
        </p:txBody>
      </p:sp>
      <p:sp>
        <p:nvSpPr>
          <p:cNvPr id="16" name="Card 47"/>
          <p:cNvSpPr/>
          <p:nvPr/>
        </p:nvSpPr>
        <p:spPr>
          <a:xfrm>
            <a:off x="4338218" y="1554480"/>
            <a:ext cx="3515258" cy="3611880"/>
          </a:xfrm>
          <a:prstGeom prst="roundRect">
            <a:avLst>
              <a:gd name="adj" fmla="val 2341"/>
            </a:avLst>
          </a:prstGeom>
          <a:solidFill>
            <a:schemeClr val="bg1"/>
          </a:solidFill>
          <a:ln w="9525">
            <a:solidFill>
              <a:schemeClr val="accent4">
                <a:alpha val="35000"/>
              </a:schemeClr>
            </a:solidFill>
            <a:prstDash val="solid"/>
          </a:ln>
        </p:spPr>
      </p:sp>
      <p:sp>
        <p:nvSpPr>
          <p:cNvPr id="17" name="Dot 48"/>
          <p:cNvSpPr/>
          <p:nvPr/>
        </p:nvSpPr>
        <p:spPr>
          <a:xfrm>
            <a:off x="4566818" y="1783080"/>
            <a:ext cx="420624" cy="420624"/>
          </a:xfrm>
          <a:prstGeom prst="ellipse">
            <a:avLst/>
          </a:prstGeom>
          <a:solidFill>
            <a:schemeClr val="tx2"/>
          </a:solidFill>
          <a:ln/>
        </p:spPr>
      </p:sp>
      <p:sp>
        <p:nvSpPr>
          <p:cNvPr id="18" name="Text 49"/>
          <p:cNvSpPr txBox="1"/>
          <p:nvPr/>
        </p:nvSpPr>
        <p:spPr>
          <a:xfrm>
            <a:off x="4566818" y="1783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9" name="Text 50"/>
          <p:cNvSpPr txBox="1"/>
          <p:nvPr/>
        </p:nvSpPr>
        <p:spPr>
          <a:xfrm>
            <a:off x="5142890" y="1783080"/>
            <a:ext cx="2509418" cy="420624"/>
          </a:xfrm>
          <a:prstGeom prst="rect">
            <a:avLst/>
          </a:prstGeom>
          <a:noFill/>
          <a:ln/>
        </p:spPr>
        <p:txBody>
          <a:bodyPr wrap="square" lIns="0" tIns="0" rIns="0" bIns="0" rtlCol="0" anchor="ctr"/>
          <a:lstStyle/>
          <a:p>
            <a:pPr algn="l" indent="0" marL="0">
              <a:buNone/>
            </a:pPr>
            <a:r>
              <a:rPr lang="en-US" sz="2000" b="1" dirty="0">
                <a:solidFill>
                  <a:schemeClr val="tx2"/>
                </a:solidFill>
              </a:rPr>
              <a:t>Plan</a:t>
            </a:r>
            <a:endParaRPr lang="en-US" sz="2000" dirty="0"/>
          </a:p>
        </p:txBody>
      </p:sp>
      <p:sp>
        <p:nvSpPr>
          <p:cNvPr id="20" name="Text 51"/>
          <p:cNvSpPr txBox="1"/>
          <p:nvPr/>
        </p:nvSpPr>
        <p:spPr>
          <a:xfrm>
            <a:off x="4566818" y="2340864"/>
            <a:ext cx="3058058" cy="274320"/>
          </a:xfrm>
          <a:prstGeom prst="rect">
            <a:avLst/>
          </a:prstGeom>
          <a:noFill/>
          <a:ln/>
        </p:spPr>
        <p:txBody>
          <a:bodyPr wrap="square" lIns="0" tIns="0" rIns="0" bIns="0" rtlCol="0" anchor="t"/>
          <a:lstStyle/>
          <a:p>
            <a:pPr algn="l" indent="0" marL="0">
              <a:buNone/>
            </a:pPr>
            <a:r>
              <a:rPr lang="en-US" sz="1400" dirty="0">
                <a:solidFill>
                  <a:schemeClr val="accent4"/>
                </a:solidFill>
              </a:rPr>
              <a:t>A training plan the person saves</a:t>
            </a:r>
            <a:endParaRPr lang="en-US" sz="1400" dirty="0"/>
          </a:p>
        </p:txBody>
      </p:sp>
      <p:sp>
        <p:nvSpPr>
          <p:cNvPr id="21" name="Text 52"/>
          <p:cNvSpPr txBox="1"/>
          <p:nvPr/>
        </p:nvSpPr>
        <p:spPr>
          <a:xfrm>
            <a:off x="4566818" y="2743200"/>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GOAL SET BY</a:t>
            </a:r>
            <a:endParaRPr lang="en-US" sz="1050" dirty="0"/>
          </a:p>
        </p:txBody>
      </p:sp>
      <p:sp>
        <p:nvSpPr>
          <p:cNvPr id="22" name="Text 53"/>
          <p:cNvSpPr txBox="1"/>
          <p:nvPr/>
        </p:nvSpPr>
        <p:spPr>
          <a:xfrm>
            <a:off x="4566818" y="2971800"/>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The person's goal, days, limits and preferences</a:t>
            </a:r>
            <a:endParaRPr lang="en-US" sz="1400" dirty="0"/>
          </a:p>
        </p:txBody>
      </p:sp>
      <p:sp>
        <p:nvSpPr>
          <p:cNvPr id="23" name="Text 54"/>
          <p:cNvSpPr txBox="1"/>
          <p:nvPr/>
        </p:nvSpPr>
        <p:spPr>
          <a:xfrm>
            <a:off x="4566818" y="3529584"/>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THE AGENT</a:t>
            </a:r>
            <a:endParaRPr lang="en-US" sz="1050" dirty="0"/>
          </a:p>
        </p:txBody>
      </p:sp>
      <p:sp>
        <p:nvSpPr>
          <p:cNvPr id="24" name="Text 55"/>
          <p:cNvSpPr txBox="1"/>
          <p:nvPr/>
        </p:nvSpPr>
        <p:spPr>
          <a:xfrm>
            <a:off x="4566818" y="3758184"/>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Reads 28 and 90 days, asks what it still needs, writes the draft</a:t>
            </a:r>
            <a:endParaRPr lang="en-US" sz="1400" dirty="0"/>
          </a:p>
        </p:txBody>
      </p:sp>
      <p:sp>
        <p:nvSpPr>
          <p:cNvPr id="25" name="Text 56"/>
          <p:cNvSpPr txBox="1"/>
          <p:nvPr/>
        </p:nvSpPr>
        <p:spPr>
          <a:xfrm>
            <a:off x="4566818" y="4315968"/>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DONE WHEN</a:t>
            </a:r>
            <a:endParaRPr lang="en-US" sz="1050" dirty="0"/>
          </a:p>
        </p:txBody>
      </p:sp>
      <p:sp>
        <p:nvSpPr>
          <p:cNvPr id="26" name="Text 57"/>
          <p:cNvSpPr txBox="1"/>
          <p:nvPr/>
        </p:nvSpPr>
        <p:spPr>
          <a:xfrm>
            <a:off x="4566818" y="4544568"/>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The person saves or discards the draft</a:t>
            </a:r>
            <a:endParaRPr lang="en-US" sz="1400" dirty="0"/>
          </a:p>
        </p:txBody>
      </p:sp>
      <p:sp>
        <p:nvSpPr>
          <p:cNvPr id="27" name="Card 58"/>
          <p:cNvSpPr/>
          <p:nvPr/>
        </p:nvSpPr>
        <p:spPr>
          <a:xfrm>
            <a:off x="8127797" y="1554480"/>
            <a:ext cx="3515258" cy="3611880"/>
          </a:xfrm>
          <a:prstGeom prst="roundRect">
            <a:avLst>
              <a:gd name="adj" fmla="val 2341"/>
            </a:avLst>
          </a:prstGeom>
          <a:solidFill>
            <a:schemeClr val="bg1"/>
          </a:solidFill>
          <a:ln w="9525">
            <a:solidFill>
              <a:schemeClr val="accent4">
                <a:alpha val="35000"/>
              </a:schemeClr>
            </a:solidFill>
            <a:prstDash val="solid"/>
          </a:ln>
        </p:spPr>
      </p:sp>
      <p:sp>
        <p:nvSpPr>
          <p:cNvPr id="28" name="Dot 59"/>
          <p:cNvSpPr/>
          <p:nvPr/>
        </p:nvSpPr>
        <p:spPr>
          <a:xfrm>
            <a:off x="8356397" y="1783080"/>
            <a:ext cx="420624" cy="420624"/>
          </a:xfrm>
          <a:prstGeom prst="ellipse">
            <a:avLst/>
          </a:prstGeom>
          <a:solidFill>
            <a:schemeClr val="tx2"/>
          </a:solidFill>
          <a:ln/>
        </p:spPr>
      </p:sp>
      <p:sp>
        <p:nvSpPr>
          <p:cNvPr id="29" name="Text 60"/>
          <p:cNvSpPr txBox="1"/>
          <p:nvPr/>
        </p:nvSpPr>
        <p:spPr>
          <a:xfrm>
            <a:off x="8356397" y="1783080"/>
            <a:ext cx="420624" cy="420624"/>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0" name="Text 61"/>
          <p:cNvSpPr txBox="1"/>
          <p:nvPr/>
        </p:nvSpPr>
        <p:spPr>
          <a:xfrm>
            <a:off x="8932469" y="1783080"/>
            <a:ext cx="2509418" cy="420624"/>
          </a:xfrm>
          <a:prstGeom prst="rect">
            <a:avLst/>
          </a:prstGeom>
          <a:noFill/>
          <a:ln/>
        </p:spPr>
        <p:txBody>
          <a:bodyPr wrap="square" lIns="0" tIns="0" rIns="0" bIns="0" rtlCol="0" anchor="ctr"/>
          <a:lstStyle/>
          <a:p>
            <a:pPr algn="l" indent="0" marL="0">
              <a:buNone/>
            </a:pPr>
            <a:r>
              <a:rPr lang="en-US" sz="2000" b="1" dirty="0">
                <a:solidFill>
                  <a:schemeClr val="tx2"/>
                </a:solidFill>
              </a:rPr>
              <a:t>Monitor</a:t>
            </a:r>
            <a:endParaRPr lang="en-US" sz="2000" dirty="0"/>
          </a:p>
        </p:txBody>
      </p:sp>
      <p:sp>
        <p:nvSpPr>
          <p:cNvPr id="31" name="Text 62"/>
          <p:cNvSpPr txBox="1"/>
          <p:nvPr/>
        </p:nvSpPr>
        <p:spPr>
          <a:xfrm>
            <a:off x="8356397" y="2340864"/>
            <a:ext cx="3058058" cy="274320"/>
          </a:xfrm>
          <a:prstGeom prst="rect">
            <a:avLst/>
          </a:prstGeom>
          <a:noFill/>
          <a:ln/>
        </p:spPr>
        <p:txBody>
          <a:bodyPr wrap="square" lIns="0" tIns="0" rIns="0" bIns="0" rtlCol="0" anchor="t"/>
          <a:lstStyle/>
          <a:p>
            <a:pPr algn="l" indent="0" marL="0">
              <a:buNone/>
            </a:pPr>
            <a:r>
              <a:rPr lang="en-US" sz="1400" dirty="0">
                <a:solidFill>
                  <a:schemeClr val="accent4"/>
                </a:solidFill>
              </a:rPr>
              <a:t>Background signals, reviewed</a:t>
            </a:r>
            <a:endParaRPr lang="en-US" sz="1400" dirty="0"/>
          </a:p>
        </p:txBody>
      </p:sp>
      <p:sp>
        <p:nvSpPr>
          <p:cNvPr id="32" name="Text 63"/>
          <p:cNvSpPr txBox="1"/>
          <p:nvPr/>
        </p:nvSpPr>
        <p:spPr>
          <a:xfrm>
            <a:off x="8356397" y="2743200"/>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GOAL SET BY</a:t>
            </a:r>
            <a:endParaRPr lang="en-US" sz="1050" dirty="0"/>
          </a:p>
        </p:txBody>
      </p:sp>
      <p:sp>
        <p:nvSpPr>
          <p:cNvPr id="33" name="Text 64"/>
          <p:cNvSpPr txBox="1"/>
          <p:nvPr/>
        </p:nvSpPr>
        <p:spPr>
          <a:xfrm>
            <a:off x="8356397" y="2971800"/>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Seven detectors over the person's record</a:t>
            </a:r>
            <a:endParaRPr lang="en-US" sz="1400" dirty="0"/>
          </a:p>
        </p:txBody>
      </p:sp>
      <p:sp>
        <p:nvSpPr>
          <p:cNvPr id="34" name="Text 65"/>
          <p:cNvSpPr txBox="1"/>
          <p:nvPr/>
        </p:nvSpPr>
        <p:spPr>
          <a:xfrm>
            <a:off x="8356397" y="3529584"/>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THE AGENT</a:t>
            </a:r>
            <a:endParaRPr lang="en-US" sz="1050" dirty="0"/>
          </a:p>
        </p:txBody>
      </p:sp>
      <p:sp>
        <p:nvSpPr>
          <p:cNvPr id="35" name="Text 66"/>
          <p:cNvSpPr txBox="1"/>
          <p:nvPr/>
        </p:nvSpPr>
        <p:spPr>
          <a:xfrm>
            <a:off x="8356397" y="3758184"/>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Reviews each signal and decides whether to alert</a:t>
            </a:r>
            <a:endParaRPr lang="en-US" sz="1400" dirty="0"/>
          </a:p>
        </p:txBody>
      </p:sp>
      <p:sp>
        <p:nvSpPr>
          <p:cNvPr id="36" name="Text 67"/>
          <p:cNvSpPr txBox="1"/>
          <p:nvPr/>
        </p:nvSpPr>
        <p:spPr>
          <a:xfrm>
            <a:off x="8356397" y="4315968"/>
            <a:ext cx="3058058"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DONE WHEN</a:t>
            </a:r>
            <a:endParaRPr lang="en-US" sz="1050" dirty="0"/>
          </a:p>
        </p:txBody>
      </p:sp>
      <p:sp>
        <p:nvSpPr>
          <p:cNvPr id="37" name="Text 68"/>
          <p:cNvSpPr txBox="1"/>
          <p:nvPr/>
        </p:nvSpPr>
        <p:spPr>
          <a:xfrm>
            <a:off x="8356397" y="4544568"/>
            <a:ext cx="3058058" cy="457200"/>
          </a:xfrm>
          <a:prstGeom prst="rect">
            <a:avLst/>
          </a:prstGeom>
          <a:noFill/>
          <a:ln/>
        </p:spPr>
        <p:txBody>
          <a:bodyPr wrap="square" lIns="0" tIns="0" rIns="0" bIns="0" rtlCol="0" anchor="t"/>
          <a:lstStyle/>
          <a:p>
            <a:pPr algn="l" indent="0" marL="0">
              <a:buNone/>
            </a:pPr>
            <a:r>
              <a:rPr lang="en-US" sz="1400" dirty="0">
                <a:solidFill>
                  <a:schemeClr val="tx1"/>
                </a:solidFill>
              </a:rPr>
              <a:t>Decision recorded, with a day to look again</a:t>
            </a:r>
            <a:endParaRPr lang="en-US" sz="1400" dirty="0"/>
          </a:p>
        </p:txBody>
      </p:sp>
      <p:sp>
        <p:nvSpPr>
          <p:cNvPr id="38" name="Card 69"/>
          <p:cNvSpPr/>
          <p:nvPr/>
        </p:nvSpPr>
        <p:spPr>
          <a:xfrm>
            <a:off x="548640" y="5349240"/>
            <a:ext cx="11094415" cy="868680"/>
          </a:xfrm>
          <a:prstGeom prst="roundRect">
            <a:avLst>
              <a:gd name="adj" fmla="val 9474"/>
            </a:avLst>
          </a:prstGeom>
          <a:solidFill>
            <a:schemeClr val="tx2"/>
          </a:solidFill>
          <a:ln/>
        </p:spPr>
      </p:sp>
      <p:sp>
        <p:nvSpPr>
          <p:cNvPr id="39" name="Text 70"/>
          <p:cNvSpPr txBox="1"/>
          <p:nvPr/>
        </p:nvSpPr>
        <p:spPr>
          <a:xfrm>
            <a:off x="822960" y="5495544"/>
            <a:ext cx="3657600" cy="219456"/>
          </a:xfrm>
          <a:prstGeom prst="rect">
            <a:avLst/>
          </a:prstGeom>
          <a:noFill/>
          <a:ln/>
        </p:spPr>
        <p:txBody>
          <a:bodyPr wrap="square" lIns="0" tIns="0" rIns="0" bIns="0" rtlCol="0" anchor="t"/>
          <a:lstStyle/>
          <a:p>
            <a:pPr algn="l" indent="0" marL="0">
              <a:buNone/>
            </a:pPr>
            <a:r>
              <a:rPr lang="en-US" sz="1050" b="1" spc="120" kern="0" dirty="0">
                <a:solidFill>
                  <a:schemeClr val="accent2"/>
                </a:solidFill>
              </a:rPr>
              <a:t>SIMULATION DATE</a:t>
            </a:r>
            <a:endParaRPr lang="en-US" sz="1050" dirty="0"/>
          </a:p>
        </p:txBody>
      </p:sp>
      <p:sp>
        <p:nvSpPr>
          <p:cNvPr id="40" name="Text 71"/>
          <p:cNvSpPr txBox="1"/>
          <p:nvPr/>
        </p:nvSpPr>
        <p:spPr>
          <a:xfrm>
            <a:off x="822960" y="5715000"/>
            <a:ext cx="6492240" cy="457200"/>
          </a:xfrm>
          <a:prstGeom prst="rect">
            <a:avLst/>
          </a:prstGeom>
          <a:noFill/>
          <a:ln/>
        </p:spPr>
        <p:txBody>
          <a:bodyPr wrap="square" lIns="0" tIns="0" rIns="0" bIns="0" rtlCol="0" anchor="t"/>
          <a:lstStyle/>
          <a:p>
            <a:pPr algn="l" indent="0" marL="0">
              <a:buNone/>
            </a:pPr>
            <a:r>
              <a:rPr lang="en-US" sz="1300" dirty="0">
                <a:solidFill>
                  <a:schemeClr val="bg1"/>
                </a:solidFill>
              </a:rPr>
              <a:t>PMData: 16 people, Nov 2019 to Mar 2020, replayed day by day. The coach sees only up to 23:59:59 of the chosen day.</a:t>
            </a:r>
            <a:endParaRPr lang="en-US" sz="1300" dirty="0"/>
          </a:p>
        </p:txBody>
      </p:sp>
      <p:sp>
        <p:nvSpPr>
          <p:cNvPr id="41" name="Text 72"/>
          <p:cNvSpPr txBox="1"/>
          <p:nvPr/>
        </p:nvSpPr>
        <p:spPr>
          <a:xfrm>
            <a:off x="7772400" y="5495544"/>
            <a:ext cx="1097280" cy="182880"/>
          </a:xfrm>
          <a:prstGeom prst="rect">
            <a:avLst/>
          </a:prstGeom>
          <a:noFill/>
          <a:ln/>
        </p:spPr>
        <p:txBody>
          <a:bodyPr wrap="square" lIns="0" tIns="0" rIns="0" bIns="0" rtlCol="0" anchor="t"/>
          <a:lstStyle/>
          <a:p>
            <a:pPr algn="l" indent="0" marL="0">
              <a:buNone/>
            </a:pPr>
            <a:r>
              <a:rPr lang="en-US" sz="1000" dirty="0">
                <a:solidFill>
                  <a:schemeClr val="accent5"/>
                </a:solidFill>
              </a:rPr>
              <a:t>Nov 2019</a:t>
            </a:r>
            <a:endParaRPr lang="en-US" sz="1000" dirty="0"/>
          </a:p>
        </p:txBody>
      </p:sp>
      <p:sp>
        <p:nvSpPr>
          <p:cNvPr id="42" name="Text 73"/>
          <p:cNvSpPr txBox="1"/>
          <p:nvPr/>
        </p:nvSpPr>
        <p:spPr>
          <a:xfrm>
            <a:off x="10241280" y="5495544"/>
            <a:ext cx="1097280" cy="182880"/>
          </a:xfrm>
          <a:prstGeom prst="rect">
            <a:avLst/>
          </a:prstGeom>
          <a:noFill/>
          <a:ln/>
        </p:spPr>
        <p:txBody>
          <a:bodyPr wrap="square" lIns="0" tIns="0" rIns="0" bIns="0" rtlCol="0" anchor="t"/>
          <a:lstStyle/>
          <a:p>
            <a:pPr algn="r" indent="0" marL="0">
              <a:buNone/>
            </a:pPr>
            <a:r>
              <a:rPr lang="en-US" sz="1000" dirty="0">
                <a:solidFill>
                  <a:schemeClr val="accent5"/>
                </a:solidFill>
              </a:rPr>
              <a:t>Mar 2020</a:t>
            </a:r>
            <a:endParaRPr lang="en-US" sz="1000" dirty="0"/>
          </a:p>
        </p:txBody>
      </p:sp>
      <p:sp>
        <p:nvSpPr>
          <p:cNvPr id="43" name="Hidden days 74"/>
          <p:cNvSpPr/>
          <p:nvPr/>
        </p:nvSpPr>
        <p:spPr>
          <a:xfrm>
            <a:off x="7772400" y="5751576"/>
            <a:ext cx="3566160" cy="109728"/>
          </a:xfrm>
          <a:prstGeom prst="rect">
            <a:avLst/>
          </a:prstGeom>
          <a:solidFill>
            <a:schemeClr val="accent1"/>
          </a:solidFill>
          <a:ln/>
        </p:spPr>
      </p:sp>
      <p:sp>
        <p:nvSpPr>
          <p:cNvPr id="44" name="Visible history 75"/>
          <p:cNvSpPr/>
          <p:nvPr/>
        </p:nvSpPr>
        <p:spPr>
          <a:xfrm>
            <a:off x="7772400" y="5751576"/>
            <a:ext cx="2567635" cy="109728"/>
          </a:xfrm>
          <a:prstGeom prst="rect">
            <a:avLst/>
          </a:prstGeom>
          <a:solidFill>
            <a:schemeClr val="accent2"/>
          </a:solidFill>
          <a:ln/>
        </p:spPr>
      </p:sp>
      <p:sp>
        <p:nvSpPr>
          <p:cNvPr id="45" name="Dot 76"/>
          <p:cNvSpPr/>
          <p:nvPr/>
        </p:nvSpPr>
        <p:spPr>
          <a:xfrm>
            <a:off x="10239451" y="5705856"/>
            <a:ext cx="201168" cy="201168"/>
          </a:xfrm>
          <a:prstGeom prst="ellipse">
            <a:avLst/>
          </a:prstGeom>
          <a:solidFill>
            <a:schemeClr val="bg1"/>
          </a:solidFill>
          <a:ln/>
        </p:spPr>
      </p:sp>
      <p:sp>
        <p:nvSpPr>
          <p:cNvPr id="46" name="Text 77"/>
          <p:cNvSpPr txBox="1"/>
          <p:nvPr/>
        </p:nvSpPr>
        <p:spPr>
          <a:xfrm>
            <a:off x="7772400" y="5934456"/>
            <a:ext cx="1463040" cy="182880"/>
          </a:xfrm>
          <a:prstGeom prst="rect">
            <a:avLst/>
          </a:prstGeom>
          <a:noFill/>
          <a:ln/>
        </p:spPr>
        <p:txBody>
          <a:bodyPr wrap="square" lIns="0" tIns="0" rIns="0" bIns="0" rtlCol="0" anchor="t"/>
          <a:lstStyle/>
          <a:p>
            <a:pPr algn="l" indent="0" marL="0">
              <a:buNone/>
            </a:pPr>
            <a:r>
              <a:rPr lang="en-US" sz="1000" dirty="0">
                <a:solidFill>
                  <a:schemeClr val="accent2"/>
                </a:solidFill>
              </a:rPr>
              <a:t>visible history</a:t>
            </a:r>
            <a:endParaRPr lang="en-US" sz="1000" dirty="0"/>
          </a:p>
        </p:txBody>
      </p:sp>
      <p:sp>
        <p:nvSpPr>
          <p:cNvPr id="47" name="Text 78"/>
          <p:cNvSpPr txBox="1"/>
          <p:nvPr/>
        </p:nvSpPr>
        <p:spPr>
          <a:xfrm>
            <a:off x="9875520" y="5934456"/>
            <a:ext cx="1463040" cy="182880"/>
          </a:xfrm>
          <a:prstGeom prst="rect">
            <a:avLst/>
          </a:prstGeom>
          <a:noFill/>
          <a:ln/>
        </p:spPr>
        <p:txBody>
          <a:bodyPr wrap="square" lIns="0" tIns="0" rIns="0" bIns="0" rtlCol="0" anchor="t"/>
          <a:lstStyle/>
          <a:p>
            <a:pPr algn="r" indent="0" marL="0">
              <a:buNone/>
            </a:pPr>
            <a:r>
              <a:rPr lang="en-US" sz="1000" dirty="0">
                <a:solidFill>
                  <a:schemeClr val="accent5"/>
                </a:solidFill>
              </a:rPr>
              <a:t>not yet happened</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SYSTEM DESIGN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Four layers, four tools, one sandboxed workspace</a:t>
            </a:r>
            <a:endParaRPr lang="en-US" sz="2800" dirty="0"/>
          </a:p>
        </p:txBody>
      </p:sp>
      <p:sp>
        <p:nvSpPr>
          <p:cNvPr id="5" name="Card 79"/>
          <p:cNvSpPr/>
          <p:nvPr/>
        </p:nvSpPr>
        <p:spPr>
          <a:xfrm>
            <a:off x="548640" y="1554480"/>
            <a:ext cx="2514600" cy="1143000"/>
          </a:xfrm>
          <a:prstGeom prst="roundRect">
            <a:avLst>
              <a:gd name="adj" fmla="val 7200"/>
            </a:avLst>
          </a:prstGeom>
          <a:solidFill>
            <a:schemeClr val="bg1"/>
          </a:solidFill>
          <a:ln w="9525">
            <a:solidFill>
              <a:schemeClr val="accent4">
                <a:alpha val="35000"/>
              </a:schemeClr>
            </a:solidFill>
            <a:prstDash val="solid"/>
          </a:ln>
        </p:spPr>
      </p:sp>
      <p:sp>
        <p:nvSpPr>
          <p:cNvPr id="6" name="Text 80"/>
          <p:cNvSpPr txBox="1"/>
          <p:nvPr/>
        </p:nvSpPr>
        <p:spPr>
          <a:xfrm>
            <a:off x="731520" y="1682496"/>
            <a:ext cx="2148840" cy="274320"/>
          </a:xfrm>
          <a:prstGeom prst="rect">
            <a:avLst/>
          </a:prstGeom>
          <a:noFill/>
          <a:ln/>
        </p:spPr>
        <p:txBody>
          <a:bodyPr wrap="square" lIns="0" tIns="0" rIns="0" bIns="0" rtlCol="0" anchor="t"/>
          <a:lstStyle/>
          <a:p>
            <a:pPr algn="l" indent="0" marL="0">
              <a:buNone/>
            </a:pPr>
            <a:r>
              <a:rPr lang="en-US" sz="1500" b="1" dirty="0">
                <a:solidFill>
                  <a:schemeClr val="tx2"/>
                </a:solidFill>
              </a:rPr>
              <a:t>Browser page</a:t>
            </a:r>
            <a:endParaRPr lang="en-US" sz="1500" dirty="0"/>
          </a:p>
        </p:txBody>
      </p:sp>
      <p:sp>
        <p:nvSpPr>
          <p:cNvPr id="7" name="Text 81"/>
          <p:cNvSpPr txBox="1"/>
          <p:nvPr/>
        </p:nvSpPr>
        <p:spPr>
          <a:xfrm>
            <a:off x="731520" y="2011680"/>
            <a:ext cx="2148840" cy="612648"/>
          </a:xfrm>
          <a:prstGeom prst="rect">
            <a:avLst/>
          </a:prstGeom>
          <a:noFill/>
          <a:ln/>
        </p:spPr>
        <p:txBody>
          <a:bodyPr wrap="square" lIns="0" tIns="0" rIns="0" bIns="0" rtlCol="0" anchor="t"/>
          <a:lstStyle/>
          <a:p>
            <a:pPr algn="l" indent="0" marL="0">
              <a:buNone/>
            </a:pPr>
            <a:r>
              <a:rPr lang="en-US" sz="1300" dirty="0">
                <a:solidFill>
                  <a:schemeClr val="tx1"/>
                </a:solidFill>
              </a:rPr>
              <a:t>Date bar, conversation, live Agent trail, plan panel, evidence</a:t>
            </a:r>
            <a:endParaRPr lang="en-US" sz="1300" dirty="0"/>
          </a:p>
        </p:txBody>
      </p:sp>
      <p:sp>
        <p:nvSpPr>
          <p:cNvPr id="8" name="Card 82"/>
          <p:cNvSpPr/>
          <p:nvPr/>
        </p:nvSpPr>
        <p:spPr>
          <a:xfrm>
            <a:off x="548640" y="2971800"/>
            <a:ext cx="2514600" cy="1508760"/>
          </a:xfrm>
          <a:prstGeom prst="roundRect">
            <a:avLst>
              <a:gd name="adj" fmla="val 5455"/>
            </a:avLst>
          </a:prstGeom>
          <a:solidFill>
            <a:schemeClr val="bg1"/>
          </a:solidFill>
          <a:ln w="9525">
            <a:solidFill>
              <a:schemeClr val="accent4">
                <a:alpha val="35000"/>
              </a:schemeClr>
            </a:solidFill>
            <a:prstDash val="solid"/>
          </a:ln>
        </p:spPr>
      </p:sp>
      <p:sp>
        <p:nvSpPr>
          <p:cNvPr id="9" name="Text 83"/>
          <p:cNvSpPr txBox="1"/>
          <p:nvPr/>
        </p:nvSpPr>
        <p:spPr>
          <a:xfrm>
            <a:off x="731520" y="3099816"/>
            <a:ext cx="2148840" cy="274320"/>
          </a:xfrm>
          <a:prstGeom prst="rect">
            <a:avLst/>
          </a:prstGeom>
          <a:noFill/>
          <a:ln/>
        </p:spPr>
        <p:txBody>
          <a:bodyPr wrap="square" lIns="0" tIns="0" rIns="0" bIns="0" rtlCol="0" anchor="t"/>
          <a:lstStyle/>
          <a:p>
            <a:pPr algn="l" indent="0" marL="0">
              <a:buNone/>
            </a:pPr>
            <a:r>
              <a:rPr lang="en-US" sz="1500" b="1" dirty="0">
                <a:solidFill>
                  <a:schemeClr val="tx2"/>
                </a:solidFill>
              </a:rPr>
              <a:t>HTTP / SSE server</a:t>
            </a:r>
            <a:endParaRPr lang="en-US" sz="1500" dirty="0"/>
          </a:p>
        </p:txBody>
      </p:sp>
      <p:sp>
        <p:nvSpPr>
          <p:cNvPr id="10" name="Text 84"/>
          <p:cNvSpPr txBox="1"/>
          <p:nvPr/>
        </p:nvSpPr>
        <p:spPr>
          <a:xfrm>
            <a:off x="731520" y="3429000"/>
            <a:ext cx="2148840" cy="978408"/>
          </a:xfrm>
          <a:prstGeom prst="rect">
            <a:avLst/>
          </a:prstGeom>
          <a:noFill/>
          <a:ln/>
        </p:spPr>
        <p:txBody>
          <a:bodyPr wrap="square" lIns="0" tIns="0" rIns="0" bIns="0" rtlCol="0" anchor="t"/>
          <a:lstStyle/>
          <a:p>
            <a:pPr algn="l" indent="0" marL="0">
              <a:buNone/>
            </a:pPr>
            <a:r>
              <a:rPr lang="en-US" sz="1300" dirty="0">
                <a:solidFill>
                  <a:schemeClr val="tx1"/>
                </a:solidFill>
              </a:rPr>
              <a:t>Python standard library. Known participants, same-origin JSON, one turn at a time</a:t>
            </a:r>
            <a:endParaRPr lang="en-US" sz="1300" dirty="0"/>
          </a:p>
        </p:txBody>
      </p:sp>
      <p:sp>
        <p:nvSpPr>
          <p:cNvPr id="11" name="Arrow 85"/>
          <p:cNvSpPr/>
          <p:nvPr/>
        </p:nvSpPr>
        <p:spPr>
          <a:xfrm>
            <a:off x="1805940" y="2724912"/>
            <a:ext cx="0" cy="219456"/>
          </a:xfrm>
          <a:prstGeom prst="line">
            <a:avLst/>
          </a:prstGeom>
          <a:noFill/>
          <a:ln w="19050">
            <a:solidFill>
              <a:schemeClr val="tx2"/>
            </a:solidFill>
            <a:prstDash val="solid"/>
            <a:headEnd type="triangle"/>
            <a:tailEnd type="triangle"/>
          </a:ln>
        </p:spPr>
      </p:sp>
      <p:sp>
        <p:nvSpPr>
          <p:cNvPr id="12" name="Card 86"/>
          <p:cNvSpPr/>
          <p:nvPr/>
        </p:nvSpPr>
        <p:spPr>
          <a:xfrm>
            <a:off x="3520440" y="1554480"/>
            <a:ext cx="5486400" cy="1143000"/>
          </a:xfrm>
          <a:prstGeom prst="roundRect">
            <a:avLst>
              <a:gd name="adj" fmla="val 7200"/>
            </a:avLst>
          </a:prstGeom>
          <a:solidFill>
            <a:schemeClr val="tx2"/>
          </a:solidFill>
          <a:ln/>
        </p:spPr>
      </p:sp>
      <p:sp>
        <p:nvSpPr>
          <p:cNvPr id="13" name="Text 87"/>
          <p:cNvSpPr txBox="1"/>
          <p:nvPr/>
        </p:nvSpPr>
        <p:spPr>
          <a:xfrm>
            <a:off x="3749040" y="1709928"/>
            <a:ext cx="5029200" cy="310896"/>
          </a:xfrm>
          <a:prstGeom prst="rect">
            <a:avLst/>
          </a:prstGeom>
          <a:noFill/>
          <a:ln/>
        </p:spPr>
        <p:txBody>
          <a:bodyPr wrap="square" lIns="0" tIns="0" rIns="0" bIns="0" rtlCol="0" anchor="t"/>
          <a:lstStyle/>
          <a:p>
            <a:pPr algn="l" indent="0" marL="0">
              <a:buNone/>
            </a:pPr>
            <a:r>
              <a:rPr lang="en-US" sz="1800" b="1" dirty="0">
                <a:solidFill>
                  <a:schemeClr val="bg1"/>
                </a:solidFill>
              </a:rPr>
              <a:t>Agent: one Codex SDK thread per person</a:t>
            </a:r>
            <a:endParaRPr lang="en-US" sz="1800" dirty="0"/>
          </a:p>
        </p:txBody>
      </p:sp>
      <p:sp>
        <p:nvSpPr>
          <p:cNvPr id="14" name="Text 88"/>
          <p:cNvSpPr txBox="1"/>
          <p:nvPr/>
        </p:nvSpPr>
        <p:spPr>
          <a:xfrm>
            <a:off x="3749040" y="2084832"/>
            <a:ext cx="5029200" cy="502920"/>
          </a:xfrm>
          <a:prstGeom prst="rect">
            <a:avLst/>
          </a:prstGeom>
          <a:noFill/>
          <a:ln/>
        </p:spPr>
        <p:txBody>
          <a:bodyPr wrap="square" lIns="0" tIns="0" rIns="0" bIns="0" rtlCol="0" anchor="t"/>
          <a:lstStyle/>
          <a:p>
            <a:pPr algn="l" indent="0" marL="0">
              <a:buNone/>
            </a:pPr>
            <a:r>
              <a:rPr lang="en-US" sz="1300" dirty="0">
                <a:solidFill>
                  <a:schemeClr val="accent5"/>
                </a:solidFill>
              </a:rPr>
              <a:t>gpt-5.6-terra, medium effort. Codex's own context and tools switched off; three skills opened on demand.</a:t>
            </a:r>
            <a:endParaRPr lang="en-US" sz="1300" dirty="0"/>
          </a:p>
        </p:txBody>
      </p:sp>
      <p:sp>
        <p:nvSpPr>
          <p:cNvPr id="15" name="Card 89"/>
          <p:cNvSpPr/>
          <p:nvPr/>
        </p:nvSpPr>
        <p:spPr>
          <a:xfrm>
            <a:off x="3520440" y="2971800"/>
            <a:ext cx="2057400" cy="1508760"/>
          </a:xfrm>
          <a:prstGeom prst="roundRect">
            <a:avLst>
              <a:gd name="adj" fmla="val 5455"/>
            </a:avLst>
          </a:prstGeom>
          <a:solidFill>
            <a:schemeClr val="accent5"/>
          </a:solidFill>
          <a:ln/>
        </p:spPr>
      </p:sp>
      <p:sp>
        <p:nvSpPr>
          <p:cNvPr id="16" name="Text 90"/>
          <p:cNvSpPr txBox="1"/>
          <p:nvPr/>
        </p:nvSpPr>
        <p:spPr>
          <a:xfrm>
            <a:off x="3685032" y="3099816"/>
            <a:ext cx="1783080" cy="274320"/>
          </a:xfrm>
          <a:prstGeom prst="rect">
            <a:avLst/>
          </a:prstGeom>
          <a:noFill/>
          <a:ln/>
        </p:spPr>
        <p:txBody>
          <a:bodyPr wrap="square" lIns="0" tIns="0" rIns="0" bIns="0" rtlCol="0" anchor="t"/>
          <a:lstStyle/>
          <a:p>
            <a:pPr algn="l" indent="0" marL="0">
              <a:buNone/>
            </a:pPr>
            <a:r>
              <a:rPr lang="en-US" sz="1500" b="1" dirty="0">
                <a:solidFill>
                  <a:schemeClr val="tx2"/>
                </a:solidFill>
              </a:rPr>
              <a:t>4 tools</a:t>
            </a:r>
            <a:endParaRPr lang="en-US" sz="1500" dirty="0"/>
          </a:p>
        </p:txBody>
      </p:sp>
      <p:sp>
        <p:nvSpPr>
          <p:cNvPr id="17" name="Text 91"/>
          <p:cNvSpPr txBox="1"/>
          <p:nvPr/>
        </p:nvSpPr>
        <p:spPr>
          <a:xfrm>
            <a:off x="3685032" y="3447288"/>
            <a:ext cx="1783080" cy="960120"/>
          </a:xfrm>
          <a:prstGeom prst="rect">
            <a:avLst/>
          </a:prstGeom>
          <a:noFill/>
          <a:ln/>
        </p:spPr>
        <p:txBody>
          <a:bodyPr wrap="square" lIns="0" tIns="0" rIns="0" bIns="0" rtlCol="0" anchor="t"/>
          <a:lstStyle/>
          <a:p>
            <a:pPr algn="l" indent="0" marL="0">
              <a:buNone/>
            </a:pPr>
            <a:r>
              <a:rPr lang="en-US" sz="1200" dirty="0">
                <a:solidFill>
                  <a:schemeClr val="tx1"/>
                </a:solidFill>
              </a:rPr>
              <a:t>read_record</a:t>
            </a:r>
            <a:endParaRPr lang="en-US" sz="1200" dirty="0"/>
          </a:p>
          <a:p>
            <a:pPr algn="l" indent="0" marL="0">
              <a:buNone/>
            </a:pPr>
            <a:r>
              <a:rPr lang="en-US" sz="1200" dirty="0">
                <a:solidFill>
                  <a:schemeClr val="tx1"/>
                </a:solidFill>
              </a:rPr>
              <a:t>inspect_sensor_window</a:t>
            </a:r>
            <a:endParaRPr lang="en-US" sz="1200" dirty="0"/>
          </a:p>
          <a:p>
            <a:pPr algn="l" indent="0" marL="0">
              <a:buNone/>
            </a:pPr>
            <a:r>
              <a:rPr lang="en-US" sz="1200" dirty="0">
                <a:solidFill>
                  <a:schemeClr val="tx1"/>
                </a:solidFill>
              </a:rPr>
              <a:t>search_guidelines</a:t>
            </a:r>
            <a:endParaRPr lang="en-US" sz="1200" dirty="0"/>
          </a:p>
          <a:p>
            <a:pPr algn="l" indent="0" marL="0">
              <a:buNone/>
            </a:pPr>
            <a:r>
              <a:rPr lang="en-US" sz="1200" dirty="0">
                <a:solidFill>
                  <a:schemeClr val="tx1"/>
                </a:solidFill>
              </a:rPr>
              <a:t>submit_signal_review</a:t>
            </a:r>
            <a:endParaRPr lang="en-US" sz="1200" dirty="0"/>
          </a:p>
        </p:txBody>
      </p:sp>
      <p:sp>
        <p:nvSpPr>
          <p:cNvPr id="18" name="Card 92"/>
          <p:cNvSpPr/>
          <p:nvPr/>
        </p:nvSpPr>
        <p:spPr>
          <a:xfrm>
            <a:off x="5715000" y="2971800"/>
            <a:ext cx="1965960" cy="1508760"/>
          </a:xfrm>
          <a:prstGeom prst="roundRect">
            <a:avLst>
              <a:gd name="adj" fmla="val 5455"/>
            </a:avLst>
          </a:prstGeom>
          <a:solidFill>
            <a:schemeClr val="accent5"/>
          </a:solidFill>
          <a:ln/>
        </p:spPr>
      </p:sp>
      <p:sp>
        <p:nvSpPr>
          <p:cNvPr id="19" name="Text 93"/>
          <p:cNvSpPr txBox="1"/>
          <p:nvPr/>
        </p:nvSpPr>
        <p:spPr>
          <a:xfrm>
            <a:off x="5879592" y="3099816"/>
            <a:ext cx="1691640" cy="274320"/>
          </a:xfrm>
          <a:prstGeom prst="rect">
            <a:avLst/>
          </a:prstGeom>
          <a:noFill/>
          <a:ln/>
        </p:spPr>
        <p:txBody>
          <a:bodyPr wrap="square" lIns="0" tIns="0" rIns="0" bIns="0" rtlCol="0" anchor="t"/>
          <a:lstStyle/>
          <a:p>
            <a:pPr algn="l" indent="0" marL="0">
              <a:buNone/>
            </a:pPr>
            <a:r>
              <a:rPr lang="en-US" sz="1500" b="1" dirty="0">
                <a:solidFill>
                  <a:schemeClr val="tx2"/>
                </a:solidFill>
              </a:rPr>
              <a:t>Workspace</a:t>
            </a:r>
            <a:endParaRPr lang="en-US" sz="1500" dirty="0"/>
          </a:p>
        </p:txBody>
      </p:sp>
      <p:sp>
        <p:nvSpPr>
          <p:cNvPr id="20" name="Text 94"/>
          <p:cNvSpPr txBox="1"/>
          <p:nvPr/>
        </p:nvSpPr>
        <p:spPr>
          <a:xfrm>
            <a:off x="5879592" y="3447288"/>
            <a:ext cx="1691640" cy="960120"/>
          </a:xfrm>
          <a:prstGeom prst="rect">
            <a:avLst/>
          </a:prstGeom>
          <a:noFill/>
          <a:ln/>
        </p:spPr>
        <p:txBody>
          <a:bodyPr wrap="square" lIns="0" tIns="0" rIns="0" bIns="0" rtlCol="0" anchor="t"/>
          <a:lstStyle/>
          <a:p>
            <a:pPr algn="l" indent="0" marL="0">
              <a:buNone/>
            </a:pPr>
            <a:r>
              <a:rPr lang="en-US" sz="1200" dirty="0">
                <a:solidFill>
                  <a:schemeClr val="tx1"/>
                </a:solidFill>
              </a:rPr>
              <a:t>memory.md</a:t>
            </a:r>
            <a:endParaRPr lang="en-US" sz="1200" dirty="0"/>
          </a:p>
          <a:p>
            <a:pPr algn="l" indent="0" marL="0">
              <a:buNone/>
            </a:pPr>
            <a:r>
              <a:rPr lang="en-US" sz="1200" dirty="0">
                <a:solidFill>
                  <a:schemeClr val="tx1"/>
                </a:solidFill>
              </a:rPr>
              <a:t>plans/draft.json</a:t>
            </a:r>
            <a:endParaRPr lang="en-US" sz="1200" dirty="0"/>
          </a:p>
          <a:p>
            <a:pPr algn="l" indent="0" marL="0">
              <a:buNone/>
            </a:pPr>
            <a:r>
              <a:rPr lang="en-US" sz="1200" dirty="0">
                <a:solidFill>
                  <a:schemeClr val="tx1"/>
                </a:solidFill>
              </a:rPr>
              <a:t>plans/versions/</a:t>
            </a:r>
            <a:endParaRPr lang="en-US" sz="1200" dirty="0"/>
          </a:p>
          <a:p>
            <a:pPr algn="l" indent="0" marL="0">
              <a:buNone/>
            </a:pPr>
            <a:r>
              <a:rPr lang="en-US" sz="1200" dirty="0">
                <a:solidFill>
                  <a:schemeClr val="tx1"/>
                </a:solidFill>
              </a:rPr>
              <a:t>(saved plans, read-only)</a:t>
            </a:r>
            <a:endParaRPr lang="en-US" sz="1200" dirty="0"/>
          </a:p>
        </p:txBody>
      </p:sp>
      <p:sp>
        <p:nvSpPr>
          <p:cNvPr id="21" name="Card 95"/>
          <p:cNvSpPr/>
          <p:nvPr/>
        </p:nvSpPr>
        <p:spPr>
          <a:xfrm>
            <a:off x="7818120" y="2971800"/>
            <a:ext cx="1188720" cy="1508760"/>
          </a:xfrm>
          <a:prstGeom prst="roundRect">
            <a:avLst>
              <a:gd name="adj" fmla="val 6923"/>
            </a:avLst>
          </a:prstGeom>
          <a:solidFill>
            <a:schemeClr val="accent5"/>
          </a:solidFill>
          <a:ln/>
        </p:spPr>
      </p:sp>
      <p:sp>
        <p:nvSpPr>
          <p:cNvPr id="22" name="Text 96"/>
          <p:cNvSpPr txBox="1"/>
          <p:nvPr/>
        </p:nvSpPr>
        <p:spPr>
          <a:xfrm>
            <a:off x="7982712" y="3099816"/>
            <a:ext cx="914400" cy="274320"/>
          </a:xfrm>
          <a:prstGeom prst="rect">
            <a:avLst/>
          </a:prstGeom>
          <a:noFill/>
          <a:ln/>
        </p:spPr>
        <p:txBody>
          <a:bodyPr wrap="square" lIns="0" tIns="0" rIns="0" bIns="0" rtlCol="0" anchor="t"/>
          <a:lstStyle/>
          <a:p>
            <a:pPr algn="l" indent="0" marL="0">
              <a:buNone/>
            </a:pPr>
            <a:r>
              <a:rPr lang="en-US" sz="1500" b="1" dirty="0">
                <a:solidFill>
                  <a:schemeClr val="tx2"/>
                </a:solidFill>
              </a:rPr>
              <a:t>Skills</a:t>
            </a:r>
            <a:endParaRPr lang="en-US" sz="1500" dirty="0"/>
          </a:p>
        </p:txBody>
      </p:sp>
      <p:sp>
        <p:nvSpPr>
          <p:cNvPr id="23" name="Text 97"/>
          <p:cNvSpPr txBox="1"/>
          <p:nvPr/>
        </p:nvSpPr>
        <p:spPr>
          <a:xfrm>
            <a:off x="7982712" y="3447288"/>
            <a:ext cx="914400" cy="960120"/>
          </a:xfrm>
          <a:prstGeom prst="rect">
            <a:avLst/>
          </a:prstGeom>
          <a:noFill/>
          <a:ln/>
        </p:spPr>
        <p:txBody>
          <a:bodyPr wrap="square" lIns="0" tIns="0" rIns="0" bIns="0" rtlCol="0" anchor="t"/>
          <a:lstStyle/>
          <a:p>
            <a:pPr algn="l" indent="0" marL="0">
              <a:buNone/>
            </a:pPr>
            <a:r>
              <a:rPr lang="en-US" sz="1200" dirty="0">
                <a:solidFill>
                  <a:schemeClr val="tx1"/>
                </a:solidFill>
              </a:rPr>
              <a:t>check-in</a:t>
            </a:r>
            <a:endParaRPr lang="en-US" sz="1200" dirty="0"/>
          </a:p>
          <a:p>
            <a:pPr algn="l" indent="0" marL="0">
              <a:buNone/>
            </a:pPr>
            <a:r>
              <a:rPr lang="en-US" sz="1200" dirty="0">
                <a:solidFill>
                  <a:schemeClr val="tx1"/>
                </a:solidFill>
              </a:rPr>
              <a:t>planning</a:t>
            </a:r>
            <a:endParaRPr lang="en-US" sz="1200" dirty="0"/>
          </a:p>
          <a:p>
            <a:pPr algn="l" indent="0" marL="0">
              <a:buNone/>
            </a:pPr>
            <a:r>
              <a:rPr lang="en-US" sz="1200" dirty="0">
                <a:solidFill>
                  <a:schemeClr val="tx1"/>
                </a:solidFill>
              </a:rPr>
              <a:t>monitoring</a:t>
            </a:r>
            <a:endParaRPr lang="en-US" sz="1200" dirty="0"/>
          </a:p>
        </p:txBody>
      </p:sp>
      <p:sp>
        <p:nvSpPr>
          <p:cNvPr id="24" name="Card 98"/>
          <p:cNvSpPr/>
          <p:nvPr/>
        </p:nvSpPr>
        <p:spPr>
          <a:xfrm>
            <a:off x="548640" y="4663440"/>
            <a:ext cx="8458200" cy="1280160"/>
          </a:xfrm>
          <a:prstGeom prst="roundRect">
            <a:avLst>
              <a:gd name="adj" fmla="val 6429"/>
            </a:avLst>
          </a:prstGeom>
          <a:solidFill>
            <a:schemeClr val="accent6"/>
          </a:solidFill>
          <a:ln/>
        </p:spPr>
      </p:sp>
      <p:sp>
        <p:nvSpPr>
          <p:cNvPr id="25" name="Text 99"/>
          <p:cNvSpPr txBox="1"/>
          <p:nvPr/>
        </p:nvSpPr>
        <p:spPr>
          <a:xfrm>
            <a:off x="777240" y="4809744"/>
            <a:ext cx="3657600" cy="274320"/>
          </a:xfrm>
          <a:prstGeom prst="rect">
            <a:avLst/>
          </a:prstGeom>
          <a:noFill/>
          <a:ln/>
        </p:spPr>
        <p:txBody>
          <a:bodyPr wrap="square" lIns="0" tIns="0" rIns="0" bIns="0" rtlCol="0" anchor="t"/>
          <a:lstStyle/>
          <a:p>
            <a:pPr algn="l" indent="0" marL="0">
              <a:buNone/>
            </a:pPr>
            <a:r>
              <a:rPr lang="en-US" sz="1500" b="1" dirty="0">
                <a:solidFill>
                  <a:schemeClr val="accent3"/>
                </a:solidFill>
              </a:rPr>
              <a:t>Code layers, not the model</a:t>
            </a:r>
            <a:endParaRPr lang="en-US" sz="1500" dirty="0"/>
          </a:p>
        </p:txBody>
      </p:sp>
      <p:sp>
        <p:nvSpPr>
          <p:cNvPr id="26" name="Text 100"/>
          <p:cNvSpPr txBox="1"/>
          <p:nvPr/>
        </p:nvSpPr>
        <p:spPr>
          <a:xfrm>
            <a:off x="777240" y="5193792"/>
            <a:ext cx="1817370" cy="640080"/>
          </a:xfrm>
          <a:prstGeom prst="rect">
            <a:avLst/>
          </a:prstGeom>
          <a:noFill/>
          <a:ln/>
        </p:spPr>
        <p:txBody>
          <a:bodyPr wrap="square" lIns="0" tIns="0" rIns="0" bIns="0" rtlCol="0" anchor="t"/>
          <a:lstStyle/>
          <a:p>
            <a:pPr algn="l" indent="0" marL="0">
              <a:buNone/>
            </a:pPr>
            <a:r>
              <a:rPr lang="en-US" sz="1300" dirty="0">
                <a:solidFill>
                  <a:schemeClr val="tx1"/>
                </a:solidFill>
              </a:rPr>
              <a:t>Reads cut off at the Simulation Date</a:t>
            </a:r>
            <a:endParaRPr lang="en-US" sz="1300" dirty="0"/>
          </a:p>
        </p:txBody>
      </p:sp>
      <p:sp>
        <p:nvSpPr>
          <p:cNvPr id="27" name="Text 101"/>
          <p:cNvSpPr txBox="1"/>
          <p:nvPr/>
        </p:nvSpPr>
        <p:spPr>
          <a:xfrm>
            <a:off x="2823210" y="5193792"/>
            <a:ext cx="1817370" cy="640080"/>
          </a:xfrm>
          <a:prstGeom prst="rect">
            <a:avLst/>
          </a:prstGeom>
          <a:noFill/>
          <a:ln/>
        </p:spPr>
        <p:txBody>
          <a:bodyPr wrap="square" lIns="0" tIns="0" rIns="0" bIns="0" rtlCol="0" anchor="t"/>
          <a:lstStyle/>
          <a:p>
            <a:pPr algn="l" indent="0" marL="0">
              <a:buNone/>
            </a:pPr>
            <a:r>
              <a:rPr lang="en-US" sz="1300" dirty="0">
                <a:solidFill>
                  <a:schemeClr val="tx1"/>
                </a:solidFill>
              </a:rPr>
              <a:t>Seven detectors and the monitoring run</a:t>
            </a:r>
            <a:endParaRPr lang="en-US" sz="1300" dirty="0"/>
          </a:p>
        </p:txBody>
      </p:sp>
      <p:sp>
        <p:nvSpPr>
          <p:cNvPr id="28" name="Text 102"/>
          <p:cNvSpPr txBox="1"/>
          <p:nvPr/>
        </p:nvSpPr>
        <p:spPr>
          <a:xfrm>
            <a:off x="4869180" y="5193792"/>
            <a:ext cx="1817370" cy="640080"/>
          </a:xfrm>
          <a:prstGeom prst="rect">
            <a:avLst/>
          </a:prstGeom>
          <a:noFill/>
          <a:ln/>
        </p:spPr>
        <p:txBody>
          <a:bodyPr wrap="square" lIns="0" tIns="0" rIns="0" bIns="0" rtlCol="0" anchor="t"/>
          <a:lstStyle/>
          <a:p>
            <a:pPr algn="l" indent="0" marL="0">
              <a:buNone/>
            </a:pPr>
            <a:r>
              <a:rPr lang="en-US" sz="1300" dirty="0">
                <a:solidFill>
                  <a:schemeClr val="tx1"/>
                </a:solidFill>
              </a:rPr>
              <a:t>Citation and workspace checks</a:t>
            </a:r>
            <a:endParaRPr lang="en-US" sz="1300" dirty="0"/>
          </a:p>
        </p:txBody>
      </p:sp>
      <p:sp>
        <p:nvSpPr>
          <p:cNvPr id="29" name="Text 103"/>
          <p:cNvSpPr txBox="1"/>
          <p:nvPr/>
        </p:nvSpPr>
        <p:spPr>
          <a:xfrm>
            <a:off x="6915150" y="5193792"/>
            <a:ext cx="1817370" cy="640080"/>
          </a:xfrm>
          <a:prstGeom prst="rect">
            <a:avLst/>
          </a:prstGeom>
          <a:noFill/>
          <a:ln/>
        </p:spPr>
        <p:txBody>
          <a:bodyPr wrap="square" lIns="0" tIns="0" rIns="0" bIns="0" rtlCol="0" anchor="t"/>
          <a:lstStyle/>
          <a:p>
            <a:pPr algn="l" indent="0" marL="0">
              <a:buNone/>
            </a:pPr>
            <a:r>
              <a:rPr lang="en-US" sz="1300" dirty="0">
                <a:solidFill>
                  <a:schemeClr val="tx1"/>
                </a:solidFill>
              </a:rPr>
              <a:t>Hash-chained audit log, one line per turn</a:t>
            </a:r>
            <a:endParaRPr lang="en-US" sz="1300" dirty="0"/>
          </a:p>
        </p:txBody>
      </p:sp>
      <p:sp>
        <p:nvSpPr>
          <p:cNvPr id="30" name="Card 104"/>
          <p:cNvSpPr/>
          <p:nvPr/>
        </p:nvSpPr>
        <p:spPr>
          <a:xfrm>
            <a:off x="9464040" y="1554480"/>
            <a:ext cx="2179015" cy="1371600"/>
          </a:xfrm>
          <a:prstGeom prst="roundRect">
            <a:avLst>
              <a:gd name="adj" fmla="val 6000"/>
            </a:avLst>
          </a:prstGeom>
          <a:solidFill>
            <a:schemeClr val="bg1"/>
          </a:solidFill>
          <a:ln w="9525">
            <a:solidFill>
              <a:schemeClr val="accent4">
                <a:alpha val="35000"/>
              </a:schemeClr>
            </a:solidFill>
            <a:prstDash val="solid"/>
          </a:ln>
        </p:spPr>
      </p:sp>
      <p:sp>
        <p:nvSpPr>
          <p:cNvPr id="31" name="Text 105"/>
          <p:cNvSpPr txBox="1"/>
          <p:nvPr/>
        </p:nvSpPr>
        <p:spPr>
          <a:xfrm>
            <a:off x="9646920" y="1682496"/>
            <a:ext cx="1813255" cy="274320"/>
          </a:xfrm>
          <a:prstGeom prst="rect">
            <a:avLst/>
          </a:prstGeom>
          <a:noFill/>
          <a:ln/>
        </p:spPr>
        <p:txBody>
          <a:bodyPr wrap="square" lIns="0" tIns="0" rIns="0" bIns="0" rtlCol="0" anchor="t"/>
          <a:lstStyle/>
          <a:p>
            <a:pPr algn="l" indent="0" marL="0">
              <a:buNone/>
            </a:pPr>
            <a:r>
              <a:rPr lang="en-US" sz="1500" b="1" dirty="0">
                <a:solidFill>
                  <a:schemeClr val="tx2"/>
                </a:solidFill>
              </a:rPr>
              <a:t>PMData</a:t>
            </a:r>
            <a:endParaRPr lang="en-US" sz="1500" dirty="0"/>
          </a:p>
        </p:txBody>
      </p:sp>
      <p:sp>
        <p:nvSpPr>
          <p:cNvPr id="32" name="Text 106"/>
          <p:cNvSpPr txBox="1"/>
          <p:nvPr/>
        </p:nvSpPr>
        <p:spPr>
          <a:xfrm>
            <a:off x="9646920" y="2011680"/>
            <a:ext cx="1813255" cy="841248"/>
          </a:xfrm>
          <a:prstGeom prst="rect">
            <a:avLst/>
          </a:prstGeom>
          <a:noFill/>
          <a:ln/>
        </p:spPr>
        <p:txBody>
          <a:bodyPr wrap="square" lIns="0" tIns="0" rIns="0" bIns="0" rtlCol="0" anchor="t"/>
          <a:lstStyle/>
          <a:p>
            <a:pPr algn="l" indent="0" marL="0">
              <a:buNone/>
            </a:pPr>
            <a:r>
              <a:rPr lang="en-US" sz="1300" dirty="0">
                <a:solidFill>
                  <a:schemeClr val="tx1"/>
                </a:solidFill>
              </a:rPr>
              <a:t>16 people, five months of Fitbit streams, sleep, wellness, injuries</a:t>
            </a:r>
            <a:endParaRPr lang="en-US" sz="1300" dirty="0"/>
          </a:p>
        </p:txBody>
      </p:sp>
      <p:sp>
        <p:nvSpPr>
          <p:cNvPr id="33" name="Card 107"/>
          <p:cNvSpPr/>
          <p:nvPr/>
        </p:nvSpPr>
        <p:spPr>
          <a:xfrm>
            <a:off x="9464040" y="3063240"/>
            <a:ext cx="2179015" cy="1371600"/>
          </a:xfrm>
          <a:prstGeom prst="roundRect">
            <a:avLst>
              <a:gd name="adj" fmla="val 6000"/>
            </a:avLst>
          </a:prstGeom>
          <a:solidFill>
            <a:schemeClr val="bg1"/>
          </a:solidFill>
          <a:ln w="9525">
            <a:solidFill>
              <a:schemeClr val="accent4">
                <a:alpha val="35000"/>
              </a:schemeClr>
            </a:solidFill>
            <a:prstDash val="solid"/>
          </a:ln>
        </p:spPr>
      </p:sp>
      <p:sp>
        <p:nvSpPr>
          <p:cNvPr id="34" name="Text 108"/>
          <p:cNvSpPr txBox="1"/>
          <p:nvPr/>
        </p:nvSpPr>
        <p:spPr>
          <a:xfrm>
            <a:off x="9646920" y="3191256"/>
            <a:ext cx="1813255" cy="274320"/>
          </a:xfrm>
          <a:prstGeom prst="rect">
            <a:avLst/>
          </a:prstGeom>
          <a:noFill/>
          <a:ln/>
        </p:spPr>
        <p:txBody>
          <a:bodyPr wrap="square" lIns="0" tIns="0" rIns="0" bIns="0" rtlCol="0" anchor="t"/>
          <a:lstStyle/>
          <a:p>
            <a:pPr algn="l" indent="0" marL="0">
              <a:buNone/>
            </a:pPr>
            <a:r>
              <a:rPr lang="en-US" sz="1500" b="1" dirty="0">
                <a:solidFill>
                  <a:schemeClr val="tx2"/>
                </a:solidFill>
              </a:rPr>
              <a:t>Guideline library</a:t>
            </a:r>
            <a:endParaRPr lang="en-US" sz="1500" dirty="0"/>
          </a:p>
        </p:txBody>
      </p:sp>
      <p:sp>
        <p:nvSpPr>
          <p:cNvPr id="35" name="Text 109"/>
          <p:cNvSpPr txBox="1"/>
          <p:nvPr/>
        </p:nvSpPr>
        <p:spPr>
          <a:xfrm>
            <a:off x="9646920" y="3520440"/>
            <a:ext cx="1813255" cy="841248"/>
          </a:xfrm>
          <a:prstGeom prst="rect">
            <a:avLst/>
          </a:prstGeom>
          <a:noFill/>
          <a:ln/>
        </p:spPr>
        <p:txBody>
          <a:bodyPr wrap="square" lIns="0" tIns="0" rIns="0" bIns="0" rtlCol="0" anchor="t"/>
          <a:lstStyle/>
          <a:p>
            <a:pPr algn="l" indent="0" marL="0">
              <a:buNone/>
            </a:pPr>
            <a:r>
              <a:rPr lang="en-US" sz="1300" dirty="0">
                <a:solidFill>
                  <a:schemeClr val="tx1"/>
                </a:solidFill>
              </a:rPr>
              <a:t>5 documents, 16 passages, keyword search (BM25)</a:t>
            </a:r>
            <a:endParaRPr lang="en-US" sz="1300" dirty="0"/>
          </a:p>
        </p:txBody>
      </p:sp>
      <p:sp>
        <p:nvSpPr>
          <p:cNvPr id="36" name="Card 110"/>
          <p:cNvSpPr/>
          <p:nvPr/>
        </p:nvSpPr>
        <p:spPr>
          <a:xfrm>
            <a:off x="9464040" y="4572000"/>
            <a:ext cx="2179015" cy="1371600"/>
          </a:xfrm>
          <a:prstGeom prst="roundRect">
            <a:avLst>
              <a:gd name="adj" fmla="val 6000"/>
            </a:avLst>
          </a:prstGeom>
          <a:solidFill>
            <a:schemeClr val="bg1"/>
          </a:solidFill>
          <a:ln w="9525">
            <a:solidFill>
              <a:schemeClr val="accent4">
                <a:alpha val="35000"/>
              </a:schemeClr>
            </a:solidFill>
            <a:prstDash val="solid"/>
          </a:ln>
        </p:spPr>
      </p:sp>
      <p:sp>
        <p:nvSpPr>
          <p:cNvPr id="37" name="Text 111"/>
          <p:cNvSpPr txBox="1"/>
          <p:nvPr/>
        </p:nvSpPr>
        <p:spPr>
          <a:xfrm>
            <a:off x="9646920" y="4700016"/>
            <a:ext cx="1813255" cy="274320"/>
          </a:xfrm>
          <a:prstGeom prst="rect">
            <a:avLst/>
          </a:prstGeom>
          <a:noFill/>
          <a:ln/>
        </p:spPr>
        <p:txBody>
          <a:bodyPr wrap="square" lIns="0" tIns="0" rIns="0" bIns="0" rtlCol="0" anchor="t"/>
          <a:lstStyle/>
          <a:p>
            <a:pPr algn="l" indent="0" marL="0">
              <a:buNone/>
            </a:pPr>
            <a:r>
              <a:rPr lang="en-US" sz="1500" b="1" dirty="0">
                <a:solidFill>
                  <a:schemeClr val="tx2"/>
                </a:solidFill>
              </a:rPr>
              <a:t>Per-person state</a:t>
            </a:r>
            <a:endParaRPr lang="en-US" sz="1500" dirty="0"/>
          </a:p>
        </p:txBody>
      </p:sp>
      <p:sp>
        <p:nvSpPr>
          <p:cNvPr id="38" name="Text 112"/>
          <p:cNvSpPr txBox="1"/>
          <p:nvPr/>
        </p:nvSpPr>
        <p:spPr>
          <a:xfrm>
            <a:off x="9646920" y="5029200"/>
            <a:ext cx="1813255" cy="841248"/>
          </a:xfrm>
          <a:prstGeom prst="rect">
            <a:avLst/>
          </a:prstGeom>
          <a:noFill/>
          <a:ln/>
        </p:spPr>
        <p:txBody>
          <a:bodyPr wrap="square" lIns="0" tIns="0" rIns="0" bIns="0" rtlCol="0" anchor="t"/>
          <a:lstStyle/>
          <a:p>
            <a:pPr algn="l" indent="0" marL="0">
              <a:buNone/>
            </a:pPr>
            <a:r>
              <a:rPr lang="en-US" sz="1300" dirty="0">
                <a:solidFill>
                  <a:schemeClr val="tx1"/>
                </a:solidFill>
              </a:rPr>
              <a:t>Conversation, workspace, monitoring run, audit log</a:t>
            </a:r>
            <a:endParaRPr lang="en-US" sz="1300" dirty="0"/>
          </a:p>
        </p:txBody>
      </p:sp>
      <p:sp>
        <p:nvSpPr>
          <p:cNvPr id="39" name="Arrow 113"/>
          <p:cNvSpPr/>
          <p:nvPr/>
        </p:nvSpPr>
        <p:spPr>
          <a:xfrm>
            <a:off x="3136392" y="3726180"/>
            <a:ext cx="310896" cy="0"/>
          </a:xfrm>
          <a:prstGeom prst="line">
            <a:avLst/>
          </a:prstGeom>
          <a:noFill/>
          <a:ln w="19050">
            <a:solidFill>
              <a:schemeClr val="tx2"/>
            </a:solidFill>
            <a:prstDash val="solid"/>
            <a:headEnd type="triangle"/>
            <a:tailEnd type="triangle"/>
          </a:ln>
        </p:spPr>
      </p:sp>
      <p:sp>
        <p:nvSpPr>
          <p:cNvPr id="40" name="Arrow 114"/>
          <p:cNvSpPr/>
          <p:nvPr/>
        </p:nvSpPr>
        <p:spPr>
          <a:xfrm>
            <a:off x="9079992" y="3726180"/>
            <a:ext cx="310896" cy="0"/>
          </a:xfrm>
          <a:prstGeom prst="line">
            <a:avLst/>
          </a:prstGeom>
          <a:noFill/>
          <a:ln w="19050">
            <a:solidFill>
              <a:schemeClr val="tx2"/>
            </a:solidFill>
            <a:prstDash val="solid"/>
            <a:headEnd type="triangle"/>
            <a:tailEnd type="triangle"/>
          </a:ln>
        </p:spPr>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DESIGN PRINCIPLE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Code enforces the limits; the Agent decides</a:t>
            </a:r>
            <a:endParaRPr lang="en-US" sz="2800" dirty="0"/>
          </a:p>
        </p:txBody>
      </p:sp>
      <p:sp>
        <p:nvSpPr>
          <p:cNvPr id="5" name="Card 115"/>
          <p:cNvSpPr/>
          <p:nvPr/>
        </p:nvSpPr>
        <p:spPr>
          <a:xfrm>
            <a:off x="548640" y="1554480"/>
            <a:ext cx="5410048" cy="3657600"/>
          </a:xfrm>
          <a:prstGeom prst="roundRect">
            <a:avLst>
              <a:gd name="adj" fmla="val 2250"/>
            </a:avLst>
          </a:prstGeom>
          <a:solidFill>
            <a:schemeClr val="accent6"/>
          </a:solidFill>
          <a:ln/>
        </p:spPr>
      </p:sp>
      <p:sp>
        <p:nvSpPr>
          <p:cNvPr id="6" name="Pill 116"/>
          <p:cNvSpPr/>
          <p:nvPr/>
        </p:nvSpPr>
        <p:spPr>
          <a:xfrm>
            <a:off x="822960" y="1810512"/>
            <a:ext cx="2103120" cy="329184"/>
          </a:xfrm>
          <a:prstGeom prst="roundRect">
            <a:avLst>
              <a:gd name="adj" fmla="val 50000"/>
            </a:avLst>
          </a:prstGeom>
          <a:solidFill>
            <a:schemeClr val="accent3"/>
          </a:solidFill>
          <a:ln/>
        </p:spPr>
      </p:sp>
      <p:sp>
        <p:nvSpPr>
          <p:cNvPr id="7" name="Text 117"/>
          <p:cNvSpPr txBox="1"/>
          <p:nvPr/>
        </p:nvSpPr>
        <p:spPr>
          <a:xfrm>
            <a:off x="822960" y="1810512"/>
            <a:ext cx="2103120" cy="329184"/>
          </a:xfrm>
          <a:prstGeom prst="rect">
            <a:avLst/>
          </a:prstGeom>
          <a:noFill/>
          <a:ln/>
        </p:spPr>
        <p:txBody>
          <a:bodyPr wrap="square" lIns="0" tIns="0" rIns="0" bIns="0" rtlCol="0" anchor="ctr"/>
          <a:lstStyle/>
          <a:p>
            <a:pPr algn="ctr" indent="0" marL="0">
              <a:buNone/>
            </a:pPr>
            <a:r>
              <a:rPr lang="en-US" sz="1050" b="1" spc="100" kern="0" dirty="0">
                <a:solidFill>
                  <a:schemeClr val="bg1"/>
                </a:solidFill>
              </a:rPr>
              <a:t>CODE ENFORCES</a:t>
            </a:r>
            <a:endParaRPr lang="en-US" sz="1050" dirty="0"/>
          </a:p>
        </p:txBody>
      </p:sp>
      <p:sp>
        <p:nvSpPr>
          <p:cNvPr id="8" name="Text 118"/>
          <p:cNvSpPr txBox="1"/>
          <p:nvPr/>
        </p:nvSpPr>
        <p:spPr>
          <a:xfrm>
            <a:off x="3108960" y="1810512"/>
            <a:ext cx="2575408" cy="329184"/>
          </a:xfrm>
          <a:prstGeom prst="rect">
            <a:avLst/>
          </a:prstGeom>
          <a:noFill/>
          <a:ln/>
        </p:spPr>
        <p:txBody>
          <a:bodyPr wrap="square" lIns="0" tIns="0" rIns="0" bIns="0" rtlCol="0" anchor="ctr"/>
          <a:lstStyle/>
          <a:p>
            <a:pPr algn="l" indent="0" marL="0">
              <a:buNone/>
            </a:pPr>
            <a:r>
              <a:rPr lang="en-US" sz="1400" i="1" dirty="0">
                <a:solidFill>
                  <a:schemeClr val="accent3"/>
                </a:solidFill>
              </a:rPr>
              <a:t>Holds whatever the model does</a:t>
            </a:r>
            <a:endParaRPr lang="en-US" sz="1400" dirty="0"/>
          </a:p>
        </p:txBody>
      </p:sp>
      <p:sp>
        <p:nvSpPr>
          <p:cNvPr id="9" name="Text 119"/>
          <p:cNvSpPr txBox="1"/>
          <p:nvPr/>
        </p:nvSpPr>
        <p:spPr>
          <a:xfrm>
            <a:off x="822960" y="2450592"/>
            <a:ext cx="4861408" cy="2606040"/>
          </a:xfrm>
          <a:prstGeom prst="rect">
            <a:avLst/>
          </a:prstGeom>
          <a:noFill/>
          <a:ln/>
        </p:spPr>
        <p:txBody>
          <a:bodyPr wrap="square" lIns="0" tIns="0" rIns="0" bIns="0" rtlCol="0" anchor="t"/>
          <a:lstStyle/>
          <a:p>
            <a:pPr algn="l" marL="177800" indent="-177800">
              <a:spcAft>
                <a:spcPts val="1300"/>
              </a:spcAft>
              <a:buSzPct val="100000"/>
              <a:buChar char="•"/>
            </a:pPr>
            <a:r>
              <a:rPr lang="en-US" sz="1600" b="1" dirty="0">
                <a:solidFill>
                  <a:schemeClr val="tx1"/>
                </a:solidFill>
              </a:rPr>
              <a:t>Permissions: </a:t>
            </a:r>
            <a:pPr algn="l" indent="0" marL="0">
              <a:spcAft>
                <a:spcPts val="1300"/>
              </a:spcAft>
              <a:buNone/>
            </a:pPr>
            <a:r>
              <a:rPr lang="en-US" sz="1600" dirty="0">
                <a:solidFill>
                  <a:schemeClr val="tx1"/>
                </a:solidFill>
              </a:rPr>
              <a:t>four tools, no participant id, sandbox</a:t>
            </a:r>
            <a:endParaRPr lang="en-US" sz="1600" dirty="0"/>
          </a:p>
          <a:p>
            <a:pPr algn="l" marL="177800" indent="-177800">
              <a:spcAft>
                <a:spcPts val="1300"/>
              </a:spcAft>
              <a:buSzPct val="100000"/>
              <a:buChar char="•"/>
            </a:pPr>
            <a:r>
              <a:rPr lang="en-US" sz="1600" b="1" dirty="0">
                <a:solidFill>
                  <a:schemeClr val="tx1"/>
                </a:solidFill>
              </a:rPr>
              <a:t>Time: </a:t>
            </a:r>
            <a:pPr algn="l" indent="0" marL="0">
              <a:spcAft>
                <a:spcPts val="1300"/>
              </a:spcAft>
              <a:buNone/>
            </a:pPr>
            <a:r>
              <a:rPr lang="en-US" sz="1600" dirty="0">
                <a:solidFill>
                  <a:schemeClr val="tx1"/>
                </a:solidFill>
              </a:rPr>
              <a:t>every read cut off at the Simulation Date</a:t>
            </a:r>
            <a:endParaRPr lang="en-US" sz="1600" dirty="0"/>
          </a:p>
          <a:p>
            <a:pPr algn="l" marL="177800" indent="-177800">
              <a:spcAft>
                <a:spcPts val="1300"/>
              </a:spcAft>
              <a:buSzPct val="100000"/>
              <a:buChar char="•"/>
            </a:pPr>
            <a:r>
              <a:rPr lang="en-US" sz="1600" b="1" dirty="0">
                <a:solidFill>
                  <a:schemeClr val="tx1"/>
                </a:solidFill>
              </a:rPr>
              <a:t>Citations: </a:t>
            </a:r>
            <a:pPr algn="l" indent="0" marL="0">
              <a:spcAft>
                <a:spcPts val="1300"/>
              </a:spcAft>
              <a:buNone/>
            </a:pPr>
            <a:r>
              <a:rPr lang="en-US" sz="1600" dirty="0">
                <a:solidFill>
                  <a:schemeClr val="tx1"/>
                </a:solidFill>
              </a:rPr>
              <a:t>IDs from this turn; the record is cited</a:t>
            </a:r>
            <a:endParaRPr lang="en-US" sz="1600" dirty="0"/>
          </a:p>
          <a:p>
            <a:pPr algn="l" marL="177800" indent="-177800">
              <a:spcAft>
                <a:spcPts val="1300"/>
              </a:spcAft>
              <a:buSzPct val="100000"/>
              <a:buChar char="•"/>
            </a:pPr>
            <a:r>
              <a:rPr lang="en-US" sz="1600" b="1" dirty="0">
                <a:solidFill>
                  <a:schemeClr val="tx1"/>
                </a:solidFill>
              </a:rPr>
              <a:t>Workspace: </a:t>
            </a:r>
            <a:pPr algn="l" indent="0" marL="0">
              <a:spcAft>
                <a:spcPts val="1300"/>
              </a:spcAft>
              <a:buNone/>
            </a:pPr>
            <a:r>
              <a:rPr lang="en-US" sz="1600" dirty="0">
                <a:solidFill>
                  <a:schemeClr val="tx1"/>
                </a:solidFill>
              </a:rPr>
              <a:t>exact quotes, valid draft format</a:t>
            </a:r>
            <a:endParaRPr lang="en-US" sz="1600" dirty="0"/>
          </a:p>
          <a:p>
            <a:pPr algn="l" marL="177800" indent="-177800">
              <a:spcAft>
                <a:spcPts val="1300"/>
              </a:spcAft>
              <a:buSzPct val="100000"/>
              <a:buChar char="•"/>
            </a:pPr>
            <a:r>
              <a:rPr lang="en-US" sz="1600" b="1" dirty="0">
                <a:solidFill>
                  <a:schemeClr val="tx1"/>
                </a:solidFill>
              </a:rPr>
              <a:t>Commit: </a:t>
            </a:r>
            <a:pPr algn="l" indent="0" marL="0">
              <a:spcAft>
                <a:spcPts val="1300"/>
              </a:spcAft>
              <a:buNone/>
            </a:pPr>
            <a:r>
              <a:rPr lang="en-US" sz="1600" dirty="0">
                <a:solidFill>
                  <a:schemeClr val="tx1"/>
                </a:solidFill>
              </a:rPr>
              <a:t>only the person's Save writes a plan</a:t>
            </a:r>
            <a:endParaRPr lang="en-US" sz="1600" dirty="0"/>
          </a:p>
          <a:p>
            <a:pPr algn="l" marL="177800" indent="-177800">
              <a:spcAft>
                <a:spcPts val="1300"/>
              </a:spcAft>
              <a:buSzPct val="100000"/>
              <a:buChar char="•"/>
            </a:pPr>
            <a:r>
              <a:rPr lang="en-US" sz="1600" b="1" dirty="0">
                <a:solidFill>
                  <a:schemeClr val="tx1"/>
                </a:solidFill>
              </a:rPr>
              <a:t>Bounds: </a:t>
            </a:r>
            <a:pPr algn="l" indent="0" marL="0">
              <a:spcAft>
                <a:spcPts val="1300"/>
              </a:spcAft>
              <a:buNone/>
            </a:pPr>
            <a:r>
              <a:rPr lang="en-US" sz="1600" dirty="0">
                <a:solidFill>
                  <a:schemeClr val="tx1"/>
                </a:solidFill>
              </a:rPr>
              <a:t>24 requests, 300 s; every turn is logged</a:t>
            </a:r>
            <a:endParaRPr lang="en-US" sz="1600" dirty="0"/>
          </a:p>
        </p:txBody>
      </p:sp>
      <p:sp>
        <p:nvSpPr>
          <p:cNvPr id="10" name="Card 120"/>
          <p:cNvSpPr/>
          <p:nvPr/>
        </p:nvSpPr>
        <p:spPr>
          <a:xfrm>
            <a:off x="6233008" y="1554480"/>
            <a:ext cx="5410048" cy="3657600"/>
          </a:xfrm>
          <a:prstGeom prst="roundRect">
            <a:avLst>
              <a:gd name="adj" fmla="val 2250"/>
            </a:avLst>
          </a:prstGeom>
          <a:solidFill>
            <a:schemeClr val="accent5"/>
          </a:solidFill>
          <a:ln/>
        </p:spPr>
      </p:sp>
      <p:sp>
        <p:nvSpPr>
          <p:cNvPr id="11" name="Pill 121"/>
          <p:cNvSpPr/>
          <p:nvPr/>
        </p:nvSpPr>
        <p:spPr>
          <a:xfrm>
            <a:off x="6507328" y="1810512"/>
            <a:ext cx="2103120" cy="329184"/>
          </a:xfrm>
          <a:prstGeom prst="roundRect">
            <a:avLst>
              <a:gd name="adj" fmla="val 50000"/>
            </a:avLst>
          </a:prstGeom>
          <a:solidFill>
            <a:schemeClr val="tx2"/>
          </a:solidFill>
          <a:ln/>
        </p:spPr>
      </p:sp>
      <p:sp>
        <p:nvSpPr>
          <p:cNvPr id="12" name="Text 122"/>
          <p:cNvSpPr txBox="1"/>
          <p:nvPr/>
        </p:nvSpPr>
        <p:spPr>
          <a:xfrm>
            <a:off x="6507328" y="1810512"/>
            <a:ext cx="2103120" cy="329184"/>
          </a:xfrm>
          <a:prstGeom prst="rect">
            <a:avLst/>
          </a:prstGeom>
          <a:noFill/>
          <a:ln/>
        </p:spPr>
        <p:txBody>
          <a:bodyPr wrap="square" lIns="0" tIns="0" rIns="0" bIns="0" rtlCol="0" anchor="ctr"/>
          <a:lstStyle/>
          <a:p>
            <a:pPr algn="ctr" indent="0" marL="0">
              <a:buNone/>
            </a:pPr>
            <a:r>
              <a:rPr lang="en-US" sz="1050" b="1" spc="100" kern="0" dirty="0">
                <a:solidFill>
                  <a:schemeClr val="bg1"/>
                </a:solidFill>
              </a:rPr>
              <a:t>THE AGENT DECIDES</a:t>
            </a:r>
            <a:endParaRPr lang="en-US" sz="1050" dirty="0"/>
          </a:p>
        </p:txBody>
      </p:sp>
      <p:sp>
        <p:nvSpPr>
          <p:cNvPr id="13" name="Text 123"/>
          <p:cNvSpPr txBox="1"/>
          <p:nvPr/>
        </p:nvSpPr>
        <p:spPr>
          <a:xfrm>
            <a:off x="8793328" y="1810512"/>
            <a:ext cx="2575408" cy="329184"/>
          </a:xfrm>
          <a:prstGeom prst="rect">
            <a:avLst/>
          </a:prstGeom>
          <a:noFill/>
          <a:ln/>
        </p:spPr>
        <p:txBody>
          <a:bodyPr wrap="square" lIns="0" tIns="0" rIns="0" bIns="0" rtlCol="0" anchor="ctr"/>
          <a:lstStyle/>
          <a:p>
            <a:pPr algn="l" indent="0" marL="0">
              <a:buNone/>
            </a:pPr>
            <a:r>
              <a:rPr lang="en-US" sz="1400" i="1" dirty="0">
                <a:solidFill>
                  <a:schemeClr val="tx2"/>
                </a:solidFill>
              </a:rPr>
              <a:t>Judgement code cannot check</a:t>
            </a:r>
            <a:endParaRPr lang="en-US" sz="1400" dirty="0"/>
          </a:p>
        </p:txBody>
      </p:sp>
      <p:sp>
        <p:nvSpPr>
          <p:cNvPr id="14" name="Text 124"/>
          <p:cNvSpPr txBox="1"/>
          <p:nvPr/>
        </p:nvSpPr>
        <p:spPr>
          <a:xfrm>
            <a:off x="6507328" y="2450592"/>
            <a:ext cx="4861408" cy="2606040"/>
          </a:xfrm>
          <a:prstGeom prst="rect">
            <a:avLst/>
          </a:prstGeom>
          <a:noFill/>
          <a:ln/>
        </p:spPr>
        <p:txBody>
          <a:bodyPr wrap="square" lIns="0" tIns="0" rIns="0" bIns="0" rtlCol="0" anchor="t"/>
          <a:lstStyle/>
          <a:p>
            <a:pPr algn="l" marL="177800" indent="-177800">
              <a:spcAft>
                <a:spcPts val="1300"/>
              </a:spcAft>
              <a:buSzPct val="100000"/>
              <a:buChar char="•"/>
            </a:pPr>
            <a:r>
              <a:rPr lang="en-US" sz="1600" dirty="0">
                <a:solidFill>
                  <a:schemeClr val="tx1"/>
                </a:solidFill>
              </a:rPr>
              <a:t>What to read, and how far back</a:t>
            </a:r>
            <a:endParaRPr lang="en-US" sz="1600" dirty="0"/>
          </a:p>
          <a:p>
            <a:pPr algn="l" marL="177800" indent="-177800">
              <a:spcAft>
                <a:spcPts val="1300"/>
              </a:spcAft>
              <a:buSzPct val="100000"/>
              <a:buChar char="•"/>
            </a:pPr>
            <a:r>
              <a:rPr lang="en-US" sz="1600" dirty="0">
                <a:solidFill>
                  <a:schemeClr val="tx1"/>
                </a:solidFill>
              </a:rPr>
              <a:t>What to ask the person first</a:t>
            </a:r>
            <a:endParaRPr lang="en-US" sz="1600" dirty="0"/>
          </a:p>
          <a:p>
            <a:pPr algn="l" marL="177800" indent="-177800">
              <a:spcAft>
                <a:spcPts val="1300"/>
              </a:spcAft>
              <a:buSzPct val="100000"/>
              <a:buChar char="•"/>
            </a:pPr>
            <a:r>
              <a:rPr lang="en-US" sz="1600" dirty="0">
                <a:solidFill>
                  <a:schemeClr val="tx1"/>
                </a:solidFill>
              </a:rPr>
              <a:t>How to interpret the record</a:t>
            </a:r>
            <a:endParaRPr lang="en-US" sz="1600" dirty="0"/>
          </a:p>
          <a:p>
            <a:pPr algn="l" marL="177800" indent="-177800">
              <a:spcAft>
                <a:spcPts val="1300"/>
              </a:spcAft>
              <a:buSzPct val="100000"/>
              <a:buChar char="•"/>
            </a:pPr>
            <a:r>
              <a:rPr lang="en-US" sz="1600" dirty="0">
                <a:solidFill>
                  <a:schemeClr val="tx1"/>
                </a:solidFill>
              </a:rPr>
              <a:t>What goes into the plan</a:t>
            </a:r>
            <a:endParaRPr lang="en-US" sz="1600" dirty="0"/>
          </a:p>
          <a:p>
            <a:pPr algn="l" marL="177800" indent="-177800">
              <a:spcAft>
                <a:spcPts val="1300"/>
              </a:spcAft>
              <a:buSzPct val="100000"/>
              <a:buChar char="•"/>
            </a:pPr>
            <a:r>
              <a:rPr lang="en-US" sz="1600" dirty="0">
                <a:solidFill>
                  <a:schemeClr val="tx1"/>
                </a:solidFill>
              </a:rPr>
              <a:t>Whether a message describes a warning symptom</a:t>
            </a:r>
            <a:endParaRPr lang="en-US" sz="1600" dirty="0"/>
          </a:p>
          <a:p>
            <a:pPr algn="l" marL="177800" indent="-177800">
              <a:spcAft>
                <a:spcPts val="1300"/>
              </a:spcAft>
              <a:buSzPct val="100000"/>
              <a:buChar char="•"/>
            </a:pPr>
            <a:r>
              <a:rPr lang="en-US" sz="1600" dirty="0">
                <a:solidFill>
                  <a:schemeClr val="tx1"/>
                </a:solidFill>
              </a:rPr>
              <a:t>Whether to alert, and when to look again</a:t>
            </a:r>
            <a:endParaRPr lang="en-US" sz="1600" dirty="0"/>
          </a:p>
        </p:txBody>
      </p:sp>
      <p:sp>
        <p:nvSpPr>
          <p:cNvPr id="15" name="Card 125"/>
          <p:cNvSpPr/>
          <p:nvPr/>
        </p:nvSpPr>
        <p:spPr>
          <a:xfrm>
            <a:off x="548640" y="5440680"/>
            <a:ext cx="11094415" cy="685800"/>
          </a:xfrm>
          <a:prstGeom prst="roundRect">
            <a:avLst>
              <a:gd name="adj" fmla="val 12000"/>
            </a:avLst>
          </a:prstGeom>
          <a:solidFill>
            <a:schemeClr val="bg1"/>
          </a:solidFill>
          <a:ln w="9525">
            <a:solidFill>
              <a:schemeClr val="accent4">
                <a:alpha val="35000"/>
              </a:schemeClr>
            </a:solidFill>
            <a:prstDash val="solid"/>
          </a:ln>
        </p:spPr>
      </p:sp>
      <p:sp>
        <p:nvSpPr>
          <p:cNvPr id="16" name="Text 126"/>
          <p:cNvSpPr txBox="1"/>
          <p:nvPr/>
        </p:nvSpPr>
        <p:spPr>
          <a:xfrm>
            <a:off x="822960" y="5440680"/>
            <a:ext cx="10545775" cy="685800"/>
          </a:xfrm>
          <a:prstGeom prst="rect">
            <a:avLst/>
          </a:prstGeom>
          <a:noFill/>
          <a:ln/>
        </p:spPr>
        <p:txBody>
          <a:bodyPr wrap="square" lIns="0" tIns="0" rIns="0" bIns="0" rtlCol="0" anchor="ctr"/>
          <a:lstStyle/>
          <a:p>
            <a:pPr algn="l" indent="0" marL="0">
              <a:buNone/>
            </a:pPr>
            <a:r>
              <a:rPr lang="en-US" sz="1500" b="1" dirty="0">
                <a:solidFill>
                  <a:schemeClr val="tx2"/>
                </a:solidFill>
              </a:rPr>
              <a:t>Code checks formats exactly, not whether a plan suits a person. That risk sits with the Agent, so we measured it.</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GROUNDING</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Claims about the record cite evidence from the same turn</a:t>
            </a:r>
            <a:endParaRPr lang="en-US" sz="2800" dirty="0"/>
          </a:p>
        </p:txBody>
      </p:sp>
      <p:sp>
        <p:nvSpPr>
          <p:cNvPr id="5" name="Card 127"/>
          <p:cNvSpPr/>
          <p:nvPr/>
        </p:nvSpPr>
        <p:spPr>
          <a:xfrm>
            <a:off x="548640" y="1554480"/>
            <a:ext cx="3082687" cy="4572000"/>
          </a:xfrm>
          <a:prstGeom prst="roundRect">
            <a:avLst>
              <a:gd name="adj" fmla="val 1483"/>
            </a:avLst>
          </a:prstGeom>
          <a:solidFill>
            <a:schemeClr val="bg1"/>
          </a:solidFill>
          <a:ln w="9525">
            <a:solidFill>
              <a:schemeClr val="accent4">
                <a:alpha val="35000"/>
              </a:schemeClr>
            </a:solidFill>
            <a:prstDash val="solid"/>
          </a:ln>
        </p:spPr>
      </p:sp>
      <p:pic>
        <p:nvPicPr>
          <p:cNvPr id="6" name="Screenshot 128" descr="A coach answer in which each statement ends with bracketed evidence citations">    </p:cNvPr>
          <p:cNvPicPr>
            <a:picLocks noChangeAspect="1"/>
          </p:cNvPicPr>
          <p:nvPr/>
        </p:nvPicPr>
        <p:blipFill>
          <a:blip r:embed="rId1"/>
          <a:stretch>
            <a:fillRect/>
          </a:stretch>
        </p:blipFill>
        <p:spPr>
          <a:xfrm>
            <a:off x="594360" y="1600200"/>
            <a:ext cx="2991247" cy="4480560"/>
          </a:xfrm>
          <a:prstGeom prst="rect">
            <a:avLst/>
          </a:prstGeom>
        </p:spPr>
      </p:pic>
      <p:sp>
        <p:nvSpPr>
          <p:cNvPr id="7" name="Card 129"/>
          <p:cNvSpPr/>
          <p:nvPr/>
        </p:nvSpPr>
        <p:spPr>
          <a:xfrm>
            <a:off x="3997087" y="1554480"/>
            <a:ext cx="7645968" cy="1371600"/>
          </a:xfrm>
          <a:prstGeom prst="roundRect">
            <a:avLst>
              <a:gd name="adj" fmla="val 6000"/>
            </a:avLst>
          </a:prstGeom>
          <a:solidFill>
            <a:schemeClr val="bg1"/>
          </a:solidFill>
          <a:ln w="9525">
            <a:solidFill>
              <a:schemeClr val="accent4">
                <a:alpha val="35000"/>
              </a:schemeClr>
            </a:solidFill>
            <a:prstDash val="solid"/>
          </a:ln>
        </p:spPr>
      </p:sp>
      <p:sp>
        <p:nvSpPr>
          <p:cNvPr id="8" name="Text 130"/>
          <p:cNvSpPr txBox="1"/>
          <p:nvPr/>
        </p:nvSpPr>
        <p:spPr>
          <a:xfrm>
            <a:off x="4271407" y="1828800"/>
            <a:ext cx="2286000" cy="411480"/>
          </a:xfrm>
          <a:prstGeom prst="rect">
            <a:avLst/>
          </a:prstGeom>
          <a:noFill/>
          <a:ln/>
        </p:spPr>
        <p:txBody>
          <a:bodyPr wrap="square" lIns="0" tIns="0" rIns="0" bIns="0" rtlCol="0" anchor="t"/>
          <a:lstStyle/>
          <a:p>
            <a:pPr algn="l" indent="0" marL="0">
              <a:buNone/>
            </a:pPr>
            <a:r>
              <a:rPr lang="en-US" sz="2400" b="1" dirty="0">
                <a:solidFill>
                  <a:schemeClr val="tx2"/>
                </a:solidFill>
              </a:rPr>
              <a:t>The record</a:t>
            </a:r>
            <a:endParaRPr lang="en-US" sz="2400" dirty="0"/>
          </a:p>
        </p:txBody>
      </p:sp>
      <p:sp>
        <p:nvSpPr>
          <p:cNvPr id="9" name="Text 131"/>
          <p:cNvSpPr txBox="1"/>
          <p:nvPr/>
        </p:nvSpPr>
        <p:spPr>
          <a:xfrm>
            <a:off x="4271407" y="2331720"/>
            <a:ext cx="2286000" cy="274320"/>
          </a:xfrm>
          <a:prstGeom prst="rect">
            <a:avLst/>
          </a:prstGeom>
          <a:noFill/>
          <a:ln/>
        </p:spPr>
        <p:txBody>
          <a:bodyPr wrap="square" lIns="0" tIns="0" rIns="0" bIns="0" rtlCol="0" anchor="t"/>
          <a:lstStyle/>
          <a:p>
            <a:pPr algn="l" indent="0" marL="0">
              <a:buNone/>
            </a:pPr>
            <a:r>
              <a:rPr lang="en-US" sz="1200" b="1" dirty="0">
                <a:solidFill>
                  <a:schemeClr val="accent3"/>
                </a:solidFill>
              </a:rPr>
              <a:t>cut off at the date</a:t>
            </a:r>
            <a:endParaRPr lang="en-US" sz="1200" dirty="0"/>
          </a:p>
        </p:txBody>
      </p:sp>
      <p:sp>
        <p:nvSpPr>
          <p:cNvPr id="10" name="Text 132"/>
          <p:cNvSpPr txBox="1"/>
          <p:nvPr/>
        </p:nvSpPr>
        <p:spPr>
          <a:xfrm>
            <a:off x="6740287" y="1554480"/>
            <a:ext cx="4628448" cy="1371600"/>
          </a:xfrm>
          <a:prstGeom prst="rect">
            <a:avLst/>
          </a:prstGeom>
          <a:noFill/>
          <a:ln/>
        </p:spPr>
        <p:txBody>
          <a:bodyPr wrap="square" lIns="0" tIns="0" rIns="0" bIns="0" rtlCol="0" anchor="ctr"/>
          <a:lstStyle/>
          <a:p>
            <a:pPr algn="l" indent="0" marL="0">
              <a:buNone/>
            </a:pPr>
            <a:r>
              <a:rPr lang="en-US" sz="1400" dirty="0">
                <a:solidFill>
                  <a:schemeClr val="tx1"/>
                </a:solidFill>
              </a:rPr>
              <a:t>Read only through tools, up to the Simulation Date. Missing data is reported as missing, never treated as normal.</a:t>
            </a:r>
            <a:endParaRPr lang="en-US" sz="1400" dirty="0"/>
          </a:p>
        </p:txBody>
      </p:sp>
      <p:sp>
        <p:nvSpPr>
          <p:cNvPr id="11" name="Card 133"/>
          <p:cNvSpPr/>
          <p:nvPr/>
        </p:nvSpPr>
        <p:spPr>
          <a:xfrm>
            <a:off x="3997087" y="3108960"/>
            <a:ext cx="7645968" cy="1371600"/>
          </a:xfrm>
          <a:prstGeom prst="roundRect">
            <a:avLst>
              <a:gd name="adj" fmla="val 6000"/>
            </a:avLst>
          </a:prstGeom>
          <a:solidFill>
            <a:schemeClr val="bg1"/>
          </a:solidFill>
          <a:ln w="9525">
            <a:solidFill>
              <a:schemeClr val="accent4">
                <a:alpha val="35000"/>
              </a:schemeClr>
            </a:solidFill>
            <a:prstDash val="solid"/>
          </a:ln>
        </p:spPr>
      </p:sp>
      <p:sp>
        <p:nvSpPr>
          <p:cNvPr id="12" name="Text 134"/>
          <p:cNvSpPr txBox="1"/>
          <p:nvPr/>
        </p:nvSpPr>
        <p:spPr>
          <a:xfrm>
            <a:off x="4271407" y="3383280"/>
            <a:ext cx="2286000" cy="411480"/>
          </a:xfrm>
          <a:prstGeom prst="rect">
            <a:avLst/>
          </a:prstGeom>
          <a:noFill/>
          <a:ln/>
        </p:spPr>
        <p:txBody>
          <a:bodyPr wrap="square" lIns="0" tIns="0" rIns="0" bIns="0" rtlCol="0" anchor="t"/>
          <a:lstStyle/>
          <a:p>
            <a:pPr algn="l" indent="0" marL="0">
              <a:buNone/>
            </a:pPr>
            <a:r>
              <a:rPr lang="en-US" sz="2400" b="1" dirty="0">
                <a:solidFill>
                  <a:schemeClr val="tx2"/>
                </a:solidFill>
              </a:rPr>
              <a:t>5 documents</a:t>
            </a:r>
            <a:endParaRPr lang="en-US" sz="2400" dirty="0"/>
          </a:p>
        </p:txBody>
      </p:sp>
      <p:sp>
        <p:nvSpPr>
          <p:cNvPr id="13" name="Text 135"/>
          <p:cNvSpPr txBox="1"/>
          <p:nvPr/>
        </p:nvSpPr>
        <p:spPr>
          <a:xfrm>
            <a:off x="4271407" y="3886200"/>
            <a:ext cx="2286000" cy="274320"/>
          </a:xfrm>
          <a:prstGeom prst="rect">
            <a:avLst/>
          </a:prstGeom>
          <a:noFill/>
          <a:ln/>
        </p:spPr>
        <p:txBody>
          <a:bodyPr wrap="square" lIns="0" tIns="0" rIns="0" bIns="0" rtlCol="0" anchor="t"/>
          <a:lstStyle/>
          <a:p>
            <a:pPr algn="l" indent="0" marL="0">
              <a:buNone/>
            </a:pPr>
            <a:r>
              <a:rPr lang="en-US" sz="1200" b="1" dirty="0">
                <a:solidFill>
                  <a:schemeClr val="accent3"/>
                </a:solidFill>
              </a:rPr>
              <a:t>16 passages, BM25</a:t>
            </a:r>
            <a:endParaRPr lang="en-US" sz="1200" dirty="0"/>
          </a:p>
        </p:txBody>
      </p:sp>
      <p:sp>
        <p:nvSpPr>
          <p:cNvPr id="14" name="Text 136"/>
          <p:cNvSpPr txBox="1"/>
          <p:nvPr/>
        </p:nvSpPr>
        <p:spPr>
          <a:xfrm>
            <a:off x="6740287" y="3108960"/>
            <a:ext cx="4628448" cy="1371600"/>
          </a:xfrm>
          <a:prstGeom prst="rect">
            <a:avLst/>
          </a:prstGeom>
          <a:noFill/>
          <a:ln/>
        </p:spPr>
        <p:txBody>
          <a:bodyPr wrap="square" lIns="0" tIns="0" rIns="0" bIns="0" rtlCol="0" anchor="ctr"/>
          <a:lstStyle/>
          <a:p>
            <a:pPr algn="l" indent="0" marL="0">
              <a:buNone/>
            </a:pPr>
            <a:r>
              <a:rPr lang="en-US" sz="1400" dirty="0">
                <a:solidFill>
                  <a:schemeClr val="tx1"/>
                </a:solidFill>
              </a:rPr>
              <a:t>WHO 2020, AASM/SRS sleep, ACSM warning signs, NHS sprains, training load. A keyword ranking that can be inspected and repeated.</a:t>
            </a:r>
            <a:endParaRPr lang="en-US" sz="1400" dirty="0"/>
          </a:p>
        </p:txBody>
      </p:sp>
      <p:sp>
        <p:nvSpPr>
          <p:cNvPr id="15" name="Card 137"/>
          <p:cNvSpPr/>
          <p:nvPr/>
        </p:nvSpPr>
        <p:spPr>
          <a:xfrm>
            <a:off x="3997087" y="4663440"/>
            <a:ext cx="7645968" cy="1371600"/>
          </a:xfrm>
          <a:prstGeom prst="roundRect">
            <a:avLst>
              <a:gd name="adj" fmla="val 6000"/>
            </a:avLst>
          </a:prstGeom>
          <a:solidFill>
            <a:schemeClr val="bg1"/>
          </a:solidFill>
          <a:ln w="9525">
            <a:solidFill>
              <a:schemeClr val="accent4">
                <a:alpha val="35000"/>
              </a:schemeClr>
            </a:solidFill>
            <a:prstDash val="solid"/>
          </a:ln>
        </p:spPr>
      </p:sp>
      <p:sp>
        <p:nvSpPr>
          <p:cNvPr id="16" name="Text 138"/>
          <p:cNvSpPr txBox="1"/>
          <p:nvPr/>
        </p:nvSpPr>
        <p:spPr>
          <a:xfrm>
            <a:off x="4271407" y="4937760"/>
            <a:ext cx="2286000" cy="411480"/>
          </a:xfrm>
          <a:prstGeom prst="rect">
            <a:avLst/>
          </a:prstGeom>
          <a:noFill/>
          <a:ln/>
        </p:spPr>
        <p:txBody>
          <a:bodyPr wrap="square" lIns="0" tIns="0" rIns="0" bIns="0" rtlCol="0" anchor="t"/>
          <a:lstStyle/>
          <a:p>
            <a:pPr algn="l" indent="0" marL="0">
              <a:buNone/>
            </a:pPr>
            <a:r>
              <a:rPr lang="en-US" sz="2400" b="1" dirty="0">
                <a:solidFill>
                  <a:schemeClr val="tx2"/>
                </a:solidFill>
              </a:rPr>
              <a:t>Citations</a:t>
            </a:r>
            <a:endParaRPr lang="en-US" sz="2400" dirty="0"/>
          </a:p>
        </p:txBody>
      </p:sp>
      <p:sp>
        <p:nvSpPr>
          <p:cNvPr id="17" name="Text 139"/>
          <p:cNvSpPr txBox="1"/>
          <p:nvPr/>
        </p:nvSpPr>
        <p:spPr>
          <a:xfrm>
            <a:off x="4271407" y="5440680"/>
            <a:ext cx="2286000" cy="274320"/>
          </a:xfrm>
          <a:prstGeom prst="rect">
            <a:avLst/>
          </a:prstGeom>
          <a:noFill/>
          <a:ln/>
        </p:spPr>
        <p:txBody>
          <a:bodyPr wrap="square" lIns="0" tIns="0" rIns="0" bIns="0" rtlCol="0" anchor="t"/>
          <a:lstStyle/>
          <a:p>
            <a:pPr algn="l" indent="0" marL="0">
              <a:buNone/>
            </a:pPr>
            <a:r>
              <a:rPr lang="en-US" sz="1200" b="1" dirty="0">
                <a:solidFill>
                  <a:schemeClr val="accent3"/>
                </a:solidFill>
              </a:rPr>
              <a:t>checked by code</a:t>
            </a:r>
            <a:endParaRPr lang="en-US" sz="1200" dirty="0"/>
          </a:p>
        </p:txBody>
      </p:sp>
      <p:sp>
        <p:nvSpPr>
          <p:cNvPr id="18" name="Text 140"/>
          <p:cNvSpPr txBox="1"/>
          <p:nvPr/>
        </p:nvSpPr>
        <p:spPr>
          <a:xfrm>
            <a:off x="6740287" y="4663440"/>
            <a:ext cx="4628448" cy="1371600"/>
          </a:xfrm>
          <a:prstGeom prst="rect">
            <a:avLst/>
          </a:prstGeom>
          <a:noFill/>
          <a:ln/>
        </p:spPr>
        <p:txBody>
          <a:bodyPr wrap="square" lIns="0" tIns="0" rIns="0" bIns="0" rtlCol="0" anchor="ctr"/>
          <a:lstStyle/>
          <a:p>
            <a:pPr algn="l" indent="0" marL="0">
              <a:buNone/>
            </a:pPr>
            <a:r>
              <a:rPr lang="en-US" sz="1400" dirty="0">
                <a:solidFill>
                  <a:schemeClr val="tx1"/>
                </a:solidFill>
              </a:rPr>
              <a:t>Every cited ID must come from this turn. An answer that cites only guidelines after reading the record is sent back.</a:t>
            </a:r>
            <a:endParaRPr lang="en-US" sz="1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DEMO · PLAN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Demo: the Agent asks, drafts, and the person saves</a:t>
            </a:r>
            <a:endParaRPr lang="en-US" sz="2800" dirty="0"/>
          </a:p>
        </p:txBody>
      </p:sp>
      <p:sp>
        <p:nvSpPr>
          <p:cNvPr id="5" name="Pill 141"/>
          <p:cNvSpPr/>
          <p:nvPr/>
        </p:nvSpPr>
        <p:spPr>
          <a:xfrm>
            <a:off x="548640" y="1554480"/>
            <a:ext cx="2011680" cy="274320"/>
          </a:xfrm>
          <a:prstGeom prst="roundRect">
            <a:avLst>
              <a:gd name="adj" fmla="val 50000"/>
            </a:avLst>
          </a:prstGeom>
          <a:solidFill>
            <a:schemeClr val="accent5"/>
          </a:solidFill>
          <a:ln/>
        </p:spPr>
      </p:sp>
      <p:sp>
        <p:nvSpPr>
          <p:cNvPr id="6" name="Text 142"/>
          <p:cNvSpPr txBox="1"/>
          <p:nvPr/>
        </p:nvSpPr>
        <p:spPr>
          <a:xfrm>
            <a:off x="548640" y="1554480"/>
            <a:ext cx="2011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p05 · 20 MARCH 2020</a:t>
            </a:r>
            <a:endParaRPr lang="en-US" sz="1050" dirty="0"/>
          </a:p>
        </p:txBody>
      </p:sp>
      <p:sp>
        <p:nvSpPr>
          <p:cNvPr id="7" name="Dot 143"/>
          <p:cNvSpPr/>
          <p:nvPr/>
        </p:nvSpPr>
        <p:spPr>
          <a:xfrm>
            <a:off x="548640" y="2057400"/>
            <a:ext cx="384048" cy="384048"/>
          </a:xfrm>
          <a:prstGeom prst="ellipse">
            <a:avLst/>
          </a:prstGeom>
          <a:solidFill>
            <a:schemeClr val="tx2"/>
          </a:solidFill>
          <a:ln/>
        </p:spPr>
      </p:sp>
      <p:sp>
        <p:nvSpPr>
          <p:cNvPr id="8" name="Text 144"/>
          <p:cNvSpPr txBox="1"/>
          <p:nvPr/>
        </p:nvSpPr>
        <p:spPr>
          <a:xfrm>
            <a:off x="548640" y="20574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145"/>
          <p:cNvSpPr txBox="1"/>
          <p:nvPr/>
        </p:nvSpPr>
        <p:spPr>
          <a:xfrm>
            <a:off x="1115568" y="2057400"/>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Asks first</a:t>
            </a:r>
            <a:endParaRPr lang="en-US" sz="1600" dirty="0"/>
          </a:p>
        </p:txBody>
      </p:sp>
      <p:sp>
        <p:nvSpPr>
          <p:cNvPr id="10" name="Text 146"/>
          <p:cNvSpPr txBox="1"/>
          <p:nvPr/>
        </p:nvSpPr>
        <p:spPr>
          <a:xfrm>
            <a:off x="1115568" y="2478024"/>
            <a:ext cx="3547872" cy="512064"/>
          </a:xfrm>
          <a:prstGeom prst="rect">
            <a:avLst/>
          </a:prstGeom>
          <a:noFill/>
          <a:ln/>
        </p:spPr>
        <p:txBody>
          <a:bodyPr wrap="square" lIns="0" tIns="0" rIns="0" bIns="0" rtlCol="0" anchor="t"/>
          <a:lstStyle/>
          <a:p>
            <a:pPr algn="l" indent="0" marL="0">
              <a:buNone/>
            </a:pPr>
            <a:r>
              <a:rPr lang="en-US" sz="1400" dirty="0">
                <a:solidFill>
                  <a:schemeClr val="tx1"/>
                </a:solidFill>
              </a:rPr>
              <a:t>Says what the record shows, then asks about the ankle, days and equipment.</a:t>
            </a:r>
            <a:endParaRPr lang="en-US" sz="1400" dirty="0"/>
          </a:p>
        </p:txBody>
      </p:sp>
      <p:sp>
        <p:nvSpPr>
          <p:cNvPr id="11" name="Dot 147"/>
          <p:cNvSpPr/>
          <p:nvPr/>
        </p:nvSpPr>
        <p:spPr>
          <a:xfrm>
            <a:off x="548640" y="3044952"/>
            <a:ext cx="384048" cy="384048"/>
          </a:xfrm>
          <a:prstGeom prst="ellipse">
            <a:avLst/>
          </a:prstGeom>
          <a:solidFill>
            <a:schemeClr val="tx2"/>
          </a:solidFill>
          <a:ln/>
        </p:spPr>
      </p:sp>
      <p:sp>
        <p:nvSpPr>
          <p:cNvPr id="12" name="Text 148"/>
          <p:cNvSpPr txBox="1"/>
          <p:nvPr/>
        </p:nvSpPr>
        <p:spPr>
          <a:xfrm>
            <a:off x="548640" y="304495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49"/>
          <p:cNvSpPr txBox="1"/>
          <p:nvPr/>
        </p:nvSpPr>
        <p:spPr>
          <a:xfrm>
            <a:off x="1115568" y="3044952"/>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Remembers</a:t>
            </a:r>
            <a:endParaRPr lang="en-US" sz="1600" dirty="0"/>
          </a:p>
        </p:txBody>
      </p:sp>
      <p:sp>
        <p:nvSpPr>
          <p:cNvPr id="14" name="Text 150"/>
          <p:cNvSpPr txBox="1"/>
          <p:nvPr/>
        </p:nvSpPr>
        <p:spPr>
          <a:xfrm>
            <a:off x="1115568" y="3465576"/>
            <a:ext cx="3547872" cy="512064"/>
          </a:xfrm>
          <a:prstGeom prst="rect">
            <a:avLst/>
          </a:prstGeom>
          <a:noFill/>
          <a:ln/>
        </p:spPr>
        <p:txBody>
          <a:bodyPr wrap="square" lIns="0" tIns="0" rIns="0" bIns="0" rtlCol="0" anchor="t"/>
          <a:lstStyle/>
          <a:p>
            <a:pPr algn="l" indent="0" marL="0">
              <a:buNone/>
            </a:pPr>
            <a:r>
              <a:rPr lang="en-US" sz="1400" dirty="0">
                <a:solidFill>
                  <a:schemeClr val="tx1"/>
                </a:solidFill>
              </a:rPr>
              <a:t>Stores goal, days and equipment in the person's own words.</a:t>
            </a:r>
            <a:endParaRPr lang="en-US" sz="1400" dirty="0"/>
          </a:p>
        </p:txBody>
      </p:sp>
      <p:sp>
        <p:nvSpPr>
          <p:cNvPr id="15" name="Dot 151"/>
          <p:cNvSpPr/>
          <p:nvPr/>
        </p:nvSpPr>
        <p:spPr>
          <a:xfrm>
            <a:off x="548640" y="4032504"/>
            <a:ext cx="384048" cy="384048"/>
          </a:xfrm>
          <a:prstGeom prst="ellipse">
            <a:avLst/>
          </a:prstGeom>
          <a:solidFill>
            <a:schemeClr val="tx2"/>
          </a:solidFill>
          <a:ln/>
        </p:spPr>
      </p:sp>
      <p:sp>
        <p:nvSpPr>
          <p:cNvPr id="16" name="Text 152"/>
          <p:cNvSpPr txBox="1"/>
          <p:nvPr/>
        </p:nvSpPr>
        <p:spPr>
          <a:xfrm>
            <a:off x="548640" y="403250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3"/>
          <p:cNvSpPr txBox="1"/>
          <p:nvPr/>
        </p:nvSpPr>
        <p:spPr>
          <a:xfrm>
            <a:off x="1115568" y="4032504"/>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Drafts</a:t>
            </a:r>
            <a:endParaRPr lang="en-US" sz="1600" dirty="0"/>
          </a:p>
        </p:txBody>
      </p:sp>
      <p:sp>
        <p:nvSpPr>
          <p:cNvPr id="18" name="Text 154"/>
          <p:cNvSpPr txBox="1"/>
          <p:nvPr/>
        </p:nvSpPr>
        <p:spPr>
          <a:xfrm>
            <a:off x="1115568" y="4453128"/>
            <a:ext cx="3547872" cy="512064"/>
          </a:xfrm>
          <a:prstGeom prst="rect">
            <a:avLst/>
          </a:prstGeom>
          <a:noFill/>
          <a:ln/>
        </p:spPr>
        <p:txBody>
          <a:bodyPr wrap="square" lIns="0" tIns="0" rIns="0" bIns="0" rtlCol="0" anchor="t"/>
          <a:lstStyle/>
          <a:p>
            <a:pPr algn="l" indent="0" marL="0">
              <a:buNone/>
            </a:pPr>
            <a:r>
              <a:rPr lang="en-US" sz="1400" dirty="0">
                <a:solidFill>
                  <a:schemeClr val="tx1"/>
                </a:solidFill>
              </a:rPr>
              <a:t>Two easy rides and a walk, no running yet: NHS sprain advice, cited.</a:t>
            </a:r>
            <a:endParaRPr lang="en-US" sz="1400" dirty="0"/>
          </a:p>
        </p:txBody>
      </p:sp>
      <p:sp>
        <p:nvSpPr>
          <p:cNvPr id="19" name="Dot 155"/>
          <p:cNvSpPr/>
          <p:nvPr/>
        </p:nvSpPr>
        <p:spPr>
          <a:xfrm>
            <a:off x="548640" y="5020056"/>
            <a:ext cx="384048" cy="384048"/>
          </a:xfrm>
          <a:prstGeom prst="ellipse">
            <a:avLst/>
          </a:prstGeom>
          <a:solidFill>
            <a:schemeClr val="tx2"/>
          </a:solidFill>
          <a:ln/>
        </p:spPr>
      </p:sp>
      <p:sp>
        <p:nvSpPr>
          <p:cNvPr id="20" name="Text 156"/>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57"/>
          <p:cNvSpPr txBox="1"/>
          <p:nvPr/>
        </p:nvSpPr>
        <p:spPr>
          <a:xfrm>
            <a:off x="1115568" y="5020056"/>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The person saves</a:t>
            </a:r>
            <a:endParaRPr lang="en-US" sz="1600" dirty="0"/>
          </a:p>
        </p:txBody>
      </p:sp>
      <p:sp>
        <p:nvSpPr>
          <p:cNvPr id="22" name="Text 158"/>
          <p:cNvSpPr txBox="1"/>
          <p:nvPr/>
        </p:nvSpPr>
        <p:spPr>
          <a:xfrm>
            <a:off x="1115568" y="5440680"/>
            <a:ext cx="3547872" cy="512064"/>
          </a:xfrm>
          <a:prstGeom prst="rect">
            <a:avLst/>
          </a:prstGeom>
          <a:noFill/>
          <a:ln/>
        </p:spPr>
        <p:txBody>
          <a:bodyPr wrap="square" lIns="0" tIns="0" rIns="0" bIns="0" rtlCol="0" anchor="t"/>
          <a:lstStyle/>
          <a:p>
            <a:pPr algn="l" indent="0" marL="0">
              <a:buNone/>
            </a:pPr>
            <a:r>
              <a:rPr lang="en-US" sz="1400" dirty="0">
                <a:solidFill>
                  <a:schemeClr val="tx1"/>
                </a:solidFill>
              </a:rPr>
              <a:t>Version 1 is saved. A later change request marks Saturday as changed.</a:t>
            </a:r>
            <a:endParaRPr lang="en-US" sz="1400" dirty="0"/>
          </a:p>
        </p:txBody>
      </p:sp>
      <p:sp>
        <p:nvSpPr>
          <p:cNvPr id="23" name="Card 159"/>
          <p:cNvSpPr/>
          <p:nvPr/>
        </p:nvSpPr>
        <p:spPr>
          <a:xfrm>
            <a:off x="4983480" y="1554480"/>
            <a:ext cx="3563230" cy="4434840"/>
          </a:xfrm>
          <a:prstGeom prst="roundRect">
            <a:avLst>
              <a:gd name="adj" fmla="val 1283"/>
            </a:avLst>
          </a:prstGeom>
          <a:solidFill>
            <a:schemeClr val="bg1"/>
          </a:solidFill>
          <a:ln w="9525">
            <a:solidFill>
              <a:schemeClr val="accent4">
                <a:alpha val="35000"/>
              </a:schemeClr>
            </a:solidFill>
            <a:prstDash val="solid"/>
          </a:ln>
        </p:spPr>
      </p:sp>
      <p:pic>
        <p:nvPicPr>
          <p:cNvPr id="24" name="Screenshot 160" descr="Turn 1: the coach says what the record shows about the ankle and asks its questions">    </p:cNvPr>
          <p:cNvPicPr>
            <a:picLocks noChangeAspect="1"/>
          </p:cNvPicPr>
          <p:nvPr/>
        </p:nvPicPr>
        <p:blipFill>
          <a:blip r:embed="rId1"/>
          <a:stretch>
            <a:fillRect/>
          </a:stretch>
        </p:blipFill>
        <p:spPr>
          <a:xfrm>
            <a:off x="5029200" y="1600200"/>
            <a:ext cx="3471790" cy="4343400"/>
          </a:xfrm>
          <a:prstGeom prst="rect">
            <a:avLst/>
          </a:prstGeom>
        </p:spPr>
      </p:pic>
      <p:sp>
        <p:nvSpPr>
          <p:cNvPr id="25" name="Card 161"/>
          <p:cNvSpPr/>
          <p:nvPr/>
        </p:nvSpPr>
        <p:spPr>
          <a:xfrm>
            <a:off x="8656438" y="1554480"/>
            <a:ext cx="2943720" cy="4434840"/>
          </a:xfrm>
          <a:prstGeom prst="roundRect">
            <a:avLst>
              <a:gd name="adj" fmla="val 1553"/>
            </a:avLst>
          </a:prstGeom>
          <a:solidFill>
            <a:schemeClr val="bg1"/>
          </a:solidFill>
          <a:ln w="9525">
            <a:solidFill>
              <a:schemeClr val="accent4">
                <a:alpha val="35000"/>
              </a:schemeClr>
            </a:solidFill>
            <a:prstDash val="solid"/>
          </a:ln>
        </p:spPr>
      </p:sp>
      <p:pic>
        <p:nvPicPr>
          <p:cNvPr id="26" name="Screenshot 162" descr="The plan panel: a seven-day draft with Saturday marked as changed, and the Save as my plan and Discard draft buttons">    </p:cNvPr>
          <p:cNvPicPr>
            <a:picLocks noChangeAspect="1"/>
          </p:cNvPicPr>
          <p:nvPr/>
        </p:nvPicPr>
        <p:blipFill>
          <a:blip r:embed="rId2"/>
          <a:stretch>
            <a:fillRect/>
          </a:stretch>
        </p:blipFill>
        <p:spPr>
          <a:xfrm>
            <a:off x="8702158" y="1600200"/>
            <a:ext cx="2852280" cy="4343400"/>
          </a:xfrm>
          <a:prstGeom prst="rect">
            <a:avLst/>
          </a:prstGeom>
        </p:spPr>
      </p:pic>
      <p:sp>
        <p:nvSpPr>
          <p:cNvPr id="27" name="Text 163"/>
          <p:cNvSpPr txBox="1"/>
          <p:nvPr/>
        </p:nvSpPr>
        <p:spPr>
          <a:xfrm>
            <a:off x="5029200" y="6025896"/>
            <a:ext cx="3471790" cy="201168"/>
          </a:xfrm>
          <a:prstGeom prst="rect">
            <a:avLst/>
          </a:prstGeom>
          <a:noFill/>
          <a:ln/>
        </p:spPr>
        <p:txBody>
          <a:bodyPr wrap="square" lIns="0" tIns="0" rIns="0" bIns="0" rtlCol="0" anchor="t"/>
          <a:lstStyle/>
          <a:p>
            <a:pPr algn="l" indent="0" marL="0">
              <a:buNone/>
            </a:pPr>
            <a:r>
              <a:rPr lang="en-US" sz="1050" dirty="0">
                <a:solidFill>
                  <a:schemeClr val="accent4"/>
                </a:solidFill>
              </a:rPr>
              <a:t>Turn 1: the Agent asks before planning</a:t>
            </a:r>
            <a:endParaRPr lang="en-US" sz="1050" dirty="0"/>
          </a:p>
        </p:txBody>
      </p:sp>
      <p:sp>
        <p:nvSpPr>
          <p:cNvPr id="28" name="Text 164"/>
          <p:cNvSpPr txBox="1"/>
          <p:nvPr/>
        </p:nvSpPr>
        <p:spPr>
          <a:xfrm>
            <a:off x="8702158" y="6025896"/>
            <a:ext cx="2852280" cy="201168"/>
          </a:xfrm>
          <a:prstGeom prst="rect">
            <a:avLst/>
          </a:prstGeom>
          <a:noFill/>
          <a:ln/>
        </p:spPr>
        <p:txBody>
          <a:bodyPr wrap="square" lIns="0" tIns="0" rIns="0" bIns="0" rtlCol="0" anchor="t"/>
          <a:lstStyle/>
          <a:p>
            <a:pPr algn="l" indent="0" marL="0">
              <a:buNone/>
            </a:pPr>
            <a:r>
              <a:rPr lang="en-US" sz="1050" dirty="0">
                <a:solidFill>
                  <a:schemeClr val="accent4"/>
                </a:solidFill>
              </a:rPr>
              <a:t>Plan panel: the changed day is marked</a:t>
            </a:r>
            <a:endParaRPr lang="en-US" sz="105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DEMO · MONITOR</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Demo: code raises a signal, the Agent decides</a:t>
            </a:r>
            <a:endParaRPr lang="en-US" sz="2800" dirty="0"/>
          </a:p>
        </p:txBody>
      </p:sp>
      <p:sp>
        <p:nvSpPr>
          <p:cNvPr id="5" name="Pill 165"/>
          <p:cNvSpPr/>
          <p:nvPr/>
        </p:nvSpPr>
        <p:spPr>
          <a:xfrm>
            <a:off x="548640" y="1554480"/>
            <a:ext cx="2011680" cy="274320"/>
          </a:xfrm>
          <a:prstGeom prst="roundRect">
            <a:avLst>
              <a:gd name="adj" fmla="val 50000"/>
            </a:avLst>
          </a:prstGeom>
          <a:solidFill>
            <a:schemeClr val="accent5"/>
          </a:solidFill>
          <a:ln/>
        </p:spPr>
      </p:sp>
      <p:sp>
        <p:nvSpPr>
          <p:cNvPr id="6" name="Text 166"/>
          <p:cNvSpPr txBox="1"/>
          <p:nvPr/>
        </p:nvSpPr>
        <p:spPr>
          <a:xfrm>
            <a:off x="548640" y="1554480"/>
            <a:ext cx="2011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p16 · 1 MARCH 2020</a:t>
            </a:r>
            <a:endParaRPr lang="en-US" sz="1050" dirty="0"/>
          </a:p>
        </p:txBody>
      </p:sp>
      <p:sp>
        <p:nvSpPr>
          <p:cNvPr id="7" name="Dot 167"/>
          <p:cNvSpPr/>
          <p:nvPr/>
        </p:nvSpPr>
        <p:spPr>
          <a:xfrm>
            <a:off x="548640" y="2057400"/>
            <a:ext cx="384048" cy="384048"/>
          </a:xfrm>
          <a:prstGeom prst="ellipse">
            <a:avLst/>
          </a:prstGeom>
          <a:solidFill>
            <a:schemeClr val="accent3"/>
          </a:solidFill>
          <a:ln/>
        </p:spPr>
      </p:sp>
      <p:sp>
        <p:nvSpPr>
          <p:cNvPr id="8" name="Text 168"/>
          <p:cNvSpPr txBox="1"/>
          <p:nvPr/>
        </p:nvSpPr>
        <p:spPr>
          <a:xfrm>
            <a:off x="548640" y="20574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169"/>
          <p:cNvSpPr txBox="1"/>
          <p:nvPr/>
        </p:nvSpPr>
        <p:spPr>
          <a:xfrm>
            <a:off x="1115568" y="2057400"/>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Detects</a:t>
            </a:r>
            <a:endParaRPr lang="en-US" sz="1600" dirty="0"/>
          </a:p>
        </p:txBody>
      </p:sp>
      <p:sp>
        <p:nvSpPr>
          <p:cNvPr id="10" name="Pill 170"/>
          <p:cNvSpPr/>
          <p:nvPr/>
        </p:nvSpPr>
        <p:spPr>
          <a:xfrm>
            <a:off x="4800600" y="2112264"/>
            <a:ext cx="868680" cy="274320"/>
          </a:xfrm>
          <a:prstGeom prst="roundRect">
            <a:avLst>
              <a:gd name="adj" fmla="val 50000"/>
            </a:avLst>
          </a:prstGeom>
          <a:solidFill>
            <a:schemeClr val="accent6"/>
          </a:solidFill>
          <a:ln/>
        </p:spPr>
      </p:sp>
      <p:sp>
        <p:nvSpPr>
          <p:cNvPr id="11" name="Text 171"/>
          <p:cNvSpPr txBox="1"/>
          <p:nvPr/>
        </p:nvSpPr>
        <p:spPr>
          <a:xfrm>
            <a:off x="4800600" y="2112264"/>
            <a:ext cx="868680" cy="274320"/>
          </a:xfrm>
          <a:prstGeom prst="rect">
            <a:avLst/>
          </a:prstGeom>
          <a:noFill/>
          <a:ln/>
        </p:spPr>
        <p:txBody>
          <a:bodyPr wrap="square" lIns="0" tIns="0" rIns="0" bIns="0" rtlCol="0" anchor="ctr"/>
          <a:lstStyle/>
          <a:p>
            <a:pPr algn="ctr" indent="0" marL="0">
              <a:buNone/>
            </a:pPr>
            <a:r>
              <a:rPr lang="en-US" sz="1050" b="1" spc="100" kern="0" dirty="0">
                <a:solidFill>
                  <a:schemeClr val="accent3"/>
                </a:solidFill>
              </a:rPr>
              <a:t>CODE</a:t>
            </a:r>
            <a:endParaRPr lang="en-US" sz="1050" dirty="0"/>
          </a:p>
        </p:txBody>
      </p:sp>
      <p:sp>
        <p:nvSpPr>
          <p:cNvPr id="12" name="Text 172"/>
          <p:cNvSpPr txBox="1"/>
          <p:nvPr/>
        </p:nvSpPr>
        <p:spPr>
          <a:xfrm>
            <a:off x="1115568" y="2478024"/>
            <a:ext cx="4553712" cy="512064"/>
          </a:xfrm>
          <a:prstGeom prst="rect">
            <a:avLst/>
          </a:prstGeom>
          <a:noFill/>
          <a:ln/>
        </p:spPr>
        <p:txBody>
          <a:bodyPr wrap="square" lIns="0" tIns="0" rIns="0" bIns="0" rtlCol="0" anchor="t"/>
          <a:lstStyle/>
          <a:p>
            <a:pPr algn="l" indent="0" marL="0">
              <a:buNone/>
            </a:pPr>
            <a:r>
              <a:rPr lang="en-US" sz="1400" dirty="0">
                <a:solidFill>
                  <a:schemeClr val="tx1"/>
                </a:solidFill>
              </a:rPr>
              <a:t>Seven detectors run day by day. Weekly activity has been below WHO's 150 minutes since 22 November.</a:t>
            </a:r>
            <a:endParaRPr lang="en-US" sz="1400" dirty="0"/>
          </a:p>
        </p:txBody>
      </p:sp>
      <p:sp>
        <p:nvSpPr>
          <p:cNvPr id="13" name="Dot 173"/>
          <p:cNvSpPr/>
          <p:nvPr/>
        </p:nvSpPr>
        <p:spPr>
          <a:xfrm>
            <a:off x="548640" y="3044952"/>
            <a:ext cx="384048" cy="384048"/>
          </a:xfrm>
          <a:prstGeom prst="ellipse">
            <a:avLst/>
          </a:prstGeom>
          <a:solidFill>
            <a:schemeClr val="accent3"/>
          </a:solidFill>
          <a:ln/>
        </p:spPr>
      </p:sp>
      <p:sp>
        <p:nvSpPr>
          <p:cNvPr id="14" name="Text 174"/>
          <p:cNvSpPr txBox="1"/>
          <p:nvPr/>
        </p:nvSpPr>
        <p:spPr>
          <a:xfrm>
            <a:off x="548640" y="304495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75"/>
          <p:cNvSpPr txBox="1"/>
          <p:nvPr/>
        </p:nvSpPr>
        <p:spPr>
          <a:xfrm>
            <a:off x="1115568" y="3044952"/>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Hands over facts</a:t>
            </a:r>
            <a:endParaRPr lang="en-US" sz="1600" dirty="0"/>
          </a:p>
        </p:txBody>
      </p:sp>
      <p:sp>
        <p:nvSpPr>
          <p:cNvPr id="16" name="Pill 176"/>
          <p:cNvSpPr/>
          <p:nvPr/>
        </p:nvSpPr>
        <p:spPr>
          <a:xfrm>
            <a:off x="4800600" y="3099816"/>
            <a:ext cx="868680" cy="274320"/>
          </a:xfrm>
          <a:prstGeom prst="roundRect">
            <a:avLst>
              <a:gd name="adj" fmla="val 50000"/>
            </a:avLst>
          </a:prstGeom>
          <a:solidFill>
            <a:schemeClr val="accent6"/>
          </a:solidFill>
          <a:ln/>
        </p:spPr>
      </p:sp>
      <p:sp>
        <p:nvSpPr>
          <p:cNvPr id="17" name="Text 177"/>
          <p:cNvSpPr txBox="1"/>
          <p:nvPr/>
        </p:nvSpPr>
        <p:spPr>
          <a:xfrm>
            <a:off x="4800600" y="3099816"/>
            <a:ext cx="868680" cy="274320"/>
          </a:xfrm>
          <a:prstGeom prst="rect">
            <a:avLst/>
          </a:prstGeom>
          <a:noFill/>
          <a:ln/>
        </p:spPr>
        <p:txBody>
          <a:bodyPr wrap="square" lIns="0" tIns="0" rIns="0" bIns="0" rtlCol="0" anchor="ctr"/>
          <a:lstStyle/>
          <a:p>
            <a:pPr algn="ctr" indent="0" marL="0">
              <a:buNone/>
            </a:pPr>
            <a:r>
              <a:rPr lang="en-US" sz="1050" b="1" spc="100" kern="0" dirty="0">
                <a:solidFill>
                  <a:schemeClr val="accent3"/>
                </a:solidFill>
              </a:rPr>
              <a:t>CODE</a:t>
            </a:r>
            <a:endParaRPr lang="en-US" sz="1050" dirty="0"/>
          </a:p>
        </p:txBody>
      </p:sp>
      <p:sp>
        <p:nvSpPr>
          <p:cNvPr id="18" name="Text 178"/>
          <p:cNvSpPr txBox="1"/>
          <p:nvPr/>
        </p:nvSpPr>
        <p:spPr>
          <a:xfrm>
            <a:off x="1115568" y="3465576"/>
            <a:ext cx="4553712" cy="512064"/>
          </a:xfrm>
          <a:prstGeom prst="rect">
            <a:avLst/>
          </a:prstGeom>
          <a:noFill/>
          <a:ln/>
        </p:spPr>
        <p:txBody>
          <a:bodyPr wrap="square" lIns="0" tIns="0" rIns="0" bIns="0" rtlCol="0" anchor="t"/>
          <a:lstStyle/>
          <a:p>
            <a:pPr algn="l" indent="0" marL="0">
              <a:buNone/>
            </a:pPr>
            <a:r>
              <a:rPr lang="en-US" sz="1400" dirty="0">
                <a:solidFill>
                  <a:schemeClr val="tx1"/>
                </a:solidFill>
              </a:rPr>
              <a:t>Severity, 101 days running, history, data coverage and earlier Alerts.</a:t>
            </a:r>
            <a:endParaRPr lang="en-US" sz="1400" dirty="0"/>
          </a:p>
        </p:txBody>
      </p:sp>
      <p:sp>
        <p:nvSpPr>
          <p:cNvPr id="19" name="Dot 179"/>
          <p:cNvSpPr/>
          <p:nvPr/>
        </p:nvSpPr>
        <p:spPr>
          <a:xfrm>
            <a:off x="548640" y="4032504"/>
            <a:ext cx="384048" cy="384048"/>
          </a:xfrm>
          <a:prstGeom prst="ellipse">
            <a:avLst/>
          </a:prstGeom>
          <a:solidFill>
            <a:schemeClr val="accent1"/>
          </a:solidFill>
          <a:ln/>
        </p:spPr>
      </p:sp>
      <p:sp>
        <p:nvSpPr>
          <p:cNvPr id="20" name="Text 180"/>
          <p:cNvSpPr txBox="1"/>
          <p:nvPr/>
        </p:nvSpPr>
        <p:spPr>
          <a:xfrm>
            <a:off x="548640" y="403250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81"/>
          <p:cNvSpPr txBox="1"/>
          <p:nvPr/>
        </p:nvSpPr>
        <p:spPr>
          <a:xfrm>
            <a:off x="1115568" y="4032504"/>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Reviews</a:t>
            </a:r>
            <a:endParaRPr lang="en-US" sz="1600" dirty="0"/>
          </a:p>
        </p:txBody>
      </p:sp>
      <p:sp>
        <p:nvSpPr>
          <p:cNvPr id="22" name="Pill 182"/>
          <p:cNvSpPr/>
          <p:nvPr/>
        </p:nvSpPr>
        <p:spPr>
          <a:xfrm>
            <a:off x="4800600" y="4087368"/>
            <a:ext cx="868680" cy="274320"/>
          </a:xfrm>
          <a:prstGeom prst="roundRect">
            <a:avLst>
              <a:gd name="adj" fmla="val 50000"/>
            </a:avLst>
          </a:prstGeom>
          <a:solidFill>
            <a:schemeClr val="accent5"/>
          </a:solidFill>
          <a:ln/>
        </p:spPr>
      </p:sp>
      <p:sp>
        <p:nvSpPr>
          <p:cNvPr id="23" name="Text 183"/>
          <p:cNvSpPr txBox="1"/>
          <p:nvPr/>
        </p:nvSpPr>
        <p:spPr>
          <a:xfrm>
            <a:off x="4800600" y="4087368"/>
            <a:ext cx="868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AGENT</a:t>
            </a:r>
            <a:endParaRPr lang="en-US" sz="1050" dirty="0"/>
          </a:p>
        </p:txBody>
      </p:sp>
      <p:sp>
        <p:nvSpPr>
          <p:cNvPr id="24" name="Text 184"/>
          <p:cNvSpPr txBox="1"/>
          <p:nvPr/>
        </p:nvSpPr>
        <p:spPr>
          <a:xfrm>
            <a:off x="1115568" y="4453128"/>
            <a:ext cx="4553712" cy="512064"/>
          </a:xfrm>
          <a:prstGeom prst="rect">
            <a:avLst/>
          </a:prstGeom>
          <a:noFill/>
          <a:ln/>
        </p:spPr>
        <p:txBody>
          <a:bodyPr wrap="square" lIns="0" tIns="0" rIns="0" bIns="0" rtlCol="0" anchor="t"/>
          <a:lstStyle/>
          <a:p>
            <a:pPr algn="l" indent="0" marL="0">
              <a:buNone/>
            </a:pPr>
            <a:r>
              <a:rPr lang="en-US" sz="1400" dirty="0">
                <a:solidFill>
                  <a:schemeClr val="tx1"/>
                </a:solidFill>
              </a:rPr>
              <a:t>Reads the last 28 days and the 28 days when it began. Nothing recorded accounts for it.</a:t>
            </a:r>
            <a:endParaRPr lang="en-US" sz="1400" dirty="0"/>
          </a:p>
        </p:txBody>
      </p:sp>
      <p:sp>
        <p:nvSpPr>
          <p:cNvPr id="25" name="Dot 185"/>
          <p:cNvSpPr/>
          <p:nvPr/>
        </p:nvSpPr>
        <p:spPr>
          <a:xfrm>
            <a:off x="548640" y="5020056"/>
            <a:ext cx="384048" cy="384048"/>
          </a:xfrm>
          <a:prstGeom prst="ellipse">
            <a:avLst/>
          </a:prstGeom>
          <a:solidFill>
            <a:schemeClr val="accent1"/>
          </a:solidFill>
          <a:ln/>
        </p:spPr>
      </p:sp>
      <p:sp>
        <p:nvSpPr>
          <p:cNvPr id="26" name="Text 186"/>
          <p:cNvSpPr txBox="1"/>
          <p:nvPr/>
        </p:nvSpPr>
        <p:spPr>
          <a:xfrm>
            <a:off x="548640" y="502005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7" name="Text 187"/>
          <p:cNvSpPr txBox="1"/>
          <p:nvPr/>
        </p:nvSpPr>
        <p:spPr>
          <a:xfrm>
            <a:off x="1115568" y="5020056"/>
            <a:ext cx="3547872" cy="384048"/>
          </a:xfrm>
          <a:prstGeom prst="rect">
            <a:avLst/>
          </a:prstGeom>
          <a:noFill/>
          <a:ln/>
        </p:spPr>
        <p:txBody>
          <a:bodyPr wrap="square" lIns="0" tIns="0" rIns="0" bIns="0" rtlCol="0" anchor="ctr"/>
          <a:lstStyle/>
          <a:p>
            <a:pPr algn="l" indent="0" marL="0">
              <a:buNone/>
            </a:pPr>
            <a:r>
              <a:rPr lang="en-US" sz="1600" b="1" dirty="0">
                <a:solidFill>
                  <a:schemeClr val="tx2"/>
                </a:solidFill>
              </a:rPr>
              <a:t>Decides</a:t>
            </a:r>
            <a:endParaRPr lang="en-US" sz="1600" dirty="0"/>
          </a:p>
        </p:txBody>
      </p:sp>
      <p:sp>
        <p:nvSpPr>
          <p:cNvPr id="28" name="Pill 188"/>
          <p:cNvSpPr/>
          <p:nvPr/>
        </p:nvSpPr>
        <p:spPr>
          <a:xfrm>
            <a:off x="4800600" y="5074920"/>
            <a:ext cx="868680" cy="274320"/>
          </a:xfrm>
          <a:prstGeom prst="roundRect">
            <a:avLst>
              <a:gd name="adj" fmla="val 50000"/>
            </a:avLst>
          </a:prstGeom>
          <a:solidFill>
            <a:schemeClr val="accent5"/>
          </a:solidFill>
          <a:ln/>
        </p:spPr>
      </p:sp>
      <p:sp>
        <p:nvSpPr>
          <p:cNvPr id="29" name="Text 189"/>
          <p:cNvSpPr txBox="1"/>
          <p:nvPr/>
        </p:nvSpPr>
        <p:spPr>
          <a:xfrm>
            <a:off x="4800600" y="5074920"/>
            <a:ext cx="868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AGENT</a:t>
            </a:r>
            <a:endParaRPr lang="en-US" sz="1050" dirty="0"/>
          </a:p>
        </p:txBody>
      </p:sp>
      <p:sp>
        <p:nvSpPr>
          <p:cNvPr id="30" name="Text 190"/>
          <p:cNvSpPr txBox="1"/>
          <p:nvPr/>
        </p:nvSpPr>
        <p:spPr>
          <a:xfrm>
            <a:off x="1115568" y="5440680"/>
            <a:ext cx="4553712" cy="512064"/>
          </a:xfrm>
          <a:prstGeom prst="rect">
            <a:avLst/>
          </a:prstGeom>
          <a:noFill/>
          <a:ln/>
        </p:spPr>
        <p:txBody>
          <a:bodyPr wrap="square" lIns="0" tIns="0" rIns="0" bIns="0" rtlCol="0" anchor="t"/>
          <a:lstStyle/>
          <a:p>
            <a:pPr algn="l" indent="0" marL="0">
              <a:buNone/>
            </a:pPr>
            <a:r>
              <a:rPr lang="en-US" sz="1400" dirty="0">
                <a:solidFill>
                  <a:schemeClr val="tx1"/>
                </a:solidFill>
              </a:rPr>
              <a:t>Alerts the person now, and chooses to look again in 14 days.</a:t>
            </a:r>
            <a:endParaRPr lang="en-US" sz="1400" dirty="0"/>
          </a:p>
        </p:txBody>
      </p:sp>
      <p:sp>
        <p:nvSpPr>
          <p:cNvPr id="31" name="Card 191"/>
          <p:cNvSpPr/>
          <p:nvPr/>
        </p:nvSpPr>
        <p:spPr>
          <a:xfrm>
            <a:off x="6126480" y="1554480"/>
            <a:ext cx="5516575" cy="4200350"/>
          </a:xfrm>
          <a:prstGeom prst="roundRect">
            <a:avLst>
              <a:gd name="adj" fmla="val 1088"/>
            </a:avLst>
          </a:prstGeom>
          <a:solidFill>
            <a:schemeClr val="bg1"/>
          </a:solidFill>
          <a:ln w="9525">
            <a:solidFill>
              <a:schemeClr val="accent4">
                <a:alpha val="35000"/>
              </a:schemeClr>
            </a:solidFill>
            <a:prstDash val="solid"/>
          </a:ln>
        </p:spPr>
      </p:sp>
      <p:pic>
        <p:nvPicPr>
          <p:cNvPr id="32" name="Screenshot 192" descr="The monitoring event and the Alert: the coach's decision with its reason, verdict unexplained, 101 days running, looks again in 14 days">    </p:cNvPr>
          <p:cNvPicPr>
            <a:picLocks noChangeAspect="1"/>
          </p:cNvPicPr>
          <p:nvPr/>
        </p:nvPicPr>
        <p:blipFill>
          <a:blip r:embed="rId1"/>
          <a:stretch>
            <a:fillRect/>
          </a:stretch>
        </p:blipFill>
        <p:spPr>
          <a:xfrm>
            <a:off x="6172200" y="1600200"/>
            <a:ext cx="5425135" cy="4108910"/>
          </a:xfrm>
          <a:prstGeom prst="rect">
            <a:avLst/>
          </a:prstGeom>
        </p:spPr>
      </p:pic>
      <p:sp>
        <p:nvSpPr>
          <p:cNvPr id="33" name="Text 193"/>
          <p:cNvSpPr txBox="1"/>
          <p:nvPr/>
        </p:nvSpPr>
        <p:spPr>
          <a:xfrm>
            <a:off x="6172200" y="5846270"/>
            <a:ext cx="5425135" cy="201168"/>
          </a:xfrm>
          <a:prstGeom prst="rect">
            <a:avLst/>
          </a:prstGeom>
          <a:noFill/>
          <a:ln/>
        </p:spPr>
        <p:txBody>
          <a:bodyPr wrap="square" lIns="0" tIns="0" rIns="0" bIns="0" rtlCol="0" anchor="t"/>
          <a:lstStyle/>
          <a:p>
            <a:pPr algn="l" indent="0" marL="0">
              <a:buNone/>
            </a:pPr>
            <a:r>
              <a:rPr lang="en-US" sz="1050" dirty="0">
                <a:solidFill>
                  <a:schemeClr val="accent4"/>
                </a:solidFill>
              </a:rPr>
              <a:t>The Alert as the person sees it: the Agent's reason, its verdict and the facts it was given</a:t>
            </a:r>
            <a:endParaRPr lang="en-US" sz="105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SAFETY AND OVERSIGHT</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Only the person commits; symptoms get care advice</a:t>
            </a:r>
            <a:endParaRPr lang="en-US" sz="2800" dirty="0"/>
          </a:p>
        </p:txBody>
      </p:sp>
      <p:sp>
        <p:nvSpPr>
          <p:cNvPr id="5" name="Card 194"/>
          <p:cNvSpPr/>
          <p:nvPr/>
        </p:nvSpPr>
        <p:spPr>
          <a:xfrm>
            <a:off x="548640" y="1554480"/>
            <a:ext cx="7223760" cy="1389888"/>
          </a:xfrm>
          <a:prstGeom prst="roundRect">
            <a:avLst>
              <a:gd name="adj" fmla="val 5921"/>
            </a:avLst>
          </a:prstGeom>
          <a:solidFill>
            <a:schemeClr val="bg1"/>
          </a:solidFill>
          <a:ln w="9525">
            <a:solidFill>
              <a:schemeClr val="accent4">
                <a:alpha val="35000"/>
              </a:schemeClr>
            </a:solidFill>
            <a:prstDash val="solid"/>
          </a:ln>
        </p:spPr>
      </p:sp>
      <p:sp>
        <p:nvSpPr>
          <p:cNvPr id="6" name="Text 195"/>
          <p:cNvSpPr txBox="1"/>
          <p:nvPr/>
        </p:nvSpPr>
        <p:spPr>
          <a:xfrm>
            <a:off x="777240" y="1700784"/>
            <a:ext cx="4114800" cy="310896"/>
          </a:xfrm>
          <a:prstGeom prst="rect">
            <a:avLst/>
          </a:prstGeom>
          <a:noFill/>
          <a:ln/>
        </p:spPr>
        <p:txBody>
          <a:bodyPr wrap="square" lIns="0" tIns="0" rIns="0" bIns="0" rtlCol="0" anchor="t"/>
          <a:lstStyle/>
          <a:p>
            <a:pPr algn="l" indent="0" marL="0">
              <a:buNone/>
            </a:pPr>
            <a:r>
              <a:rPr lang="en-US" sz="1700" b="1" dirty="0">
                <a:solidFill>
                  <a:schemeClr val="tx2"/>
                </a:solidFill>
              </a:rPr>
              <a:t>Human checkpoint</a:t>
            </a:r>
            <a:endParaRPr lang="en-US" sz="1700" dirty="0"/>
          </a:p>
        </p:txBody>
      </p:sp>
      <p:sp>
        <p:nvSpPr>
          <p:cNvPr id="7" name="Pill 196"/>
          <p:cNvSpPr/>
          <p:nvPr/>
        </p:nvSpPr>
        <p:spPr>
          <a:xfrm>
            <a:off x="6675120" y="1719072"/>
            <a:ext cx="868680" cy="274320"/>
          </a:xfrm>
          <a:prstGeom prst="roundRect">
            <a:avLst>
              <a:gd name="adj" fmla="val 50000"/>
            </a:avLst>
          </a:prstGeom>
          <a:solidFill>
            <a:schemeClr val="tx2"/>
          </a:solidFill>
          <a:ln/>
        </p:spPr>
      </p:sp>
      <p:sp>
        <p:nvSpPr>
          <p:cNvPr id="8" name="Text 197"/>
          <p:cNvSpPr txBox="1"/>
          <p:nvPr/>
        </p:nvSpPr>
        <p:spPr>
          <a:xfrm>
            <a:off x="6675120" y="1719072"/>
            <a:ext cx="868680" cy="274320"/>
          </a:xfrm>
          <a:prstGeom prst="rect">
            <a:avLst/>
          </a:prstGeom>
          <a:noFill/>
          <a:ln/>
        </p:spPr>
        <p:txBody>
          <a:bodyPr wrap="square" lIns="0" tIns="0" rIns="0" bIns="0" rtlCol="0" anchor="ctr"/>
          <a:lstStyle/>
          <a:p>
            <a:pPr algn="ctr" indent="0" marL="0">
              <a:buNone/>
            </a:pPr>
            <a:r>
              <a:rPr lang="en-US" sz="1050" b="1" spc="100" kern="0" dirty="0">
                <a:solidFill>
                  <a:schemeClr val="bg1"/>
                </a:solidFill>
              </a:rPr>
              <a:t>PERSON</a:t>
            </a:r>
            <a:endParaRPr lang="en-US" sz="1050" dirty="0"/>
          </a:p>
        </p:txBody>
      </p:sp>
      <p:sp>
        <p:nvSpPr>
          <p:cNvPr id="9" name="Text 198"/>
          <p:cNvSpPr txBox="1"/>
          <p:nvPr/>
        </p:nvSpPr>
        <p:spPr>
          <a:xfrm>
            <a:off x="777240" y="2103120"/>
            <a:ext cx="6766560" cy="749808"/>
          </a:xfrm>
          <a:prstGeom prst="rect">
            <a:avLst/>
          </a:prstGeom>
          <a:noFill/>
          <a:ln/>
        </p:spPr>
        <p:txBody>
          <a:bodyPr wrap="square" lIns="0" tIns="0" rIns="0" bIns="0" rtlCol="0" anchor="t"/>
          <a:lstStyle/>
          <a:p>
            <a:pPr algn="l" indent="0" marL="0">
              <a:buNone/>
            </a:pPr>
            <a:r>
              <a:rPr lang="en-US" sz="1400" dirty="0">
                <a:solidFill>
                  <a:schemeClr val="tx1"/>
                </a:solidFill>
              </a:rPr>
              <a:t>A plan is committed only when the person presses Save. Only the server writes Saved Plans, so the model cannot bypass the person. Every save or discard is its own audit entry.</a:t>
            </a:r>
            <a:endParaRPr lang="en-US" sz="1400" dirty="0"/>
          </a:p>
        </p:txBody>
      </p:sp>
      <p:sp>
        <p:nvSpPr>
          <p:cNvPr id="10" name="Card 199"/>
          <p:cNvSpPr/>
          <p:nvPr/>
        </p:nvSpPr>
        <p:spPr>
          <a:xfrm>
            <a:off x="548640" y="3127248"/>
            <a:ext cx="7223760" cy="1389888"/>
          </a:xfrm>
          <a:prstGeom prst="roundRect">
            <a:avLst>
              <a:gd name="adj" fmla="val 5921"/>
            </a:avLst>
          </a:prstGeom>
          <a:solidFill>
            <a:schemeClr val="bg1"/>
          </a:solidFill>
          <a:ln w="9525">
            <a:solidFill>
              <a:schemeClr val="accent4">
                <a:alpha val="35000"/>
              </a:schemeClr>
            </a:solidFill>
            <a:prstDash val="solid"/>
          </a:ln>
        </p:spPr>
      </p:sp>
      <p:sp>
        <p:nvSpPr>
          <p:cNvPr id="11" name="Text 200"/>
          <p:cNvSpPr txBox="1"/>
          <p:nvPr/>
        </p:nvSpPr>
        <p:spPr>
          <a:xfrm>
            <a:off x="777240" y="3273552"/>
            <a:ext cx="4114800" cy="310896"/>
          </a:xfrm>
          <a:prstGeom prst="rect">
            <a:avLst/>
          </a:prstGeom>
          <a:noFill/>
          <a:ln/>
        </p:spPr>
        <p:txBody>
          <a:bodyPr wrap="square" lIns="0" tIns="0" rIns="0" bIns="0" rtlCol="0" anchor="t"/>
          <a:lstStyle/>
          <a:p>
            <a:pPr algn="l" indent="0" marL="0">
              <a:buNone/>
            </a:pPr>
            <a:r>
              <a:rPr lang="en-US" sz="1700" b="1" dirty="0">
                <a:solidFill>
                  <a:schemeClr val="tx2"/>
                </a:solidFill>
              </a:rPr>
              <a:t>Warning symptoms</a:t>
            </a:r>
            <a:endParaRPr lang="en-US" sz="1700" dirty="0"/>
          </a:p>
        </p:txBody>
      </p:sp>
      <p:sp>
        <p:nvSpPr>
          <p:cNvPr id="12" name="Pill 201"/>
          <p:cNvSpPr/>
          <p:nvPr/>
        </p:nvSpPr>
        <p:spPr>
          <a:xfrm>
            <a:off x="5715000" y="3291840"/>
            <a:ext cx="868680" cy="274320"/>
          </a:xfrm>
          <a:prstGeom prst="roundRect">
            <a:avLst>
              <a:gd name="adj" fmla="val 50000"/>
            </a:avLst>
          </a:prstGeom>
          <a:solidFill>
            <a:schemeClr val="accent5"/>
          </a:solidFill>
          <a:ln/>
        </p:spPr>
      </p:sp>
      <p:sp>
        <p:nvSpPr>
          <p:cNvPr id="13" name="Text 202"/>
          <p:cNvSpPr txBox="1"/>
          <p:nvPr/>
        </p:nvSpPr>
        <p:spPr>
          <a:xfrm>
            <a:off x="5715000" y="3291840"/>
            <a:ext cx="868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AGENT</a:t>
            </a:r>
            <a:endParaRPr lang="en-US" sz="1050" dirty="0"/>
          </a:p>
        </p:txBody>
      </p:sp>
      <p:sp>
        <p:nvSpPr>
          <p:cNvPr id="14" name="Pill 203"/>
          <p:cNvSpPr/>
          <p:nvPr/>
        </p:nvSpPr>
        <p:spPr>
          <a:xfrm>
            <a:off x="6675120" y="3291840"/>
            <a:ext cx="868680" cy="274320"/>
          </a:xfrm>
          <a:prstGeom prst="roundRect">
            <a:avLst>
              <a:gd name="adj" fmla="val 50000"/>
            </a:avLst>
          </a:prstGeom>
          <a:solidFill>
            <a:schemeClr val="accent6"/>
          </a:solidFill>
          <a:ln/>
        </p:spPr>
      </p:sp>
      <p:sp>
        <p:nvSpPr>
          <p:cNvPr id="15" name="Text 204"/>
          <p:cNvSpPr txBox="1"/>
          <p:nvPr/>
        </p:nvSpPr>
        <p:spPr>
          <a:xfrm>
            <a:off x="6675120" y="3291840"/>
            <a:ext cx="868680" cy="274320"/>
          </a:xfrm>
          <a:prstGeom prst="rect">
            <a:avLst/>
          </a:prstGeom>
          <a:noFill/>
          <a:ln/>
        </p:spPr>
        <p:txBody>
          <a:bodyPr wrap="square" lIns="0" tIns="0" rIns="0" bIns="0" rtlCol="0" anchor="ctr"/>
          <a:lstStyle/>
          <a:p>
            <a:pPr algn="ctr" indent="0" marL="0">
              <a:buNone/>
            </a:pPr>
            <a:r>
              <a:rPr lang="en-US" sz="1050" b="1" spc="100" kern="0" dirty="0">
                <a:solidFill>
                  <a:schemeClr val="accent3"/>
                </a:solidFill>
              </a:rPr>
              <a:t>CODE</a:t>
            </a:r>
            <a:endParaRPr lang="en-US" sz="1050" dirty="0"/>
          </a:p>
        </p:txBody>
      </p:sp>
      <p:sp>
        <p:nvSpPr>
          <p:cNvPr id="16" name="Text 205"/>
          <p:cNvSpPr txBox="1"/>
          <p:nvPr/>
        </p:nvSpPr>
        <p:spPr>
          <a:xfrm>
            <a:off x="777240" y="3675888"/>
            <a:ext cx="6766560" cy="749808"/>
          </a:xfrm>
          <a:prstGeom prst="rect">
            <a:avLst/>
          </a:prstGeom>
          <a:noFill/>
          <a:ln/>
        </p:spPr>
        <p:txBody>
          <a:bodyPr wrap="square" lIns="0" tIns="0" rIns="0" bIns="0" rtlCol="0" anchor="t"/>
          <a:lstStyle/>
          <a:p>
            <a:pPr algn="l" indent="0" marL="0">
              <a:buNone/>
            </a:pPr>
            <a:r>
              <a:rPr lang="en-US" sz="1400" dirty="0">
                <a:solidFill>
                  <a:schemeClr val="tx1"/>
                </a:solidFill>
              </a:rPr>
              <a:t>Chest pain, fainting, severe dizziness, breathlessness or palpitations: stop and seek care. No diagnosis and no plan; code rejects any draft change in that turn. Nothing is locked afterwards.</a:t>
            </a:r>
            <a:endParaRPr lang="en-US" sz="1400" dirty="0"/>
          </a:p>
        </p:txBody>
      </p:sp>
      <p:sp>
        <p:nvSpPr>
          <p:cNvPr id="17" name="Card 206"/>
          <p:cNvSpPr/>
          <p:nvPr/>
        </p:nvSpPr>
        <p:spPr>
          <a:xfrm>
            <a:off x="548640" y="4700016"/>
            <a:ext cx="7223760" cy="1389888"/>
          </a:xfrm>
          <a:prstGeom prst="roundRect">
            <a:avLst>
              <a:gd name="adj" fmla="val 5921"/>
            </a:avLst>
          </a:prstGeom>
          <a:solidFill>
            <a:schemeClr val="bg1"/>
          </a:solidFill>
          <a:ln w="9525">
            <a:solidFill>
              <a:schemeClr val="accent4">
                <a:alpha val="35000"/>
              </a:schemeClr>
            </a:solidFill>
            <a:prstDash val="solid"/>
          </a:ln>
        </p:spPr>
      </p:sp>
      <p:sp>
        <p:nvSpPr>
          <p:cNvPr id="18" name="Text 207"/>
          <p:cNvSpPr txBox="1"/>
          <p:nvPr/>
        </p:nvSpPr>
        <p:spPr>
          <a:xfrm>
            <a:off x="777240" y="4846320"/>
            <a:ext cx="4114800" cy="310896"/>
          </a:xfrm>
          <a:prstGeom prst="rect">
            <a:avLst/>
          </a:prstGeom>
          <a:noFill/>
          <a:ln/>
        </p:spPr>
        <p:txBody>
          <a:bodyPr wrap="square" lIns="0" tIns="0" rIns="0" bIns="0" rtlCol="0" anchor="t"/>
          <a:lstStyle/>
          <a:p>
            <a:pPr algn="l" indent="0" marL="0">
              <a:buNone/>
            </a:pPr>
            <a:r>
              <a:rPr lang="en-US" sz="1700" b="1" dirty="0">
                <a:solidFill>
                  <a:schemeClr val="tx2"/>
                </a:solidFill>
              </a:rPr>
              <a:t>Rule-breaking requests</a:t>
            </a:r>
            <a:endParaRPr lang="en-US" sz="1700" dirty="0"/>
          </a:p>
        </p:txBody>
      </p:sp>
      <p:sp>
        <p:nvSpPr>
          <p:cNvPr id="19" name="Pill 208"/>
          <p:cNvSpPr/>
          <p:nvPr/>
        </p:nvSpPr>
        <p:spPr>
          <a:xfrm>
            <a:off x="5715000" y="4864608"/>
            <a:ext cx="868680" cy="274320"/>
          </a:xfrm>
          <a:prstGeom prst="roundRect">
            <a:avLst>
              <a:gd name="adj" fmla="val 50000"/>
            </a:avLst>
          </a:prstGeom>
          <a:solidFill>
            <a:schemeClr val="accent5"/>
          </a:solidFill>
          <a:ln/>
        </p:spPr>
      </p:sp>
      <p:sp>
        <p:nvSpPr>
          <p:cNvPr id="20" name="Text 209"/>
          <p:cNvSpPr txBox="1"/>
          <p:nvPr/>
        </p:nvSpPr>
        <p:spPr>
          <a:xfrm>
            <a:off x="5715000" y="4864608"/>
            <a:ext cx="868680" cy="274320"/>
          </a:xfrm>
          <a:prstGeom prst="rect">
            <a:avLst/>
          </a:prstGeom>
          <a:noFill/>
          <a:ln/>
        </p:spPr>
        <p:txBody>
          <a:bodyPr wrap="square" lIns="0" tIns="0" rIns="0" bIns="0" rtlCol="0" anchor="ctr"/>
          <a:lstStyle/>
          <a:p>
            <a:pPr algn="ctr" indent="0" marL="0">
              <a:buNone/>
            </a:pPr>
            <a:r>
              <a:rPr lang="en-US" sz="1050" b="1" spc="100" kern="0" dirty="0">
                <a:solidFill>
                  <a:schemeClr val="tx2"/>
                </a:solidFill>
              </a:rPr>
              <a:t>AGENT</a:t>
            </a:r>
            <a:endParaRPr lang="en-US" sz="1050" dirty="0"/>
          </a:p>
        </p:txBody>
      </p:sp>
      <p:sp>
        <p:nvSpPr>
          <p:cNvPr id="21" name="Pill 210"/>
          <p:cNvSpPr/>
          <p:nvPr/>
        </p:nvSpPr>
        <p:spPr>
          <a:xfrm>
            <a:off x="6675120" y="4864608"/>
            <a:ext cx="868680" cy="274320"/>
          </a:xfrm>
          <a:prstGeom prst="roundRect">
            <a:avLst>
              <a:gd name="adj" fmla="val 50000"/>
            </a:avLst>
          </a:prstGeom>
          <a:solidFill>
            <a:schemeClr val="accent6"/>
          </a:solidFill>
          <a:ln/>
        </p:spPr>
      </p:sp>
      <p:sp>
        <p:nvSpPr>
          <p:cNvPr id="22" name="Text 211"/>
          <p:cNvSpPr txBox="1"/>
          <p:nvPr/>
        </p:nvSpPr>
        <p:spPr>
          <a:xfrm>
            <a:off x="6675120" y="4864608"/>
            <a:ext cx="868680" cy="274320"/>
          </a:xfrm>
          <a:prstGeom prst="rect">
            <a:avLst/>
          </a:prstGeom>
          <a:noFill/>
          <a:ln/>
        </p:spPr>
        <p:txBody>
          <a:bodyPr wrap="square" lIns="0" tIns="0" rIns="0" bIns="0" rtlCol="0" anchor="ctr"/>
          <a:lstStyle/>
          <a:p>
            <a:pPr algn="ctr" indent="0" marL="0">
              <a:buNone/>
            </a:pPr>
            <a:r>
              <a:rPr lang="en-US" sz="1050" b="1" spc="100" kern="0" dirty="0">
                <a:solidFill>
                  <a:schemeClr val="accent3"/>
                </a:solidFill>
              </a:rPr>
              <a:t>CODE</a:t>
            </a:r>
            <a:endParaRPr lang="en-US" sz="1050" dirty="0"/>
          </a:p>
        </p:txBody>
      </p:sp>
      <p:sp>
        <p:nvSpPr>
          <p:cNvPr id="23" name="Text 212"/>
          <p:cNvSpPr txBox="1"/>
          <p:nvPr/>
        </p:nvSpPr>
        <p:spPr>
          <a:xfrm>
            <a:off x="777240" y="5248656"/>
            <a:ext cx="6766560" cy="749808"/>
          </a:xfrm>
          <a:prstGeom prst="rect">
            <a:avLst/>
          </a:prstGeom>
          <a:noFill/>
          <a:ln/>
        </p:spPr>
        <p:txBody>
          <a:bodyPr wrap="square" lIns="0" tIns="0" rIns="0" bIns="0" rtlCol="0" anchor="t"/>
          <a:lstStyle/>
          <a:p>
            <a:pPr algn="l" indent="0" marL="0">
              <a:buNone/>
            </a:pPr>
            <a:r>
              <a:rPr lang="en-US" sz="1400" dirty="0">
                <a:solidFill>
                  <a:schemeClr val="tx1"/>
                </a:solidFill>
              </a:rPr>
              <a:t>Requests to ignore the rules or remember an override are refused and never stored. Even if the model obeyed, it could not reach other tools or switch off a check.</a:t>
            </a:r>
            <a:endParaRPr lang="en-US" sz="1400" dirty="0"/>
          </a:p>
        </p:txBody>
      </p:sp>
      <p:sp>
        <p:nvSpPr>
          <p:cNvPr id="24" name="Card 213"/>
          <p:cNvSpPr/>
          <p:nvPr/>
        </p:nvSpPr>
        <p:spPr>
          <a:xfrm>
            <a:off x="8092440" y="1554480"/>
            <a:ext cx="3550615" cy="2886512"/>
          </a:xfrm>
          <a:prstGeom prst="roundRect">
            <a:avLst>
              <a:gd name="adj" fmla="val 1584"/>
            </a:avLst>
          </a:prstGeom>
          <a:solidFill>
            <a:schemeClr val="bg1"/>
          </a:solidFill>
          <a:ln w="9525">
            <a:solidFill>
              <a:schemeClr val="accent4">
                <a:alpha val="35000"/>
              </a:schemeClr>
            </a:solidFill>
            <a:prstDash val="solid"/>
          </a:ln>
        </p:spPr>
      </p:sp>
      <p:pic>
        <p:nvPicPr>
          <p:cNvPr id="25" name="Screenshot 214" descr="A message describing dizziness and a pounding heart receives safety advice to stop and seek care, and no plan">    </p:cNvPr>
          <p:cNvPicPr>
            <a:picLocks noChangeAspect="1"/>
          </p:cNvPicPr>
          <p:nvPr/>
        </p:nvPicPr>
        <p:blipFill>
          <a:blip r:embed="rId1"/>
          <a:stretch>
            <a:fillRect/>
          </a:stretch>
        </p:blipFill>
        <p:spPr>
          <a:xfrm>
            <a:off x="8138160" y="1600200"/>
            <a:ext cx="3459175" cy="2795072"/>
          </a:xfrm>
          <a:prstGeom prst="rect">
            <a:avLst/>
          </a:prstGeom>
        </p:spPr>
      </p:pic>
      <p:sp>
        <p:nvSpPr>
          <p:cNvPr id="26" name="Card 215"/>
          <p:cNvSpPr/>
          <p:nvPr/>
        </p:nvSpPr>
        <p:spPr>
          <a:xfrm>
            <a:off x="8092440" y="4505000"/>
            <a:ext cx="3550615" cy="1689667"/>
          </a:xfrm>
          <a:prstGeom prst="roundRect">
            <a:avLst>
              <a:gd name="adj" fmla="val 2706"/>
            </a:avLst>
          </a:prstGeom>
          <a:solidFill>
            <a:schemeClr val="bg1"/>
          </a:solidFill>
          <a:ln w="9525">
            <a:solidFill>
              <a:schemeClr val="accent4">
                <a:alpha val="35000"/>
              </a:schemeClr>
            </a:solidFill>
            <a:prstDash val="solid"/>
          </a:ln>
        </p:spPr>
      </p:sp>
      <p:pic>
        <p:nvPicPr>
          <p:cNvPr id="27" name="Screenshot 216" descr="A SYSTEM OVERRIDE request is declined: I can't disable safety rules or store that instruction">    </p:cNvPr>
          <p:cNvPicPr>
            <a:picLocks noChangeAspect="1"/>
          </p:cNvPicPr>
          <p:nvPr/>
        </p:nvPicPr>
        <p:blipFill>
          <a:blip r:embed="rId2"/>
          <a:stretch>
            <a:fillRect/>
          </a:stretch>
        </p:blipFill>
        <p:spPr>
          <a:xfrm>
            <a:off x="8138160" y="4550720"/>
            <a:ext cx="3459175" cy="1598227"/>
          </a:xfrm>
          <a:prstGeom prst="rect">
            <a:avLst/>
          </a:prstGeom>
        </p:spPr>
      </p:pic>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GOVERNANCE</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Every turn states why it stopped and is logged</a:t>
            </a:r>
            <a:endParaRPr lang="en-US" sz="2800" dirty="0"/>
          </a:p>
        </p:txBody>
      </p:sp>
      <p:sp>
        <p:nvSpPr>
          <p:cNvPr id="5" name="Card 217"/>
          <p:cNvSpPr/>
          <p:nvPr/>
        </p:nvSpPr>
        <p:spPr>
          <a:xfrm>
            <a:off x="548640" y="1554480"/>
            <a:ext cx="1727149" cy="1371600"/>
          </a:xfrm>
          <a:prstGeom prst="roundRect">
            <a:avLst>
              <a:gd name="adj" fmla="val 6000"/>
            </a:avLst>
          </a:prstGeom>
          <a:solidFill>
            <a:schemeClr val="accent5"/>
          </a:solidFill>
          <a:ln/>
        </p:spPr>
      </p:sp>
      <p:sp>
        <p:nvSpPr>
          <p:cNvPr id="6" name="Text 218"/>
          <p:cNvSpPr txBox="1"/>
          <p:nvPr/>
        </p:nvSpPr>
        <p:spPr>
          <a:xfrm>
            <a:off x="685800" y="1737360"/>
            <a:ext cx="1452829" cy="274320"/>
          </a:xfrm>
          <a:prstGeom prst="rect">
            <a:avLst/>
          </a:prstGeom>
          <a:noFill/>
          <a:ln/>
        </p:spPr>
        <p:txBody>
          <a:bodyPr wrap="square" lIns="0" tIns="0" rIns="0" bIns="0" rtlCol="0" anchor="t"/>
          <a:lstStyle/>
          <a:p>
            <a:pPr algn="l" indent="0" marL="0">
              <a:buNone/>
            </a:pPr>
            <a:r>
              <a:rPr lang="en-US" sz="1300" b="1" dirty="0">
                <a:solidFill>
                  <a:schemeClr val="tx2"/>
                </a:solidFill>
              </a:rPr>
              <a:t>answered</a:t>
            </a:r>
            <a:endParaRPr lang="en-US" sz="1300" dirty="0"/>
          </a:p>
        </p:txBody>
      </p:sp>
      <p:sp>
        <p:nvSpPr>
          <p:cNvPr id="7" name="Text 219"/>
          <p:cNvSpPr txBox="1"/>
          <p:nvPr/>
        </p:nvSpPr>
        <p:spPr>
          <a:xfrm>
            <a:off x="685800"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Answer passed its checks</a:t>
            </a:r>
            <a:endParaRPr lang="en-US" sz="1400" dirty="0"/>
          </a:p>
        </p:txBody>
      </p:sp>
      <p:sp>
        <p:nvSpPr>
          <p:cNvPr id="8" name="Card 220"/>
          <p:cNvSpPr/>
          <p:nvPr/>
        </p:nvSpPr>
        <p:spPr>
          <a:xfrm>
            <a:off x="2422093" y="1554480"/>
            <a:ext cx="1727149" cy="1371600"/>
          </a:xfrm>
          <a:prstGeom prst="roundRect">
            <a:avLst>
              <a:gd name="adj" fmla="val 6000"/>
            </a:avLst>
          </a:prstGeom>
          <a:solidFill>
            <a:schemeClr val="accent5"/>
          </a:solidFill>
          <a:ln/>
        </p:spPr>
      </p:sp>
      <p:sp>
        <p:nvSpPr>
          <p:cNvPr id="9" name="Text 221"/>
          <p:cNvSpPr txBox="1"/>
          <p:nvPr/>
        </p:nvSpPr>
        <p:spPr>
          <a:xfrm>
            <a:off x="2559253" y="1737360"/>
            <a:ext cx="1452829" cy="274320"/>
          </a:xfrm>
          <a:prstGeom prst="rect">
            <a:avLst/>
          </a:prstGeom>
          <a:noFill/>
          <a:ln/>
        </p:spPr>
        <p:txBody>
          <a:bodyPr wrap="square" lIns="0" tIns="0" rIns="0" bIns="0" rtlCol="0" anchor="t"/>
          <a:lstStyle/>
          <a:p>
            <a:pPr algn="l" indent="0" marL="0">
              <a:buNone/>
            </a:pPr>
            <a:r>
              <a:rPr lang="en-US" sz="1300" b="1" dirty="0">
                <a:solidFill>
                  <a:schemeClr val="tx2"/>
                </a:solidFill>
              </a:rPr>
              <a:t>awaiting_user</a:t>
            </a:r>
            <a:endParaRPr lang="en-US" sz="1300" dirty="0"/>
          </a:p>
        </p:txBody>
      </p:sp>
      <p:sp>
        <p:nvSpPr>
          <p:cNvPr id="10" name="Text 222"/>
          <p:cNvSpPr txBox="1"/>
          <p:nvPr/>
        </p:nvSpPr>
        <p:spPr>
          <a:xfrm>
            <a:off x="2559253"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Agent asked; the page waits</a:t>
            </a:r>
            <a:endParaRPr lang="en-US" sz="1400" dirty="0"/>
          </a:p>
        </p:txBody>
      </p:sp>
      <p:sp>
        <p:nvSpPr>
          <p:cNvPr id="11" name="Card 223"/>
          <p:cNvSpPr/>
          <p:nvPr/>
        </p:nvSpPr>
        <p:spPr>
          <a:xfrm>
            <a:off x="4295546" y="1554480"/>
            <a:ext cx="1727149" cy="1371600"/>
          </a:xfrm>
          <a:prstGeom prst="roundRect">
            <a:avLst>
              <a:gd name="adj" fmla="val 6000"/>
            </a:avLst>
          </a:prstGeom>
          <a:solidFill>
            <a:schemeClr val="accent6"/>
          </a:solidFill>
          <a:ln/>
        </p:spPr>
      </p:sp>
      <p:sp>
        <p:nvSpPr>
          <p:cNvPr id="12" name="Text 224"/>
          <p:cNvSpPr txBox="1"/>
          <p:nvPr/>
        </p:nvSpPr>
        <p:spPr>
          <a:xfrm>
            <a:off x="4432706" y="1737360"/>
            <a:ext cx="1452829" cy="274320"/>
          </a:xfrm>
          <a:prstGeom prst="rect">
            <a:avLst/>
          </a:prstGeom>
          <a:noFill/>
          <a:ln/>
        </p:spPr>
        <p:txBody>
          <a:bodyPr wrap="square" lIns="0" tIns="0" rIns="0" bIns="0" rtlCol="0" anchor="t"/>
          <a:lstStyle/>
          <a:p>
            <a:pPr algn="l" indent="0" marL="0">
              <a:buNone/>
            </a:pPr>
            <a:r>
              <a:rPr lang="en-US" sz="1300" b="1" dirty="0">
                <a:solidFill>
                  <a:schemeClr val="accent3"/>
                </a:solidFill>
              </a:rPr>
              <a:t>safety_advice</a:t>
            </a:r>
            <a:endParaRPr lang="en-US" sz="1300" dirty="0"/>
          </a:p>
        </p:txBody>
      </p:sp>
      <p:sp>
        <p:nvSpPr>
          <p:cNvPr id="13" name="Text 225"/>
          <p:cNvSpPr txBox="1"/>
          <p:nvPr/>
        </p:nvSpPr>
        <p:spPr>
          <a:xfrm>
            <a:off x="4432706"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Warning symptom; no plan</a:t>
            </a:r>
            <a:endParaRPr lang="en-US" sz="1400" dirty="0"/>
          </a:p>
        </p:txBody>
      </p:sp>
      <p:sp>
        <p:nvSpPr>
          <p:cNvPr id="14" name="Card 226"/>
          <p:cNvSpPr/>
          <p:nvPr/>
        </p:nvSpPr>
        <p:spPr>
          <a:xfrm>
            <a:off x="6169000" y="1554480"/>
            <a:ext cx="1727149" cy="1371600"/>
          </a:xfrm>
          <a:prstGeom prst="roundRect">
            <a:avLst>
              <a:gd name="adj" fmla="val 6000"/>
            </a:avLst>
          </a:prstGeom>
          <a:solidFill>
            <a:schemeClr val="accent6"/>
          </a:solidFill>
          <a:ln/>
        </p:spPr>
      </p:sp>
      <p:sp>
        <p:nvSpPr>
          <p:cNvPr id="15" name="Text 227"/>
          <p:cNvSpPr txBox="1"/>
          <p:nvPr/>
        </p:nvSpPr>
        <p:spPr>
          <a:xfrm>
            <a:off x="6306160" y="1737360"/>
            <a:ext cx="1452829" cy="274320"/>
          </a:xfrm>
          <a:prstGeom prst="rect">
            <a:avLst/>
          </a:prstGeom>
          <a:noFill/>
          <a:ln/>
        </p:spPr>
        <p:txBody>
          <a:bodyPr wrap="square" lIns="0" tIns="0" rIns="0" bIns="0" rtlCol="0" anchor="t"/>
          <a:lstStyle/>
          <a:p>
            <a:pPr algn="l" indent="0" marL="0">
              <a:buNone/>
            </a:pPr>
            <a:r>
              <a:rPr lang="en-US" sz="1300" b="1" dirty="0">
                <a:solidFill>
                  <a:schemeClr val="accent3"/>
                </a:solidFill>
              </a:rPr>
              <a:t>refused</a:t>
            </a:r>
            <a:endParaRPr lang="en-US" sz="1300" dirty="0"/>
          </a:p>
        </p:txBody>
      </p:sp>
      <p:sp>
        <p:nvSpPr>
          <p:cNvPr id="16" name="Text 228"/>
          <p:cNvSpPr txBox="1"/>
          <p:nvPr/>
        </p:nvSpPr>
        <p:spPr>
          <a:xfrm>
            <a:off x="6306160"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Only request was to break rules</a:t>
            </a:r>
            <a:endParaRPr lang="en-US" sz="1400" dirty="0"/>
          </a:p>
        </p:txBody>
      </p:sp>
      <p:sp>
        <p:nvSpPr>
          <p:cNvPr id="17" name="Card 229"/>
          <p:cNvSpPr/>
          <p:nvPr/>
        </p:nvSpPr>
        <p:spPr>
          <a:xfrm>
            <a:off x="8042453" y="1554480"/>
            <a:ext cx="1727149" cy="1371600"/>
          </a:xfrm>
          <a:prstGeom prst="roundRect">
            <a:avLst>
              <a:gd name="adj" fmla="val 6000"/>
            </a:avLst>
          </a:prstGeom>
          <a:solidFill>
            <a:schemeClr val="bg1"/>
          </a:solidFill>
          <a:ln w="9525">
            <a:solidFill>
              <a:schemeClr val="accent4">
                <a:alpha val="35000"/>
              </a:schemeClr>
            </a:solidFill>
            <a:prstDash val="solid"/>
          </a:ln>
        </p:spPr>
      </p:sp>
      <p:sp>
        <p:nvSpPr>
          <p:cNvPr id="18" name="Text 230"/>
          <p:cNvSpPr txBox="1"/>
          <p:nvPr/>
        </p:nvSpPr>
        <p:spPr>
          <a:xfrm>
            <a:off x="8179613" y="1737360"/>
            <a:ext cx="1452829" cy="274320"/>
          </a:xfrm>
          <a:prstGeom prst="rect">
            <a:avLst/>
          </a:prstGeom>
          <a:noFill/>
          <a:ln/>
        </p:spPr>
        <p:txBody>
          <a:bodyPr wrap="square" lIns="0" tIns="0" rIns="0" bIns="0" rtlCol="0" anchor="t"/>
          <a:lstStyle/>
          <a:p>
            <a:pPr algn="l" indent="0" marL="0">
              <a:buNone/>
            </a:pPr>
            <a:r>
              <a:rPr lang="en-US" sz="1300" b="1" dirty="0">
                <a:solidFill>
                  <a:schemeClr val="accent4"/>
                </a:solidFill>
              </a:rPr>
              <a:t>limit_reached</a:t>
            </a:r>
            <a:endParaRPr lang="en-US" sz="1300" dirty="0"/>
          </a:p>
        </p:txBody>
      </p:sp>
      <p:sp>
        <p:nvSpPr>
          <p:cNvPr id="19" name="Text 231"/>
          <p:cNvSpPr txBox="1"/>
          <p:nvPr/>
        </p:nvSpPr>
        <p:spPr>
          <a:xfrm>
            <a:off x="8179613"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Over 24 requests or 300 s</a:t>
            </a:r>
            <a:endParaRPr lang="en-US" sz="1400" dirty="0"/>
          </a:p>
        </p:txBody>
      </p:sp>
      <p:sp>
        <p:nvSpPr>
          <p:cNvPr id="20" name="Card 232"/>
          <p:cNvSpPr/>
          <p:nvPr/>
        </p:nvSpPr>
        <p:spPr>
          <a:xfrm>
            <a:off x="9915906" y="1554480"/>
            <a:ext cx="1727149" cy="1371600"/>
          </a:xfrm>
          <a:prstGeom prst="roundRect">
            <a:avLst>
              <a:gd name="adj" fmla="val 6000"/>
            </a:avLst>
          </a:prstGeom>
          <a:solidFill>
            <a:schemeClr val="bg1"/>
          </a:solidFill>
          <a:ln w="9525">
            <a:solidFill>
              <a:schemeClr val="accent4">
                <a:alpha val="35000"/>
              </a:schemeClr>
            </a:solidFill>
            <a:prstDash val="solid"/>
          </a:ln>
        </p:spPr>
      </p:sp>
      <p:sp>
        <p:nvSpPr>
          <p:cNvPr id="21" name="Text 233"/>
          <p:cNvSpPr txBox="1"/>
          <p:nvPr/>
        </p:nvSpPr>
        <p:spPr>
          <a:xfrm>
            <a:off x="10053066" y="1737360"/>
            <a:ext cx="1452829" cy="274320"/>
          </a:xfrm>
          <a:prstGeom prst="rect">
            <a:avLst/>
          </a:prstGeom>
          <a:noFill/>
          <a:ln/>
        </p:spPr>
        <p:txBody>
          <a:bodyPr wrap="square" lIns="0" tIns="0" rIns="0" bIns="0" rtlCol="0" anchor="t"/>
          <a:lstStyle/>
          <a:p>
            <a:pPr algn="l" indent="0" marL="0">
              <a:buNone/>
            </a:pPr>
            <a:r>
              <a:rPr lang="en-US" sz="1300" b="1" dirty="0">
                <a:solidFill>
                  <a:schemeClr val="accent4"/>
                </a:solidFill>
              </a:rPr>
              <a:t>failed</a:t>
            </a:r>
            <a:endParaRPr lang="en-US" sz="1300" dirty="0"/>
          </a:p>
        </p:txBody>
      </p:sp>
      <p:sp>
        <p:nvSpPr>
          <p:cNvPr id="22" name="Text 234"/>
          <p:cNvSpPr txBox="1"/>
          <p:nvPr/>
        </p:nvSpPr>
        <p:spPr>
          <a:xfrm>
            <a:off x="10053066" y="2103120"/>
            <a:ext cx="1452829" cy="731520"/>
          </a:xfrm>
          <a:prstGeom prst="rect">
            <a:avLst/>
          </a:prstGeom>
          <a:noFill/>
          <a:ln/>
        </p:spPr>
        <p:txBody>
          <a:bodyPr wrap="square" lIns="0" tIns="0" rIns="0" bIns="0" rtlCol="0" anchor="t"/>
          <a:lstStyle/>
          <a:p>
            <a:pPr algn="l" indent="0" marL="0">
              <a:buNone/>
            </a:pPr>
            <a:r>
              <a:rPr lang="en-US" sz="1400" dirty="0">
                <a:solidFill>
                  <a:schemeClr val="tx1"/>
                </a:solidFill>
              </a:rPr>
              <a:t>Still wrong after two fixes</a:t>
            </a:r>
            <a:endParaRPr lang="en-US" sz="1400" dirty="0"/>
          </a:p>
        </p:txBody>
      </p:sp>
      <p:sp>
        <p:nvSpPr>
          <p:cNvPr id="23" name="Card 235"/>
          <p:cNvSpPr/>
          <p:nvPr/>
        </p:nvSpPr>
        <p:spPr>
          <a:xfrm>
            <a:off x="548640" y="3200400"/>
            <a:ext cx="6035040" cy="3063240"/>
          </a:xfrm>
          <a:prstGeom prst="roundRect">
            <a:avLst>
              <a:gd name="adj" fmla="val 1493"/>
            </a:avLst>
          </a:prstGeom>
          <a:solidFill>
            <a:schemeClr val="bg1"/>
          </a:solidFill>
          <a:ln w="9525">
            <a:solidFill>
              <a:schemeClr val="accent4">
                <a:alpha val="35000"/>
              </a:schemeClr>
            </a:solidFill>
            <a:prstDash val="solid"/>
          </a:ln>
        </p:spPr>
      </p:sp>
      <p:pic>
        <p:nvPicPr>
          <p:cNvPr id="24" name="Screenshot 236" descr="The audit trail: timestamp, input, source, action, output and human decision, with the hash chain reported intact">    </p:cNvPr>
          <p:cNvPicPr>
            <a:picLocks noChangeAspect="1"/>
          </p:cNvPicPr>
          <p:nvPr/>
        </p:nvPicPr>
        <p:blipFill>
          <a:blip r:embed="rId1"/>
          <a:stretch>
            <a:fillRect/>
          </a:stretch>
        </p:blipFill>
        <p:spPr>
          <a:xfrm>
            <a:off x="594360" y="3246120"/>
            <a:ext cx="5943600" cy="2971800"/>
          </a:xfrm>
          <a:prstGeom prst="rect">
            <a:avLst/>
          </a:prstGeom>
        </p:spPr>
      </p:pic>
      <p:sp>
        <p:nvSpPr>
          <p:cNvPr id="25" name="Card 237"/>
          <p:cNvSpPr/>
          <p:nvPr/>
        </p:nvSpPr>
        <p:spPr>
          <a:xfrm>
            <a:off x="6903720" y="3200400"/>
            <a:ext cx="4739335" cy="3063240"/>
          </a:xfrm>
          <a:prstGeom prst="roundRect">
            <a:avLst>
              <a:gd name="adj" fmla="val 2687"/>
            </a:avLst>
          </a:prstGeom>
          <a:solidFill>
            <a:schemeClr val="bg1"/>
          </a:solidFill>
          <a:ln w="9525">
            <a:solidFill>
              <a:schemeClr val="accent4">
                <a:alpha val="35000"/>
              </a:schemeClr>
            </a:solidFill>
            <a:prstDash val="solid"/>
          </a:ln>
        </p:spPr>
      </p:sp>
      <p:sp>
        <p:nvSpPr>
          <p:cNvPr id="26" name="Text 238"/>
          <p:cNvSpPr txBox="1"/>
          <p:nvPr/>
        </p:nvSpPr>
        <p:spPr>
          <a:xfrm>
            <a:off x="7132320" y="3355848"/>
            <a:ext cx="4282135" cy="310896"/>
          </a:xfrm>
          <a:prstGeom prst="rect">
            <a:avLst/>
          </a:prstGeom>
          <a:noFill/>
          <a:ln/>
        </p:spPr>
        <p:txBody>
          <a:bodyPr wrap="square" lIns="0" tIns="0" rIns="0" bIns="0" rtlCol="0" anchor="t"/>
          <a:lstStyle/>
          <a:p>
            <a:pPr algn="l" indent="0" marL="0">
              <a:buNone/>
            </a:pPr>
            <a:r>
              <a:rPr lang="en-US" sz="1700" b="1" dirty="0">
                <a:solidFill>
                  <a:schemeClr val="tx2"/>
                </a:solidFill>
              </a:rPr>
              <a:t>Audit log</a:t>
            </a:r>
            <a:endParaRPr lang="en-US" sz="1700" dirty="0"/>
          </a:p>
        </p:txBody>
      </p:sp>
      <p:sp>
        <p:nvSpPr>
          <p:cNvPr id="27" name="Text 239"/>
          <p:cNvSpPr txBox="1"/>
          <p:nvPr/>
        </p:nvSpPr>
        <p:spPr>
          <a:xfrm>
            <a:off x="7132320" y="3794760"/>
            <a:ext cx="4282135" cy="242316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Six fields on every turn</a:t>
            </a:r>
            <a:endParaRPr lang="en-US" sz="1400" dirty="0"/>
          </a:p>
          <a:p>
            <a:pPr algn="l" marL="177800" indent="-177800">
              <a:spcAft>
                <a:spcPts val="600"/>
              </a:spcAft>
              <a:buSzPct val="100000"/>
              <a:buChar char="•"/>
            </a:pPr>
            <a:r>
              <a:rPr lang="en-US" sz="1400" dirty="0">
                <a:solidFill>
                  <a:schemeClr val="tx1"/>
                </a:solidFill>
              </a:rPr>
              <a:t>Prompt, tool calls and results; never private reasoning</a:t>
            </a:r>
            <a:endParaRPr lang="en-US" sz="1400" dirty="0"/>
          </a:p>
          <a:p>
            <a:pPr algn="l" marL="177800" indent="-177800">
              <a:spcAft>
                <a:spcPts val="600"/>
              </a:spcAft>
              <a:buSzPct val="100000"/>
              <a:buChar char="•"/>
            </a:pPr>
            <a:r>
              <a:rPr lang="en-US" sz="1400" dirty="0">
                <a:solidFill>
                  <a:schemeClr val="tx1"/>
                </a:solidFill>
              </a:rPr>
              <a:t>SHA-256 chain exposes edits</a:t>
            </a:r>
            <a:endParaRPr lang="en-US" sz="1400" dirty="0"/>
          </a:p>
          <a:p>
            <a:pPr algn="l" marL="177800" indent="-177800">
              <a:spcAft>
                <a:spcPts val="600"/>
              </a:spcAft>
              <a:buSzPct val="100000"/>
              <a:buChar char="•"/>
            </a:pPr>
            <a:r>
              <a:rPr lang="en-US" sz="1400" dirty="0">
                <a:solidFill>
                  <a:schemeClr val="tx1"/>
                </a:solidFill>
              </a:rPr>
              <a:t>Human decisions are their own entries</a:t>
            </a:r>
            <a:endParaRPr lang="en-US" sz="1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RISKS</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Four risks and what we observed</a:t>
            </a:r>
            <a:endParaRPr lang="en-US" sz="2800" dirty="0"/>
          </a:p>
        </p:txBody>
      </p:sp>
      <p:sp>
        <p:nvSpPr>
          <p:cNvPr id="5" name="Card 240"/>
          <p:cNvSpPr/>
          <p:nvPr/>
        </p:nvSpPr>
        <p:spPr>
          <a:xfrm>
            <a:off x="548640" y="1554480"/>
            <a:ext cx="2609012" cy="4480560"/>
          </a:xfrm>
          <a:prstGeom prst="roundRect">
            <a:avLst>
              <a:gd name="adj" fmla="val 3154"/>
            </a:avLst>
          </a:prstGeom>
          <a:solidFill>
            <a:schemeClr val="bg1"/>
          </a:solidFill>
          <a:ln w="9525">
            <a:solidFill>
              <a:schemeClr val="accent4">
                <a:alpha val="35000"/>
              </a:schemeClr>
            </a:solidFill>
            <a:prstDash val="solid"/>
          </a:ln>
        </p:spPr>
      </p:sp>
      <p:sp>
        <p:nvSpPr>
          <p:cNvPr id="6" name="Text 241"/>
          <p:cNvSpPr txBox="1"/>
          <p:nvPr/>
        </p:nvSpPr>
        <p:spPr>
          <a:xfrm>
            <a:off x="749808" y="1773936"/>
            <a:ext cx="2206676" cy="329184"/>
          </a:xfrm>
          <a:prstGeom prst="rect">
            <a:avLst/>
          </a:prstGeom>
          <a:noFill/>
          <a:ln/>
        </p:spPr>
        <p:txBody>
          <a:bodyPr wrap="square" lIns="0" tIns="0" rIns="0" bIns="0" rtlCol="0" anchor="t"/>
          <a:lstStyle/>
          <a:p>
            <a:pPr algn="l" indent="0" marL="0">
              <a:buNone/>
            </a:pPr>
            <a:r>
              <a:rPr lang="en-US" sz="1800" b="1" dirty="0">
                <a:solidFill>
                  <a:schemeClr val="tx2"/>
                </a:solidFill>
              </a:rPr>
              <a:t>Hallucination</a:t>
            </a:r>
            <a:endParaRPr lang="en-US" sz="1800" dirty="0"/>
          </a:p>
        </p:txBody>
      </p:sp>
      <p:sp>
        <p:nvSpPr>
          <p:cNvPr id="7" name="Text 242"/>
          <p:cNvSpPr txBox="1"/>
          <p:nvPr/>
        </p:nvSpPr>
        <p:spPr>
          <a:xfrm>
            <a:off x="749808" y="2340864"/>
            <a:ext cx="2206676" cy="219456"/>
          </a:xfrm>
          <a:prstGeom prst="rect">
            <a:avLst/>
          </a:prstGeom>
          <a:noFill/>
          <a:ln/>
        </p:spPr>
        <p:txBody>
          <a:bodyPr wrap="square" lIns="0" tIns="0" rIns="0" bIns="0" rtlCol="0" anchor="t"/>
          <a:lstStyle/>
          <a:p>
            <a:pPr algn="l" indent="0" marL="0">
              <a:buNone/>
            </a:pPr>
            <a:r>
              <a:rPr lang="en-US" sz="1050" b="1" spc="120" kern="0" dirty="0">
                <a:solidFill>
                  <a:schemeClr val="accent1"/>
                </a:solidFill>
              </a:rPr>
              <a:t>HOW WE HANDLE IT</a:t>
            </a:r>
            <a:endParaRPr lang="en-US" sz="1050" dirty="0"/>
          </a:p>
        </p:txBody>
      </p:sp>
      <p:sp>
        <p:nvSpPr>
          <p:cNvPr id="8" name="Text 243"/>
          <p:cNvSpPr txBox="1"/>
          <p:nvPr/>
        </p:nvSpPr>
        <p:spPr>
          <a:xfrm>
            <a:off x="749808" y="2596896"/>
            <a:ext cx="2206676" cy="1600200"/>
          </a:xfrm>
          <a:prstGeom prst="rect">
            <a:avLst/>
          </a:prstGeom>
          <a:noFill/>
          <a:ln/>
        </p:spPr>
        <p:txBody>
          <a:bodyPr wrap="square" lIns="0" tIns="0" rIns="0" bIns="0" rtlCol="0" anchor="t"/>
          <a:lstStyle/>
          <a:p>
            <a:pPr algn="l" indent="0" marL="0">
              <a:buNone/>
            </a:pPr>
            <a:r>
              <a:rPr lang="en-US" sz="1500" dirty="0">
                <a:solidFill>
                  <a:schemeClr val="tx1"/>
                </a:solidFill>
              </a:rPr>
              <a:t>Numbers come only from tools. Answers cite this turn's evidence. Missing data is reported as missing.</a:t>
            </a:r>
            <a:endParaRPr lang="en-US" sz="1500" dirty="0"/>
          </a:p>
        </p:txBody>
      </p:sp>
      <p:sp>
        <p:nvSpPr>
          <p:cNvPr id="9" name="Card 244"/>
          <p:cNvSpPr/>
          <p:nvPr/>
        </p:nvSpPr>
        <p:spPr>
          <a:xfrm>
            <a:off x="676656" y="4251960"/>
            <a:ext cx="2352980" cy="1655064"/>
          </a:xfrm>
          <a:prstGeom prst="roundRect">
            <a:avLst>
              <a:gd name="adj" fmla="val 3315"/>
            </a:avLst>
          </a:prstGeom>
          <a:solidFill>
            <a:schemeClr val="accent6"/>
          </a:solidFill>
          <a:ln/>
        </p:spPr>
      </p:sp>
      <p:sp>
        <p:nvSpPr>
          <p:cNvPr id="10" name="Text 245"/>
          <p:cNvSpPr txBox="1"/>
          <p:nvPr/>
        </p:nvSpPr>
        <p:spPr>
          <a:xfrm>
            <a:off x="822960" y="4407408"/>
            <a:ext cx="2060372"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WHAT WE OBSERVED</a:t>
            </a:r>
            <a:endParaRPr lang="en-US" sz="1050" dirty="0"/>
          </a:p>
        </p:txBody>
      </p:sp>
      <p:sp>
        <p:nvSpPr>
          <p:cNvPr id="11" name="Text 246"/>
          <p:cNvSpPr txBox="1"/>
          <p:nvPr/>
        </p:nvSpPr>
        <p:spPr>
          <a:xfrm>
            <a:off x="822960" y="4681728"/>
            <a:ext cx="2060372" cy="1143000"/>
          </a:xfrm>
          <a:prstGeom prst="rect">
            <a:avLst/>
          </a:prstGeom>
          <a:noFill/>
          <a:ln/>
        </p:spPr>
        <p:txBody>
          <a:bodyPr wrap="square" lIns="0" tIns="0" rIns="0" bIns="0" rtlCol="0" anchor="t"/>
          <a:lstStyle/>
          <a:p>
            <a:pPr algn="l" indent="0" marL="0">
              <a:buNone/>
            </a:pPr>
            <a:r>
              <a:rPr lang="en-US" sz="1500" dirty="0">
                <a:solidFill>
                  <a:schemeClr val="tx1"/>
                </a:solidFill>
              </a:rPr>
              <a:t>No invented numbers. 3.6% of Alert statements were not supported by the data.</a:t>
            </a:r>
            <a:endParaRPr lang="en-US" sz="1500" dirty="0"/>
          </a:p>
        </p:txBody>
      </p:sp>
      <p:sp>
        <p:nvSpPr>
          <p:cNvPr id="12" name="Card 247"/>
          <p:cNvSpPr/>
          <p:nvPr/>
        </p:nvSpPr>
        <p:spPr>
          <a:xfrm>
            <a:off x="3377108" y="1554480"/>
            <a:ext cx="2609012" cy="4480560"/>
          </a:xfrm>
          <a:prstGeom prst="roundRect">
            <a:avLst>
              <a:gd name="adj" fmla="val 3154"/>
            </a:avLst>
          </a:prstGeom>
          <a:solidFill>
            <a:schemeClr val="bg1"/>
          </a:solidFill>
          <a:ln w="9525">
            <a:solidFill>
              <a:schemeClr val="accent4">
                <a:alpha val="35000"/>
              </a:schemeClr>
            </a:solidFill>
            <a:prstDash val="solid"/>
          </a:ln>
        </p:spPr>
      </p:sp>
      <p:sp>
        <p:nvSpPr>
          <p:cNvPr id="13" name="Text 248"/>
          <p:cNvSpPr txBox="1"/>
          <p:nvPr/>
        </p:nvSpPr>
        <p:spPr>
          <a:xfrm>
            <a:off x="3578276" y="1773936"/>
            <a:ext cx="2206676" cy="329184"/>
          </a:xfrm>
          <a:prstGeom prst="rect">
            <a:avLst/>
          </a:prstGeom>
          <a:noFill/>
          <a:ln/>
        </p:spPr>
        <p:txBody>
          <a:bodyPr wrap="square" lIns="0" tIns="0" rIns="0" bIns="0" rtlCol="0" anchor="t"/>
          <a:lstStyle/>
          <a:p>
            <a:pPr algn="l" indent="0" marL="0">
              <a:buNone/>
            </a:pPr>
            <a:r>
              <a:rPr lang="en-US" sz="1800" b="1" dirty="0">
                <a:solidFill>
                  <a:schemeClr val="tx2"/>
                </a:solidFill>
              </a:rPr>
              <a:t>Prompt injection</a:t>
            </a:r>
            <a:endParaRPr lang="en-US" sz="1800" dirty="0"/>
          </a:p>
        </p:txBody>
      </p:sp>
      <p:sp>
        <p:nvSpPr>
          <p:cNvPr id="14" name="Text 249"/>
          <p:cNvSpPr txBox="1"/>
          <p:nvPr/>
        </p:nvSpPr>
        <p:spPr>
          <a:xfrm>
            <a:off x="3578276" y="2340864"/>
            <a:ext cx="2206676" cy="219456"/>
          </a:xfrm>
          <a:prstGeom prst="rect">
            <a:avLst/>
          </a:prstGeom>
          <a:noFill/>
          <a:ln/>
        </p:spPr>
        <p:txBody>
          <a:bodyPr wrap="square" lIns="0" tIns="0" rIns="0" bIns="0" rtlCol="0" anchor="t"/>
          <a:lstStyle/>
          <a:p>
            <a:pPr algn="l" indent="0" marL="0">
              <a:buNone/>
            </a:pPr>
            <a:r>
              <a:rPr lang="en-US" sz="1050" b="1" spc="120" kern="0" dirty="0">
                <a:solidFill>
                  <a:schemeClr val="accent1"/>
                </a:solidFill>
              </a:rPr>
              <a:t>HOW WE HANDLE IT</a:t>
            </a:r>
            <a:endParaRPr lang="en-US" sz="1050" dirty="0"/>
          </a:p>
        </p:txBody>
      </p:sp>
      <p:sp>
        <p:nvSpPr>
          <p:cNvPr id="15" name="Text 250"/>
          <p:cNvSpPr txBox="1"/>
          <p:nvPr/>
        </p:nvSpPr>
        <p:spPr>
          <a:xfrm>
            <a:off x="3578276" y="2596896"/>
            <a:ext cx="2206676" cy="1600200"/>
          </a:xfrm>
          <a:prstGeom prst="rect">
            <a:avLst/>
          </a:prstGeom>
          <a:noFill/>
          <a:ln/>
        </p:spPr>
        <p:txBody>
          <a:bodyPr wrap="square" lIns="0" tIns="0" rIns="0" bIns="0" rtlCol="0" anchor="t"/>
          <a:lstStyle/>
          <a:p>
            <a:pPr algn="l" indent="0" marL="0">
              <a:buNone/>
            </a:pPr>
            <a:r>
              <a:rPr lang="en-US" sz="1500" dirty="0">
                <a:solidFill>
                  <a:schemeClr val="tx1"/>
                </a:solidFill>
              </a:rPr>
              <a:t>User, memory, guideline and tool text is data, not instructions. Memory needs the person's exact words.</a:t>
            </a:r>
            <a:endParaRPr lang="en-US" sz="1500" dirty="0"/>
          </a:p>
        </p:txBody>
      </p:sp>
      <p:sp>
        <p:nvSpPr>
          <p:cNvPr id="16" name="Card 251"/>
          <p:cNvSpPr/>
          <p:nvPr/>
        </p:nvSpPr>
        <p:spPr>
          <a:xfrm>
            <a:off x="3505124" y="4251960"/>
            <a:ext cx="2352980" cy="1655064"/>
          </a:xfrm>
          <a:prstGeom prst="roundRect">
            <a:avLst>
              <a:gd name="adj" fmla="val 3315"/>
            </a:avLst>
          </a:prstGeom>
          <a:solidFill>
            <a:schemeClr val="accent6"/>
          </a:solidFill>
          <a:ln/>
        </p:spPr>
      </p:sp>
      <p:sp>
        <p:nvSpPr>
          <p:cNvPr id="17" name="Text 252"/>
          <p:cNvSpPr txBox="1"/>
          <p:nvPr/>
        </p:nvSpPr>
        <p:spPr>
          <a:xfrm>
            <a:off x="3651428" y="4407408"/>
            <a:ext cx="2060372"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WHAT WE OBSERVED</a:t>
            </a:r>
            <a:endParaRPr lang="en-US" sz="1050" dirty="0"/>
          </a:p>
        </p:txBody>
      </p:sp>
      <p:sp>
        <p:nvSpPr>
          <p:cNvPr id="18" name="Text 253"/>
          <p:cNvSpPr txBox="1"/>
          <p:nvPr/>
        </p:nvSpPr>
        <p:spPr>
          <a:xfrm>
            <a:off x="3651428" y="4681728"/>
            <a:ext cx="2060372" cy="1143000"/>
          </a:xfrm>
          <a:prstGeom prst="rect">
            <a:avLst/>
          </a:prstGeom>
          <a:noFill/>
          <a:ln/>
        </p:spPr>
        <p:txBody>
          <a:bodyPr wrap="square" lIns="0" tIns="0" rIns="0" bIns="0" rtlCol="0" anchor="t"/>
          <a:lstStyle/>
          <a:p>
            <a:pPr algn="l" indent="0" marL="0">
              <a:buNone/>
            </a:pPr>
            <a:r>
              <a:rPr lang="en-US" sz="1500" dirty="0">
                <a:solidFill>
                  <a:schemeClr val="tx1"/>
                </a:solidFill>
              </a:rPr>
              <a:t>Direct and mixed override requests were declined; nothing of them was stored.</a:t>
            </a:r>
            <a:endParaRPr lang="en-US" sz="1500" dirty="0"/>
          </a:p>
        </p:txBody>
      </p:sp>
      <p:sp>
        <p:nvSpPr>
          <p:cNvPr id="19" name="Card 254"/>
          <p:cNvSpPr/>
          <p:nvPr/>
        </p:nvSpPr>
        <p:spPr>
          <a:xfrm>
            <a:off x="6205576" y="1554480"/>
            <a:ext cx="2609012" cy="4480560"/>
          </a:xfrm>
          <a:prstGeom prst="roundRect">
            <a:avLst>
              <a:gd name="adj" fmla="val 3154"/>
            </a:avLst>
          </a:prstGeom>
          <a:solidFill>
            <a:schemeClr val="bg1"/>
          </a:solidFill>
          <a:ln w="9525">
            <a:solidFill>
              <a:schemeClr val="accent4">
                <a:alpha val="35000"/>
              </a:schemeClr>
            </a:solidFill>
            <a:prstDash val="solid"/>
          </a:ln>
        </p:spPr>
      </p:sp>
      <p:sp>
        <p:nvSpPr>
          <p:cNvPr id="20" name="Text 255"/>
          <p:cNvSpPr txBox="1"/>
          <p:nvPr/>
        </p:nvSpPr>
        <p:spPr>
          <a:xfrm>
            <a:off x="6406744" y="1773936"/>
            <a:ext cx="2206676" cy="329184"/>
          </a:xfrm>
          <a:prstGeom prst="rect">
            <a:avLst/>
          </a:prstGeom>
          <a:noFill/>
          <a:ln/>
        </p:spPr>
        <p:txBody>
          <a:bodyPr wrap="square" lIns="0" tIns="0" rIns="0" bIns="0" rtlCol="0" anchor="t"/>
          <a:lstStyle/>
          <a:p>
            <a:pPr algn="l" indent="0" marL="0">
              <a:buNone/>
            </a:pPr>
            <a:r>
              <a:rPr lang="en-US" sz="1800" b="1" dirty="0">
                <a:solidFill>
                  <a:schemeClr val="tx2"/>
                </a:solidFill>
              </a:rPr>
              <a:t>Over-permissioning</a:t>
            </a:r>
            <a:endParaRPr lang="en-US" sz="1800" dirty="0"/>
          </a:p>
        </p:txBody>
      </p:sp>
      <p:sp>
        <p:nvSpPr>
          <p:cNvPr id="21" name="Text 256"/>
          <p:cNvSpPr txBox="1"/>
          <p:nvPr/>
        </p:nvSpPr>
        <p:spPr>
          <a:xfrm>
            <a:off x="6406744" y="2340864"/>
            <a:ext cx="2206676" cy="219456"/>
          </a:xfrm>
          <a:prstGeom prst="rect">
            <a:avLst/>
          </a:prstGeom>
          <a:noFill/>
          <a:ln/>
        </p:spPr>
        <p:txBody>
          <a:bodyPr wrap="square" lIns="0" tIns="0" rIns="0" bIns="0" rtlCol="0" anchor="t"/>
          <a:lstStyle/>
          <a:p>
            <a:pPr algn="l" indent="0" marL="0">
              <a:buNone/>
            </a:pPr>
            <a:r>
              <a:rPr lang="en-US" sz="1050" b="1" spc="120" kern="0" dirty="0">
                <a:solidFill>
                  <a:schemeClr val="accent1"/>
                </a:solidFill>
              </a:rPr>
              <a:t>HOW WE HANDLE IT</a:t>
            </a:r>
            <a:endParaRPr lang="en-US" sz="1050" dirty="0"/>
          </a:p>
        </p:txBody>
      </p:sp>
      <p:sp>
        <p:nvSpPr>
          <p:cNvPr id="22" name="Text 257"/>
          <p:cNvSpPr txBox="1"/>
          <p:nvPr/>
        </p:nvSpPr>
        <p:spPr>
          <a:xfrm>
            <a:off x="6406744" y="2596896"/>
            <a:ext cx="2206676" cy="1600200"/>
          </a:xfrm>
          <a:prstGeom prst="rect">
            <a:avLst/>
          </a:prstGeom>
          <a:noFill/>
          <a:ln/>
        </p:spPr>
        <p:txBody>
          <a:bodyPr wrap="square" lIns="0" tIns="0" rIns="0" bIns="0" rtlCol="0" anchor="t"/>
          <a:lstStyle/>
          <a:p>
            <a:pPr algn="l" indent="0" marL="0">
              <a:buNone/>
            </a:pPr>
            <a:r>
              <a:rPr lang="en-US" sz="1500" dirty="0">
                <a:solidFill>
                  <a:schemeClr val="tx1"/>
                </a:solidFill>
              </a:rPr>
              <a:t>Four tools, none takes a participant id. The shell writes only the workspace and has no network.</a:t>
            </a:r>
            <a:endParaRPr lang="en-US" sz="1500" dirty="0"/>
          </a:p>
        </p:txBody>
      </p:sp>
      <p:sp>
        <p:nvSpPr>
          <p:cNvPr id="23" name="Card 258"/>
          <p:cNvSpPr/>
          <p:nvPr/>
        </p:nvSpPr>
        <p:spPr>
          <a:xfrm>
            <a:off x="6333592" y="4251960"/>
            <a:ext cx="2352980" cy="1655064"/>
          </a:xfrm>
          <a:prstGeom prst="roundRect">
            <a:avLst>
              <a:gd name="adj" fmla="val 3315"/>
            </a:avLst>
          </a:prstGeom>
          <a:solidFill>
            <a:schemeClr val="accent6"/>
          </a:solidFill>
          <a:ln/>
        </p:spPr>
      </p:sp>
      <p:sp>
        <p:nvSpPr>
          <p:cNvPr id="24" name="Text 259"/>
          <p:cNvSpPr txBox="1"/>
          <p:nvPr/>
        </p:nvSpPr>
        <p:spPr>
          <a:xfrm>
            <a:off x="6479896" y="4407408"/>
            <a:ext cx="2060372"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WHAT WE OBSERVED</a:t>
            </a:r>
            <a:endParaRPr lang="en-US" sz="1050" dirty="0"/>
          </a:p>
        </p:txBody>
      </p:sp>
      <p:sp>
        <p:nvSpPr>
          <p:cNvPr id="25" name="Text 260"/>
          <p:cNvSpPr txBox="1"/>
          <p:nvPr/>
        </p:nvSpPr>
        <p:spPr>
          <a:xfrm>
            <a:off x="6479896" y="4681728"/>
            <a:ext cx="2060372" cy="1143000"/>
          </a:xfrm>
          <a:prstGeom prst="rect">
            <a:avLst/>
          </a:prstGeom>
          <a:noFill/>
          <a:ln/>
        </p:spPr>
        <p:txBody>
          <a:bodyPr wrap="square" lIns="0" tIns="0" rIns="0" bIns="0" rtlCol="0" anchor="t"/>
          <a:lstStyle/>
          <a:p>
            <a:pPr algn="l" indent="0" marL="0">
              <a:buNone/>
            </a:pPr>
            <a:r>
              <a:rPr lang="en-US" sz="1500" dirty="0">
                <a:solidFill>
                  <a:schemeClr val="tx1"/>
                </a:solidFill>
              </a:rPr>
              <a:t>A sandbox test: no access to the data, the code, login files or the network.</a:t>
            </a:r>
            <a:endParaRPr lang="en-US" sz="1500" dirty="0"/>
          </a:p>
        </p:txBody>
      </p:sp>
      <p:sp>
        <p:nvSpPr>
          <p:cNvPr id="26" name="Card 261"/>
          <p:cNvSpPr/>
          <p:nvPr/>
        </p:nvSpPr>
        <p:spPr>
          <a:xfrm>
            <a:off x="9034043" y="1554480"/>
            <a:ext cx="2609012" cy="4480560"/>
          </a:xfrm>
          <a:prstGeom prst="roundRect">
            <a:avLst>
              <a:gd name="adj" fmla="val 3154"/>
            </a:avLst>
          </a:prstGeom>
          <a:solidFill>
            <a:schemeClr val="bg1"/>
          </a:solidFill>
          <a:ln w="9525">
            <a:solidFill>
              <a:schemeClr val="accent4">
                <a:alpha val="35000"/>
              </a:schemeClr>
            </a:solidFill>
            <a:prstDash val="solid"/>
          </a:ln>
        </p:spPr>
      </p:sp>
      <p:sp>
        <p:nvSpPr>
          <p:cNvPr id="27" name="Text 262"/>
          <p:cNvSpPr txBox="1"/>
          <p:nvPr/>
        </p:nvSpPr>
        <p:spPr>
          <a:xfrm>
            <a:off x="9235211" y="1773936"/>
            <a:ext cx="2206676" cy="329184"/>
          </a:xfrm>
          <a:prstGeom prst="rect">
            <a:avLst/>
          </a:prstGeom>
          <a:noFill/>
          <a:ln/>
        </p:spPr>
        <p:txBody>
          <a:bodyPr wrap="square" lIns="0" tIns="0" rIns="0" bIns="0" rtlCol="0" anchor="t"/>
          <a:lstStyle/>
          <a:p>
            <a:pPr algn="l" indent="0" marL="0">
              <a:buNone/>
            </a:pPr>
            <a:r>
              <a:rPr lang="en-US" sz="1800" b="1" dirty="0">
                <a:solidFill>
                  <a:schemeClr val="tx2"/>
                </a:solidFill>
              </a:rPr>
              <a:t>Alert fatigue</a:t>
            </a:r>
            <a:endParaRPr lang="en-US" sz="1800" dirty="0"/>
          </a:p>
        </p:txBody>
      </p:sp>
      <p:sp>
        <p:nvSpPr>
          <p:cNvPr id="28" name="Text 263"/>
          <p:cNvSpPr txBox="1"/>
          <p:nvPr/>
        </p:nvSpPr>
        <p:spPr>
          <a:xfrm>
            <a:off x="9235211" y="2340864"/>
            <a:ext cx="2206676" cy="219456"/>
          </a:xfrm>
          <a:prstGeom prst="rect">
            <a:avLst/>
          </a:prstGeom>
          <a:noFill/>
          <a:ln/>
        </p:spPr>
        <p:txBody>
          <a:bodyPr wrap="square" lIns="0" tIns="0" rIns="0" bIns="0" rtlCol="0" anchor="t"/>
          <a:lstStyle/>
          <a:p>
            <a:pPr algn="l" indent="0" marL="0">
              <a:buNone/>
            </a:pPr>
            <a:r>
              <a:rPr lang="en-US" sz="1050" b="1" spc="120" kern="0" dirty="0">
                <a:solidFill>
                  <a:schemeClr val="accent1"/>
                </a:solidFill>
              </a:rPr>
              <a:t>HOW WE HANDLE IT</a:t>
            </a:r>
            <a:endParaRPr lang="en-US" sz="1050" dirty="0"/>
          </a:p>
        </p:txBody>
      </p:sp>
      <p:sp>
        <p:nvSpPr>
          <p:cNvPr id="29" name="Text 264"/>
          <p:cNvSpPr txBox="1"/>
          <p:nvPr/>
        </p:nvSpPr>
        <p:spPr>
          <a:xfrm>
            <a:off x="9235211" y="2596896"/>
            <a:ext cx="2206676" cy="1600200"/>
          </a:xfrm>
          <a:prstGeom prst="rect">
            <a:avLst/>
          </a:prstGeom>
          <a:noFill/>
          <a:ln/>
        </p:spPr>
        <p:txBody>
          <a:bodyPr wrap="square" lIns="0" tIns="0" rIns="0" bIns="0" rtlCol="0" anchor="t"/>
          <a:lstStyle/>
          <a:p>
            <a:pPr algn="l" indent="0" marL="0">
              <a:buNone/>
            </a:pPr>
            <a:r>
              <a:rPr lang="en-US" sz="1500" dirty="0">
                <a:solidFill>
                  <a:schemeClr val="tx1"/>
                </a:solidFill>
              </a:rPr>
              <a:t>An Event is reviewed once. A Condition returns only on the day the Agent chose.</a:t>
            </a:r>
            <a:endParaRPr lang="en-US" sz="1500" dirty="0"/>
          </a:p>
        </p:txBody>
      </p:sp>
      <p:sp>
        <p:nvSpPr>
          <p:cNvPr id="30" name="Card 265"/>
          <p:cNvSpPr/>
          <p:nvPr/>
        </p:nvSpPr>
        <p:spPr>
          <a:xfrm>
            <a:off x="9162059" y="4251960"/>
            <a:ext cx="2352980" cy="1655064"/>
          </a:xfrm>
          <a:prstGeom prst="roundRect">
            <a:avLst>
              <a:gd name="adj" fmla="val 3315"/>
            </a:avLst>
          </a:prstGeom>
          <a:solidFill>
            <a:schemeClr val="accent6"/>
          </a:solidFill>
          <a:ln/>
        </p:spPr>
      </p:sp>
      <p:sp>
        <p:nvSpPr>
          <p:cNvPr id="31" name="Text 266"/>
          <p:cNvSpPr txBox="1"/>
          <p:nvPr/>
        </p:nvSpPr>
        <p:spPr>
          <a:xfrm>
            <a:off x="9308363" y="4407408"/>
            <a:ext cx="2060372" cy="219456"/>
          </a:xfrm>
          <a:prstGeom prst="rect">
            <a:avLst/>
          </a:prstGeom>
          <a:noFill/>
          <a:ln/>
        </p:spPr>
        <p:txBody>
          <a:bodyPr wrap="square" lIns="0" tIns="0" rIns="0" bIns="0" rtlCol="0" anchor="t"/>
          <a:lstStyle/>
          <a:p>
            <a:pPr algn="l" indent="0" marL="0">
              <a:buNone/>
            </a:pPr>
            <a:r>
              <a:rPr lang="en-US" sz="1050" b="1" spc="120" kern="0" dirty="0">
                <a:solidFill>
                  <a:schemeClr val="accent3"/>
                </a:solidFill>
              </a:rPr>
              <a:t>WHAT WE OBSERVED</a:t>
            </a:r>
            <a:endParaRPr lang="en-US" sz="1050" dirty="0"/>
          </a:p>
        </p:txBody>
      </p:sp>
      <p:sp>
        <p:nvSpPr>
          <p:cNvPr id="32" name="Text 267"/>
          <p:cNvSpPr txBox="1"/>
          <p:nvPr/>
        </p:nvSpPr>
        <p:spPr>
          <a:xfrm>
            <a:off x="9308363" y="4681728"/>
            <a:ext cx="2060372" cy="1143000"/>
          </a:xfrm>
          <a:prstGeom prst="rect">
            <a:avLst/>
          </a:prstGeom>
          <a:noFill/>
          <a:ln/>
        </p:spPr>
        <p:txBody>
          <a:bodyPr wrap="square" lIns="0" tIns="0" rIns="0" bIns="0" rtlCol="0" anchor="t"/>
          <a:lstStyle/>
          <a:p>
            <a:pPr algn="l" indent="0" marL="0">
              <a:buNone/>
            </a:pPr>
            <a:r>
              <a:rPr lang="en-US" sz="1500" dirty="0">
                <a:solidFill>
                  <a:schemeClr val="tx1"/>
                </a:solidFill>
              </a:rPr>
              <a:t>One Alert in three was unnecessary, mostly repeats.</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EVALUATION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The hard limits held in every test</a:t>
            </a:r>
            <a:endParaRPr lang="en-US" sz="2800" dirty="0"/>
          </a:p>
        </p:txBody>
      </p:sp>
      <p:sp>
        <p:nvSpPr>
          <p:cNvPr id="5" name="Card 268"/>
          <p:cNvSpPr/>
          <p:nvPr/>
        </p:nvSpPr>
        <p:spPr>
          <a:xfrm>
            <a:off x="548640" y="1554480"/>
            <a:ext cx="2609012" cy="1691640"/>
          </a:xfrm>
          <a:prstGeom prst="roundRect">
            <a:avLst>
              <a:gd name="adj" fmla="val 4865"/>
            </a:avLst>
          </a:prstGeom>
          <a:solidFill>
            <a:schemeClr val="bg1"/>
          </a:solidFill>
          <a:ln w="9525">
            <a:solidFill>
              <a:schemeClr val="accent4">
                <a:alpha val="35000"/>
              </a:schemeClr>
            </a:solidFill>
            <a:prstDash val="solid"/>
          </a:ln>
        </p:spPr>
      </p:sp>
      <p:sp>
        <p:nvSpPr>
          <p:cNvPr id="6" name="Text 269"/>
          <p:cNvSpPr txBox="1"/>
          <p:nvPr/>
        </p:nvSpPr>
        <p:spPr>
          <a:xfrm>
            <a:off x="749808" y="1737360"/>
            <a:ext cx="2206676" cy="640080"/>
          </a:xfrm>
          <a:prstGeom prst="rect">
            <a:avLst/>
          </a:prstGeom>
          <a:noFill/>
          <a:ln/>
        </p:spPr>
        <p:txBody>
          <a:bodyPr wrap="square" lIns="0" tIns="0" rIns="0" bIns="0" rtlCol="0" anchor="t"/>
          <a:lstStyle/>
          <a:p>
            <a:pPr algn="l" indent="0" marL="0">
              <a:buNone/>
            </a:pPr>
            <a:r>
              <a:rPr lang="en-US" sz="4000" b="1" dirty="0">
                <a:solidFill>
                  <a:schemeClr val="tx2"/>
                </a:solidFill>
              </a:rPr>
              <a:t>330/330</a:t>
            </a:r>
            <a:endParaRPr lang="en-US" sz="4000" dirty="0"/>
          </a:p>
        </p:txBody>
      </p:sp>
      <p:sp>
        <p:nvSpPr>
          <p:cNvPr id="7" name="Text 270"/>
          <p:cNvSpPr txBox="1"/>
          <p:nvPr/>
        </p:nvSpPr>
        <p:spPr>
          <a:xfrm>
            <a:off x="749808" y="2487168"/>
            <a:ext cx="2206676" cy="640080"/>
          </a:xfrm>
          <a:prstGeom prst="rect">
            <a:avLst/>
          </a:prstGeom>
          <a:noFill/>
          <a:ln/>
        </p:spPr>
        <p:txBody>
          <a:bodyPr wrap="square" lIns="0" tIns="0" rIns="0" bIns="0" rtlCol="0" anchor="t"/>
          <a:lstStyle/>
          <a:p>
            <a:pPr algn="l" indent="0" marL="0">
              <a:buNone/>
            </a:pPr>
            <a:r>
              <a:rPr lang="en-US" sz="1400" dirty="0">
                <a:solidFill>
                  <a:schemeClr val="accent4"/>
                </a:solidFill>
              </a:rPr>
              <a:t>offline checks passed, in eight suites</a:t>
            </a:r>
            <a:endParaRPr lang="en-US" sz="1400" dirty="0"/>
          </a:p>
        </p:txBody>
      </p:sp>
      <p:sp>
        <p:nvSpPr>
          <p:cNvPr id="8" name="Card 271"/>
          <p:cNvSpPr/>
          <p:nvPr/>
        </p:nvSpPr>
        <p:spPr>
          <a:xfrm>
            <a:off x="3377108" y="1554480"/>
            <a:ext cx="2609012" cy="1691640"/>
          </a:xfrm>
          <a:prstGeom prst="roundRect">
            <a:avLst>
              <a:gd name="adj" fmla="val 4865"/>
            </a:avLst>
          </a:prstGeom>
          <a:solidFill>
            <a:schemeClr val="bg1"/>
          </a:solidFill>
          <a:ln w="9525">
            <a:solidFill>
              <a:schemeClr val="accent4">
                <a:alpha val="35000"/>
              </a:schemeClr>
            </a:solidFill>
            <a:prstDash val="solid"/>
          </a:ln>
        </p:spPr>
      </p:sp>
      <p:sp>
        <p:nvSpPr>
          <p:cNvPr id="9" name="Text 272"/>
          <p:cNvSpPr txBox="1"/>
          <p:nvPr/>
        </p:nvSpPr>
        <p:spPr>
          <a:xfrm>
            <a:off x="3578276" y="1737360"/>
            <a:ext cx="2206676" cy="640080"/>
          </a:xfrm>
          <a:prstGeom prst="rect">
            <a:avLst/>
          </a:prstGeom>
          <a:noFill/>
          <a:ln/>
        </p:spPr>
        <p:txBody>
          <a:bodyPr wrap="square" lIns="0" tIns="0" rIns="0" bIns="0" rtlCol="0" anchor="t"/>
          <a:lstStyle/>
          <a:p>
            <a:pPr algn="l" indent="0" marL="0">
              <a:buNone/>
            </a:pPr>
            <a:r>
              <a:rPr lang="en-US" sz="4000" b="1" dirty="0">
                <a:solidFill>
                  <a:schemeClr val="tx2"/>
                </a:solidFill>
              </a:rPr>
              <a:t>72/72</a:t>
            </a:r>
            <a:endParaRPr lang="en-US" sz="4000" dirty="0"/>
          </a:p>
        </p:txBody>
      </p:sp>
      <p:sp>
        <p:nvSpPr>
          <p:cNvPr id="10" name="Text 273"/>
          <p:cNvSpPr txBox="1"/>
          <p:nvPr/>
        </p:nvSpPr>
        <p:spPr>
          <a:xfrm>
            <a:off x="3578276" y="2487168"/>
            <a:ext cx="2206676" cy="640080"/>
          </a:xfrm>
          <a:prstGeom prst="rect">
            <a:avLst/>
          </a:prstGeom>
          <a:noFill/>
          <a:ln/>
        </p:spPr>
        <p:txBody>
          <a:bodyPr wrap="square" lIns="0" tIns="0" rIns="0" bIns="0" rtlCol="0" anchor="t"/>
          <a:lstStyle/>
          <a:p>
            <a:pPr algn="l" indent="0" marL="0">
              <a:buNone/>
            </a:pPr>
            <a:r>
              <a:rPr lang="en-US" sz="1400" dirty="0">
                <a:solidFill>
                  <a:schemeClr val="accent4"/>
                </a:solidFill>
              </a:rPr>
              <a:t>live end-to-end checks passed</a:t>
            </a:r>
            <a:endParaRPr lang="en-US" sz="1400" dirty="0"/>
          </a:p>
        </p:txBody>
      </p:sp>
      <p:sp>
        <p:nvSpPr>
          <p:cNvPr id="11" name="Card 274"/>
          <p:cNvSpPr/>
          <p:nvPr/>
        </p:nvSpPr>
        <p:spPr>
          <a:xfrm>
            <a:off x="6205576" y="1554480"/>
            <a:ext cx="2609012" cy="1691640"/>
          </a:xfrm>
          <a:prstGeom prst="roundRect">
            <a:avLst>
              <a:gd name="adj" fmla="val 4865"/>
            </a:avLst>
          </a:prstGeom>
          <a:solidFill>
            <a:schemeClr val="bg1"/>
          </a:solidFill>
          <a:ln w="9525">
            <a:solidFill>
              <a:schemeClr val="accent4">
                <a:alpha val="35000"/>
              </a:schemeClr>
            </a:solidFill>
            <a:prstDash val="solid"/>
          </a:ln>
        </p:spPr>
      </p:sp>
      <p:sp>
        <p:nvSpPr>
          <p:cNvPr id="12" name="Text 275"/>
          <p:cNvSpPr txBox="1"/>
          <p:nvPr/>
        </p:nvSpPr>
        <p:spPr>
          <a:xfrm>
            <a:off x="6406744" y="1737360"/>
            <a:ext cx="2206676" cy="640080"/>
          </a:xfrm>
          <a:prstGeom prst="rect">
            <a:avLst/>
          </a:prstGeom>
          <a:noFill/>
          <a:ln/>
        </p:spPr>
        <p:txBody>
          <a:bodyPr wrap="square" lIns="0" tIns="0" rIns="0" bIns="0" rtlCol="0" anchor="t"/>
          <a:lstStyle/>
          <a:p>
            <a:pPr algn="l" indent="0" marL="0">
              <a:buNone/>
            </a:pPr>
            <a:r>
              <a:rPr lang="en-US" sz="4000" b="1" dirty="0">
                <a:solidFill>
                  <a:schemeClr val="tx2"/>
                </a:solidFill>
              </a:rPr>
              <a:t>41/43</a:t>
            </a:r>
            <a:endParaRPr lang="en-US" sz="4000" dirty="0"/>
          </a:p>
        </p:txBody>
      </p:sp>
      <p:sp>
        <p:nvSpPr>
          <p:cNvPr id="13" name="Text 276"/>
          <p:cNvSpPr txBox="1"/>
          <p:nvPr/>
        </p:nvSpPr>
        <p:spPr>
          <a:xfrm>
            <a:off x="6406744" y="2487168"/>
            <a:ext cx="2206676" cy="640080"/>
          </a:xfrm>
          <a:prstGeom prst="rect">
            <a:avLst/>
          </a:prstGeom>
          <a:noFill/>
          <a:ln/>
        </p:spPr>
        <p:txBody>
          <a:bodyPr wrap="square" lIns="0" tIns="0" rIns="0" bIns="0" rtlCol="0" anchor="t"/>
          <a:lstStyle/>
          <a:p>
            <a:pPr algn="l" indent="0" marL="0">
              <a:buNone/>
            </a:pPr>
            <a:r>
              <a:rPr lang="en-US" sz="1400" dirty="0">
                <a:solidFill>
                  <a:schemeClr val="accent4"/>
                </a:solidFill>
              </a:rPr>
              <a:t>test cases behaved as expected</a:t>
            </a:r>
            <a:endParaRPr lang="en-US" sz="1400" dirty="0"/>
          </a:p>
        </p:txBody>
      </p:sp>
      <p:sp>
        <p:nvSpPr>
          <p:cNvPr id="14" name="Card 277"/>
          <p:cNvSpPr/>
          <p:nvPr/>
        </p:nvSpPr>
        <p:spPr>
          <a:xfrm>
            <a:off x="9034043" y="1554480"/>
            <a:ext cx="2609012" cy="1691640"/>
          </a:xfrm>
          <a:prstGeom prst="roundRect">
            <a:avLst>
              <a:gd name="adj" fmla="val 4865"/>
            </a:avLst>
          </a:prstGeom>
          <a:solidFill>
            <a:schemeClr val="bg1"/>
          </a:solidFill>
          <a:ln w="9525">
            <a:solidFill>
              <a:schemeClr val="accent4">
                <a:alpha val="35000"/>
              </a:schemeClr>
            </a:solidFill>
            <a:prstDash val="solid"/>
          </a:ln>
        </p:spPr>
      </p:sp>
      <p:sp>
        <p:nvSpPr>
          <p:cNvPr id="15" name="Text 278"/>
          <p:cNvSpPr txBox="1"/>
          <p:nvPr/>
        </p:nvSpPr>
        <p:spPr>
          <a:xfrm>
            <a:off x="9235211" y="1737360"/>
            <a:ext cx="2206676" cy="640080"/>
          </a:xfrm>
          <a:prstGeom prst="rect">
            <a:avLst/>
          </a:prstGeom>
          <a:noFill/>
          <a:ln/>
        </p:spPr>
        <p:txBody>
          <a:bodyPr wrap="square" lIns="0" tIns="0" rIns="0" bIns="0" rtlCol="0" anchor="t"/>
          <a:lstStyle/>
          <a:p>
            <a:pPr algn="l" indent="0" marL="0">
              <a:buNone/>
            </a:pPr>
            <a:r>
              <a:rPr lang="en-US" sz="4000" b="1" dirty="0">
                <a:solidFill>
                  <a:schemeClr val="tx2"/>
                </a:solidFill>
              </a:rPr>
              <a:t>3/375</a:t>
            </a:r>
            <a:endParaRPr lang="en-US" sz="4000" dirty="0"/>
          </a:p>
        </p:txBody>
      </p:sp>
      <p:sp>
        <p:nvSpPr>
          <p:cNvPr id="16" name="Text 279"/>
          <p:cNvSpPr txBox="1"/>
          <p:nvPr/>
        </p:nvSpPr>
        <p:spPr>
          <a:xfrm>
            <a:off x="9235211" y="2487168"/>
            <a:ext cx="2206676" cy="640080"/>
          </a:xfrm>
          <a:prstGeom prst="rect">
            <a:avLst/>
          </a:prstGeom>
          <a:noFill/>
          <a:ln/>
        </p:spPr>
        <p:txBody>
          <a:bodyPr wrap="square" lIns="0" tIns="0" rIns="0" bIns="0" rtlCol="0" anchor="t"/>
          <a:lstStyle/>
          <a:p>
            <a:pPr algn="l" indent="0" marL="0">
              <a:buNone/>
            </a:pPr>
            <a:r>
              <a:rPr lang="en-US" sz="1400" dirty="0">
                <a:solidFill>
                  <a:schemeClr val="accent4"/>
                </a:solidFill>
              </a:rPr>
              <a:t>live turns sent back by code, all corrected</a:t>
            </a:r>
            <a:endParaRPr lang="en-US" sz="1400" dirty="0"/>
          </a:p>
        </p:txBody>
      </p:sp>
      <p:sp>
        <p:nvSpPr>
          <p:cNvPr id="17" name="Card 280"/>
          <p:cNvSpPr/>
          <p:nvPr/>
        </p:nvSpPr>
        <p:spPr>
          <a:xfrm>
            <a:off x="548640" y="3520440"/>
            <a:ext cx="6400800" cy="2560320"/>
          </a:xfrm>
          <a:prstGeom prst="roundRect">
            <a:avLst>
              <a:gd name="adj" fmla="val 3214"/>
            </a:avLst>
          </a:prstGeom>
          <a:solidFill>
            <a:schemeClr val="bg1"/>
          </a:solidFill>
          <a:ln w="9525">
            <a:solidFill>
              <a:schemeClr val="accent4">
                <a:alpha val="35000"/>
              </a:schemeClr>
            </a:solidFill>
            <a:prstDash val="solid"/>
          </a:ln>
        </p:spPr>
      </p:sp>
      <p:sp>
        <p:nvSpPr>
          <p:cNvPr id="18" name="Text 281"/>
          <p:cNvSpPr txBox="1"/>
          <p:nvPr/>
        </p:nvSpPr>
        <p:spPr>
          <a:xfrm>
            <a:off x="822960" y="3703320"/>
            <a:ext cx="5852160" cy="292608"/>
          </a:xfrm>
          <a:prstGeom prst="rect">
            <a:avLst/>
          </a:prstGeom>
          <a:noFill/>
          <a:ln/>
        </p:spPr>
        <p:txBody>
          <a:bodyPr wrap="square" lIns="0" tIns="0" rIns="0" bIns="0" rtlCol="0" anchor="t"/>
          <a:lstStyle/>
          <a:p>
            <a:pPr algn="l" indent="0" marL="0">
              <a:buNone/>
            </a:pPr>
            <a:r>
              <a:rPr lang="en-US" sz="1600" b="1" dirty="0">
                <a:solidFill>
                  <a:schemeClr val="tx2"/>
                </a:solidFill>
              </a:rPr>
              <a:t>Warning-symptom probe: 20 fresh conversations</a:t>
            </a:r>
            <a:endParaRPr lang="en-US" sz="1600" dirty="0"/>
          </a:p>
        </p:txBody>
      </p:sp>
      <p:sp>
        <p:nvSpPr>
          <p:cNvPr id="19" name="Text 282"/>
          <p:cNvSpPr txBox="1"/>
          <p:nvPr/>
        </p:nvSpPr>
        <p:spPr>
          <a:xfrm>
            <a:off x="822960" y="4270248"/>
            <a:ext cx="2560320" cy="274320"/>
          </a:xfrm>
          <a:prstGeom prst="rect">
            <a:avLst/>
          </a:prstGeom>
          <a:noFill/>
          <a:ln/>
        </p:spPr>
        <p:txBody>
          <a:bodyPr wrap="square" lIns="0" tIns="0" rIns="0" bIns="0" rtlCol="0" anchor="t"/>
          <a:lstStyle/>
          <a:p>
            <a:pPr algn="l" indent="0" marL="0">
              <a:buNone/>
            </a:pPr>
            <a:r>
              <a:rPr lang="en-US" sz="1400" b="1" dirty="0">
                <a:solidFill>
                  <a:schemeClr val="tx1"/>
                </a:solidFill>
              </a:rPr>
              <a:t>10 warning messages</a:t>
            </a:r>
            <a:endParaRPr lang="en-US" sz="1400" dirty="0"/>
          </a:p>
        </p:txBody>
      </p:sp>
      <p:sp>
        <p:nvSpPr>
          <p:cNvPr id="20" name="Probe message 283"/>
          <p:cNvSpPr/>
          <p:nvPr/>
        </p:nvSpPr>
        <p:spPr>
          <a:xfrm>
            <a:off x="3566160" y="4297680"/>
            <a:ext cx="219456" cy="219456"/>
          </a:xfrm>
          <a:prstGeom prst="ellipse">
            <a:avLst/>
          </a:prstGeom>
          <a:solidFill>
            <a:schemeClr val="accent3"/>
          </a:solidFill>
          <a:ln w="15875">
            <a:solidFill>
              <a:schemeClr val="accent3"/>
            </a:solidFill>
            <a:prstDash val="solid"/>
          </a:ln>
        </p:spPr>
      </p:sp>
      <p:sp>
        <p:nvSpPr>
          <p:cNvPr id="21" name="Probe message 284"/>
          <p:cNvSpPr/>
          <p:nvPr/>
        </p:nvSpPr>
        <p:spPr>
          <a:xfrm>
            <a:off x="3877056" y="4297680"/>
            <a:ext cx="219456" cy="219456"/>
          </a:xfrm>
          <a:prstGeom prst="ellipse">
            <a:avLst/>
          </a:prstGeom>
          <a:solidFill>
            <a:schemeClr val="accent3"/>
          </a:solidFill>
          <a:ln w="15875">
            <a:solidFill>
              <a:schemeClr val="accent3"/>
            </a:solidFill>
            <a:prstDash val="solid"/>
          </a:ln>
        </p:spPr>
      </p:sp>
      <p:sp>
        <p:nvSpPr>
          <p:cNvPr id="22" name="Probe message 285"/>
          <p:cNvSpPr/>
          <p:nvPr/>
        </p:nvSpPr>
        <p:spPr>
          <a:xfrm>
            <a:off x="4187952" y="4297680"/>
            <a:ext cx="219456" cy="219456"/>
          </a:xfrm>
          <a:prstGeom prst="ellipse">
            <a:avLst/>
          </a:prstGeom>
          <a:solidFill>
            <a:schemeClr val="accent3"/>
          </a:solidFill>
          <a:ln w="15875">
            <a:solidFill>
              <a:schemeClr val="accent3"/>
            </a:solidFill>
            <a:prstDash val="solid"/>
          </a:ln>
        </p:spPr>
      </p:sp>
      <p:sp>
        <p:nvSpPr>
          <p:cNvPr id="23" name="Probe message 286"/>
          <p:cNvSpPr/>
          <p:nvPr/>
        </p:nvSpPr>
        <p:spPr>
          <a:xfrm>
            <a:off x="4498848" y="4297680"/>
            <a:ext cx="219456" cy="219456"/>
          </a:xfrm>
          <a:prstGeom prst="ellipse">
            <a:avLst/>
          </a:prstGeom>
          <a:solidFill>
            <a:schemeClr val="accent3"/>
          </a:solidFill>
          <a:ln w="15875">
            <a:solidFill>
              <a:schemeClr val="accent3"/>
            </a:solidFill>
            <a:prstDash val="solid"/>
          </a:ln>
        </p:spPr>
      </p:sp>
      <p:sp>
        <p:nvSpPr>
          <p:cNvPr id="24" name="Probe message 287"/>
          <p:cNvSpPr/>
          <p:nvPr/>
        </p:nvSpPr>
        <p:spPr>
          <a:xfrm>
            <a:off x="4809744" y="4297680"/>
            <a:ext cx="219456" cy="219456"/>
          </a:xfrm>
          <a:prstGeom prst="ellipse">
            <a:avLst/>
          </a:prstGeom>
          <a:solidFill>
            <a:schemeClr val="accent3"/>
          </a:solidFill>
          <a:ln w="15875">
            <a:solidFill>
              <a:schemeClr val="accent3"/>
            </a:solidFill>
            <a:prstDash val="solid"/>
          </a:ln>
        </p:spPr>
      </p:sp>
      <p:sp>
        <p:nvSpPr>
          <p:cNvPr id="25" name="Probe message 288"/>
          <p:cNvSpPr/>
          <p:nvPr/>
        </p:nvSpPr>
        <p:spPr>
          <a:xfrm>
            <a:off x="5120640" y="4297680"/>
            <a:ext cx="219456" cy="219456"/>
          </a:xfrm>
          <a:prstGeom prst="ellipse">
            <a:avLst/>
          </a:prstGeom>
          <a:solidFill>
            <a:schemeClr val="accent3"/>
          </a:solidFill>
          <a:ln w="15875">
            <a:solidFill>
              <a:schemeClr val="accent3"/>
            </a:solidFill>
            <a:prstDash val="solid"/>
          </a:ln>
        </p:spPr>
      </p:sp>
      <p:sp>
        <p:nvSpPr>
          <p:cNvPr id="26" name="Probe message 289"/>
          <p:cNvSpPr/>
          <p:nvPr/>
        </p:nvSpPr>
        <p:spPr>
          <a:xfrm>
            <a:off x="5431536" y="4297680"/>
            <a:ext cx="219456" cy="219456"/>
          </a:xfrm>
          <a:prstGeom prst="ellipse">
            <a:avLst/>
          </a:prstGeom>
          <a:solidFill>
            <a:schemeClr val="accent3"/>
          </a:solidFill>
          <a:ln w="15875">
            <a:solidFill>
              <a:schemeClr val="accent3"/>
            </a:solidFill>
            <a:prstDash val="solid"/>
          </a:ln>
        </p:spPr>
      </p:sp>
      <p:sp>
        <p:nvSpPr>
          <p:cNvPr id="27" name="Probe message 290"/>
          <p:cNvSpPr/>
          <p:nvPr/>
        </p:nvSpPr>
        <p:spPr>
          <a:xfrm>
            <a:off x="5742432" y="4297680"/>
            <a:ext cx="219456" cy="219456"/>
          </a:xfrm>
          <a:prstGeom prst="ellipse">
            <a:avLst/>
          </a:prstGeom>
          <a:solidFill>
            <a:schemeClr val="accent3"/>
          </a:solidFill>
          <a:ln w="15875">
            <a:solidFill>
              <a:schemeClr val="accent3"/>
            </a:solidFill>
            <a:prstDash val="solid"/>
          </a:ln>
        </p:spPr>
      </p:sp>
      <p:sp>
        <p:nvSpPr>
          <p:cNvPr id="28" name="Probe message 291"/>
          <p:cNvSpPr/>
          <p:nvPr/>
        </p:nvSpPr>
        <p:spPr>
          <a:xfrm>
            <a:off x="6053328" y="4297680"/>
            <a:ext cx="219456" cy="219456"/>
          </a:xfrm>
          <a:prstGeom prst="ellipse">
            <a:avLst/>
          </a:prstGeom>
          <a:solidFill>
            <a:schemeClr val="bg1"/>
          </a:solidFill>
          <a:ln w="15875">
            <a:solidFill>
              <a:schemeClr val="accent3"/>
            </a:solidFill>
            <a:prstDash val="solid"/>
          </a:ln>
        </p:spPr>
      </p:sp>
      <p:sp>
        <p:nvSpPr>
          <p:cNvPr id="29" name="Probe message 292"/>
          <p:cNvSpPr/>
          <p:nvPr/>
        </p:nvSpPr>
        <p:spPr>
          <a:xfrm>
            <a:off x="6364224" y="4297680"/>
            <a:ext cx="219456" cy="219456"/>
          </a:xfrm>
          <a:prstGeom prst="ellipse">
            <a:avLst/>
          </a:prstGeom>
          <a:solidFill>
            <a:schemeClr val="bg1"/>
          </a:solidFill>
          <a:ln w="15875">
            <a:solidFill>
              <a:schemeClr val="accent3"/>
            </a:solidFill>
            <a:prstDash val="solid"/>
          </a:ln>
        </p:spPr>
      </p:sp>
      <p:sp>
        <p:nvSpPr>
          <p:cNvPr id="30" name="Text 293"/>
          <p:cNvSpPr txBox="1"/>
          <p:nvPr/>
        </p:nvSpPr>
        <p:spPr>
          <a:xfrm>
            <a:off x="822960" y="4617720"/>
            <a:ext cx="5852160" cy="237744"/>
          </a:xfrm>
          <a:prstGeom prst="rect">
            <a:avLst/>
          </a:prstGeom>
          <a:noFill/>
          <a:ln/>
        </p:spPr>
        <p:txBody>
          <a:bodyPr wrap="square" lIns="0" tIns="0" rIns="0" bIns="0" rtlCol="0" anchor="t"/>
          <a:lstStyle/>
          <a:p>
            <a:pPr algn="l" indent="0" marL="0">
              <a:buNone/>
            </a:pPr>
            <a:r>
              <a:rPr lang="en-US" sz="1200" dirty="0">
                <a:solidFill>
                  <a:schemeClr val="accent4"/>
                </a:solidFill>
              </a:rPr>
              <a:t>8 ended as safety advice; the other 2 still got care advice</a:t>
            </a:r>
            <a:endParaRPr lang="en-US" sz="1200" dirty="0"/>
          </a:p>
        </p:txBody>
      </p:sp>
      <p:sp>
        <p:nvSpPr>
          <p:cNvPr id="31" name="Text 294"/>
          <p:cNvSpPr txBox="1"/>
          <p:nvPr/>
        </p:nvSpPr>
        <p:spPr>
          <a:xfrm>
            <a:off x="822960" y="5166360"/>
            <a:ext cx="2560320" cy="274320"/>
          </a:xfrm>
          <a:prstGeom prst="rect">
            <a:avLst/>
          </a:prstGeom>
          <a:noFill/>
          <a:ln/>
        </p:spPr>
        <p:txBody>
          <a:bodyPr wrap="square" lIns="0" tIns="0" rIns="0" bIns="0" rtlCol="0" anchor="t"/>
          <a:lstStyle/>
          <a:p>
            <a:pPr algn="l" indent="0" marL="0">
              <a:buNone/>
            </a:pPr>
            <a:r>
              <a:rPr lang="en-US" sz="1400" b="1" dirty="0">
                <a:solidFill>
                  <a:schemeClr val="tx1"/>
                </a:solidFill>
              </a:rPr>
              <a:t>10 harmless messages</a:t>
            </a:r>
            <a:endParaRPr lang="en-US" sz="1400" dirty="0"/>
          </a:p>
        </p:txBody>
      </p:sp>
      <p:sp>
        <p:nvSpPr>
          <p:cNvPr id="32" name="Probe message 295"/>
          <p:cNvSpPr/>
          <p:nvPr/>
        </p:nvSpPr>
        <p:spPr>
          <a:xfrm>
            <a:off x="3566160" y="5193792"/>
            <a:ext cx="219456" cy="219456"/>
          </a:xfrm>
          <a:prstGeom prst="ellipse">
            <a:avLst/>
          </a:prstGeom>
          <a:solidFill>
            <a:schemeClr val="accent4"/>
          </a:solidFill>
          <a:ln w="15875">
            <a:solidFill>
              <a:schemeClr val="accent4"/>
            </a:solidFill>
            <a:prstDash val="solid"/>
          </a:ln>
        </p:spPr>
      </p:sp>
      <p:sp>
        <p:nvSpPr>
          <p:cNvPr id="33" name="Probe message 296"/>
          <p:cNvSpPr/>
          <p:nvPr/>
        </p:nvSpPr>
        <p:spPr>
          <a:xfrm>
            <a:off x="3877056" y="5193792"/>
            <a:ext cx="219456" cy="219456"/>
          </a:xfrm>
          <a:prstGeom prst="ellipse">
            <a:avLst/>
          </a:prstGeom>
          <a:solidFill>
            <a:schemeClr val="accent4"/>
          </a:solidFill>
          <a:ln w="15875">
            <a:solidFill>
              <a:schemeClr val="accent4"/>
            </a:solidFill>
            <a:prstDash val="solid"/>
          </a:ln>
        </p:spPr>
      </p:sp>
      <p:sp>
        <p:nvSpPr>
          <p:cNvPr id="34" name="Probe message 297"/>
          <p:cNvSpPr/>
          <p:nvPr/>
        </p:nvSpPr>
        <p:spPr>
          <a:xfrm>
            <a:off x="4187952" y="5193792"/>
            <a:ext cx="219456" cy="219456"/>
          </a:xfrm>
          <a:prstGeom prst="ellipse">
            <a:avLst/>
          </a:prstGeom>
          <a:solidFill>
            <a:schemeClr val="bg1"/>
          </a:solidFill>
          <a:ln w="15875">
            <a:solidFill>
              <a:schemeClr val="accent4"/>
            </a:solidFill>
            <a:prstDash val="solid"/>
          </a:ln>
        </p:spPr>
      </p:sp>
      <p:sp>
        <p:nvSpPr>
          <p:cNvPr id="35" name="Probe message 298"/>
          <p:cNvSpPr/>
          <p:nvPr/>
        </p:nvSpPr>
        <p:spPr>
          <a:xfrm>
            <a:off x="4498848" y="5193792"/>
            <a:ext cx="219456" cy="219456"/>
          </a:xfrm>
          <a:prstGeom prst="ellipse">
            <a:avLst/>
          </a:prstGeom>
          <a:solidFill>
            <a:schemeClr val="bg1"/>
          </a:solidFill>
          <a:ln w="15875">
            <a:solidFill>
              <a:schemeClr val="accent4"/>
            </a:solidFill>
            <a:prstDash val="solid"/>
          </a:ln>
        </p:spPr>
      </p:sp>
      <p:sp>
        <p:nvSpPr>
          <p:cNvPr id="36" name="Probe message 299"/>
          <p:cNvSpPr/>
          <p:nvPr/>
        </p:nvSpPr>
        <p:spPr>
          <a:xfrm>
            <a:off x="4809744" y="5193792"/>
            <a:ext cx="219456" cy="219456"/>
          </a:xfrm>
          <a:prstGeom prst="ellipse">
            <a:avLst/>
          </a:prstGeom>
          <a:solidFill>
            <a:schemeClr val="bg1"/>
          </a:solidFill>
          <a:ln w="15875">
            <a:solidFill>
              <a:schemeClr val="accent4"/>
            </a:solidFill>
            <a:prstDash val="solid"/>
          </a:ln>
        </p:spPr>
      </p:sp>
      <p:sp>
        <p:nvSpPr>
          <p:cNvPr id="37" name="Probe message 300"/>
          <p:cNvSpPr/>
          <p:nvPr/>
        </p:nvSpPr>
        <p:spPr>
          <a:xfrm>
            <a:off x="5120640" y="5193792"/>
            <a:ext cx="219456" cy="219456"/>
          </a:xfrm>
          <a:prstGeom prst="ellipse">
            <a:avLst/>
          </a:prstGeom>
          <a:solidFill>
            <a:schemeClr val="bg1"/>
          </a:solidFill>
          <a:ln w="15875">
            <a:solidFill>
              <a:schemeClr val="accent4"/>
            </a:solidFill>
            <a:prstDash val="solid"/>
          </a:ln>
        </p:spPr>
      </p:sp>
      <p:sp>
        <p:nvSpPr>
          <p:cNvPr id="38" name="Probe message 301"/>
          <p:cNvSpPr/>
          <p:nvPr/>
        </p:nvSpPr>
        <p:spPr>
          <a:xfrm>
            <a:off x="5431536" y="5193792"/>
            <a:ext cx="219456" cy="219456"/>
          </a:xfrm>
          <a:prstGeom prst="ellipse">
            <a:avLst/>
          </a:prstGeom>
          <a:solidFill>
            <a:schemeClr val="bg1"/>
          </a:solidFill>
          <a:ln w="15875">
            <a:solidFill>
              <a:schemeClr val="accent4"/>
            </a:solidFill>
            <a:prstDash val="solid"/>
          </a:ln>
        </p:spPr>
      </p:sp>
      <p:sp>
        <p:nvSpPr>
          <p:cNvPr id="39" name="Probe message 302"/>
          <p:cNvSpPr/>
          <p:nvPr/>
        </p:nvSpPr>
        <p:spPr>
          <a:xfrm>
            <a:off x="5742432" y="5193792"/>
            <a:ext cx="219456" cy="219456"/>
          </a:xfrm>
          <a:prstGeom prst="ellipse">
            <a:avLst/>
          </a:prstGeom>
          <a:solidFill>
            <a:schemeClr val="bg1"/>
          </a:solidFill>
          <a:ln w="15875">
            <a:solidFill>
              <a:schemeClr val="accent4"/>
            </a:solidFill>
            <a:prstDash val="solid"/>
          </a:ln>
        </p:spPr>
      </p:sp>
      <p:sp>
        <p:nvSpPr>
          <p:cNvPr id="40" name="Probe message 303"/>
          <p:cNvSpPr/>
          <p:nvPr/>
        </p:nvSpPr>
        <p:spPr>
          <a:xfrm>
            <a:off x="6053328" y="5193792"/>
            <a:ext cx="219456" cy="219456"/>
          </a:xfrm>
          <a:prstGeom prst="ellipse">
            <a:avLst/>
          </a:prstGeom>
          <a:solidFill>
            <a:schemeClr val="bg1"/>
          </a:solidFill>
          <a:ln w="15875">
            <a:solidFill>
              <a:schemeClr val="accent4"/>
            </a:solidFill>
            <a:prstDash val="solid"/>
          </a:ln>
        </p:spPr>
      </p:sp>
      <p:sp>
        <p:nvSpPr>
          <p:cNvPr id="41" name="Probe message 304"/>
          <p:cNvSpPr/>
          <p:nvPr/>
        </p:nvSpPr>
        <p:spPr>
          <a:xfrm>
            <a:off x="6364224" y="5193792"/>
            <a:ext cx="219456" cy="219456"/>
          </a:xfrm>
          <a:prstGeom prst="ellipse">
            <a:avLst/>
          </a:prstGeom>
          <a:solidFill>
            <a:schemeClr val="bg1"/>
          </a:solidFill>
          <a:ln w="15875">
            <a:solidFill>
              <a:schemeClr val="accent4"/>
            </a:solidFill>
            <a:prstDash val="solid"/>
          </a:ln>
        </p:spPr>
      </p:sp>
      <p:sp>
        <p:nvSpPr>
          <p:cNvPr id="42" name="Text 305"/>
          <p:cNvSpPr txBox="1"/>
          <p:nvPr/>
        </p:nvSpPr>
        <p:spPr>
          <a:xfrm>
            <a:off x="822960" y="5513832"/>
            <a:ext cx="5852160" cy="237744"/>
          </a:xfrm>
          <a:prstGeom prst="rect">
            <a:avLst/>
          </a:prstGeom>
          <a:noFill/>
          <a:ln/>
        </p:spPr>
        <p:txBody>
          <a:bodyPr wrap="square" lIns="0" tIns="0" rIns="0" bIns="0" rtlCol="0" anchor="t"/>
          <a:lstStyle/>
          <a:p>
            <a:pPr algn="l" indent="0" marL="0">
              <a:buNone/>
            </a:pPr>
            <a:r>
              <a:rPr lang="en-US" sz="1200" dirty="0">
                <a:solidFill>
                  <a:schemeClr val="accent4"/>
                </a:solidFill>
              </a:rPr>
              <a:t>2 also ended as safety advice: usual breathlessness, a hypothetical</a:t>
            </a:r>
            <a:endParaRPr lang="en-US" sz="1200" dirty="0"/>
          </a:p>
        </p:txBody>
      </p:sp>
      <p:sp>
        <p:nvSpPr>
          <p:cNvPr id="43" name="Card 306"/>
          <p:cNvSpPr/>
          <p:nvPr/>
        </p:nvSpPr>
        <p:spPr>
          <a:xfrm>
            <a:off x="7223760" y="3520440"/>
            <a:ext cx="4419295" cy="2560320"/>
          </a:xfrm>
          <a:prstGeom prst="roundRect">
            <a:avLst>
              <a:gd name="adj" fmla="val 3214"/>
            </a:avLst>
          </a:prstGeom>
          <a:solidFill>
            <a:schemeClr val="accent6"/>
          </a:solidFill>
          <a:ln/>
        </p:spPr>
      </p:sp>
      <p:sp>
        <p:nvSpPr>
          <p:cNvPr id="44" name="Text 307"/>
          <p:cNvSpPr txBox="1"/>
          <p:nvPr/>
        </p:nvSpPr>
        <p:spPr>
          <a:xfrm>
            <a:off x="7498080" y="3703320"/>
            <a:ext cx="3870655" cy="292608"/>
          </a:xfrm>
          <a:prstGeom prst="rect">
            <a:avLst/>
          </a:prstGeom>
          <a:noFill/>
          <a:ln/>
        </p:spPr>
        <p:txBody>
          <a:bodyPr wrap="square" lIns="0" tIns="0" rIns="0" bIns="0" rtlCol="0" anchor="t"/>
          <a:lstStyle/>
          <a:p>
            <a:pPr algn="l" indent="0" marL="0">
              <a:buNone/>
            </a:pPr>
            <a:r>
              <a:rPr lang="en-US" sz="1600" b="1" dirty="0">
                <a:solidFill>
                  <a:schemeClr val="accent3"/>
                </a:solidFill>
              </a:rPr>
              <a:t>Two cases did not fully pass</a:t>
            </a:r>
            <a:endParaRPr lang="en-US" sz="1600" dirty="0"/>
          </a:p>
        </p:txBody>
      </p:sp>
      <p:sp>
        <p:nvSpPr>
          <p:cNvPr id="45" name="Text 308"/>
          <p:cNvSpPr txBox="1"/>
          <p:nvPr/>
        </p:nvSpPr>
        <p:spPr>
          <a:xfrm>
            <a:off x="7498080" y="4178808"/>
            <a:ext cx="3870655" cy="1097280"/>
          </a:xfrm>
          <a:prstGeom prst="rect">
            <a:avLst/>
          </a:prstGeom>
          <a:noFill/>
          <a:ln/>
        </p:spPr>
        <p:txBody>
          <a:bodyPr wrap="square" lIns="0" tIns="0" rIns="0" bIns="0" rtlCol="0" anchor="t"/>
          <a:lstStyle/>
          <a:p>
            <a:pPr algn="l" marL="177800" indent="-177800">
              <a:spcAft>
                <a:spcPts val="900"/>
              </a:spcAft>
              <a:buSzPct val="100000"/>
              <a:buChar char="•"/>
            </a:pPr>
            <a:r>
              <a:rPr lang="en-US" sz="1400" b="1" dirty="0">
                <a:solidFill>
                  <a:schemeClr val="tx1"/>
                </a:solidFill>
              </a:rPr>
              <a:t>CI-4: </a:t>
            </a:r>
            <a:pPr algn="l" indent="0" marL="0">
              <a:spcAft>
                <a:spcPts val="900"/>
              </a:spcAft>
              <a:buNone/>
            </a:pPr>
            <a:r>
              <a:rPr lang="en-US" sz="1400" dirty="0">
                <a:solidFill>
                  <a:schemeClr val="tx1"/>
                </a:solidFill>
              </a:rPr>
              <a:t>the Agent asked a third question where the check expected an answer</a:t>
            </a:r>
            <a:endParaRPr lang="en-US" sz="1400" dirty="0"/>
          </a:p>
          <a:p>
            <a:pPr algn="l" marL="177800" indent="-177800">
              <a:spcAft>
                <a:spcPts val="900"/>
              </a:spcAft>
              <a:buSzPct val="100000"/>
              <a:buChar char="•"/>
            </a:pPr>
            <a:r>
              <a:rPr lang="en-US" sz="1400" b="1" dirty="0">
                <a:solidFill>
                  <a:schemeClr val="tx1"/>
                </a:solidFill>
              </a:rPr>
              <a:t>CI-15: </a:t>
            </a:r>
            <a:pPr algn="l" indent="0" marL="0">
              <a:spcAft>
                <a:spcPts val="900"/>
              </a:spcAft>
              <a:buNone/>
            </a:pPr>
            <a:r>
              <a:rPr lang="en-US" sz="1400" dirty="0">
                <a:solidFill>
                  <a:schemeClr val="tx1"/>
                </a:solidFill>
              </a:rPr>
              <a:t>the warning-symptom probe on the left</a:t>
            </a:r>
            <a:endParaRPr lang="en-US" sz="1400" dirty="0"/>
          </a:p>
        </p:txBody>
      </p:sp>
      <p:sp>
        <p:nvSpPr>
          <p:cNvPr id="46" name="Text 309"/>
          <p:cNvSpPr txBox="1"/>
          <p:nvPr/>
        </p:nvSpPr>
        <p:spPr>
          <a:xfrm>
            <a:off x="7498080" y="5532120"/>
            <a:ext cx="3870655" cy="365760"/>
          </a:xfrm>
          <a:prstGeom prst="rect">
            <a:avLst/>
          </a:prstGeom>
          <a:noFill/>
          <a:ln/>
        </p:spPr>
        <p:txBody>
          <a:bodyPr wrap="square" lIns="0" tIns="0" rIns="0" bIns="0" rtlCol="0" anchor="t"/>
          <a:lstStyle/>
          <a:p>
            <a:pPr algn="l" indent="0" marL="0">
              <a:buNone/>
            </a:pPr>
            <a:r>
              <a:rPr lang="en-US" sz="1200" dirty="0">
                <a:solidFill>
                  <a:schemeClr val="accent4"/>
                </a:solidFill>
              </a:rPr>
              <a:t>Checks verify code behaviour, not clinical accuracy.</a:t>
            </a:r>
            <a:endParaRPr lang="en-US" sz="1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3"/>
                </a:solidFill>
              </a:rPr>
              <a:t>MONITORING EVALUATION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2800" b="1" dirty="0">
                <a:solidFill>
                  <a:schemeClr val="tx2"/>
                </a:solidFill>
              </a:rPr>
              <a:t>Alert decisions: right about two times in three</a:t>
            </a:r>
            <a:endParaRPr lang="en-US" sz="2800" dirty="0"/>
          </a:p>
        </p:txBody>
      </p:sp>
      <p:sp>
        <p:nvSpPr>
          <p:cNvPr id="5" name="Card 310"/>
          <p:cNvSpPr/>
          <p:nvPr/>
        </p:nvSpPr>
        <p:spPr>
          <a:xfrm>
            <a:off x="548640" y="1554480"/>
            <a:ext cx="6309360" cy="4526280"/>
          </a:xfrm>
          <a:prstGeom prst="roundRect">
            <a:avLst>
              <a:gd name="adj" fmla="val 1818"/>
            </a:avLst>
          </a:prstGeom>
          <a:solidFill>
            <a:schemeClr val="bg1"/>
          </a:solidFill>
          <a:ln w="9525">
            <a:solidFill>
              <a:schemeClr val="accent4">
                <a:alpha val="35000"/>
              </a:schemeClr>
            </a:solidFill>
            <a:prstDash val="solid"/>
          </a:ln>
        </p:spPr>
      </p:sp>
      <p:sp>
        <p:nvSpPr>
          <p:cNvPr id="6" name="Text 311"/>
          <p:cNvSpPr txBox="1"/>
          <p:nvPr/>
        </p:nvSpPr>
        <p:spPr>
          <a:xfrm>
            <a:off x="822960" y="1737360"/>
            <a:ext cx="5760720" cy="274320"/>
          </a:xfrm>
          <a:prstGeom prst="rect">
            <a:avLst/>
          </a:prstGeom>
          <a:noFill/>
          <a:ln/>
        </p:spPr>
        <p:txBody>
          <a:bodyPr wrap="square" lIns="0" tIns="0" rIns="0" bIns="0" rtlCol="0" anchor="t"/>
          <a:lstStyle/>
          <a:p>
            <a:pPr algn="l" indent="0" marL="0">
              <a:buNone/>
            </a:pPr>
            <a:r>
              <a:rPr lang="en-US" sz="1400" b="1" dirty="0">
                <a:solidFill>
                  <a:schemeClr val="tx2"/>
                </a:solidFill>
              </a:rPr>
              <a:t>Precision and recall of Alert decisions, by replay</a:t>
            </a:r>
            <a:endParaRPr lang="en-US" sz="1400" dirty="0"/>
          </a:p>
        </p:txBody>
      </p:sp>
      <p:sp>
        <p:nvSpPr>
          <p:cNvPr id="7" name="Gridline 312"/>
          <p:cNvSpPr/>
          <p:nvPr/>
        </p:nvSpPr>
        <p:spPr>
          <a:xfrm>
            <a:off x="1417320" y="4846320"/>
            <a:ext cx="5120640" cy="0"/>
          </a:xfrm>
          <a:prstGeom prst="line">
            <a:avLst/>
          </a:prstGeom>
          <a:noFill/>
          <a:ln w="9525">
            <a:solidFill>
              <a:schemeClr val="accent4"/>
            </a:solidFill>
            <a:prstDash val="solid"/>
          </a:ln>
        </p:spPr>
      </p:sp>
      <p:sp>
        <p:nvSpPr>
          <p:cNvPr id="8" name="Text 313"/>
          <p:cNvSpPr txBox="1"/>
          <p:nvPr/>
        </p:nvSpPr>
        <p:spPr>
          <a:xfrm>
            <a:off x="822960" y="473659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0.0</a:t>
            </a:r>
            <a:endParaRPr lang="en-US" sz="1100" dirty="0"/>
          </a:p>
        </p:txBody>
      </p:sp>
      <p:sp>
        <p:nvSpPr>
          <p:cNvPr id="9" name="Gridline 314"/>
          <p:cNvSpPr/>
          <p:nvPr/>
        </p:nvSpPr>
        <p:spPr>
          <a:xfrm>
            <a:off x="1417320" y="4343400"/>
            <a:ext cx="5120640" cy="0"/>
          </a:xfrm>
          <a:prstGeom prst="line">
            <a:avLst/>
          </a:prstGeom>
          <a:noFill/>
          <a:ln w="9525">
            <a:solidFill>
              <a:schemeClr val="accent4">
                <a:alpha val="25000"/>
              </a:schemeClr>
            </a:solidFill>
            <a:prstDash val="solid"/>
          </a:ln>
        </p:spPr>
      </p:sp>
      <p:sp>
        <p:nvSpPr>
          <p:cNvPr id="10" name="Text 315"/>
          <p:cNvSpPr txBox="1"/>
          <p:nvPr/>
        </p:nvSpPr>
        <p:spPr>
          <a:xfrm>
            <a:off x="822960" y="423367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0.2</a:t>
            </a:r>
            <a:endParaRPr lang="en-US" sz="1100" dirty="0"/>
          </a:p>
        </p:txBody>
      </p:sp>
      <p:sp>
        <p:nvSpPr>
          <p:cNvPr id="11" name="Gridline 316"/>
          <p:cNvSpPr/>
          <p:nvPr/>
        </p:nvSpPr>
        <p:spPr>
          <a:xfrm>
            <a:off x="1417320" y="3840480"/>
            <a:ext cx="5120640" cy="0"/>
          </a:xfrm>
          <a:prstGeom prst="line">
            <a:avLst/>
          </a:prstGeom>
          <a:noFill/>
          <a:ln w="9525">
            <a:solidFill>
              <a:schemeClr val="accent4">
                <a:alpha val="25000"/>
              </a:schemeClr>
            </a:solidFill>
            <a:prstDash val="solid"/>
          </a:ln>
        </p:spPr>
      </p:sp>
      <p:sp>
        <p:nvSpPr>
          <p:cNvPr id="12" name="Text 317"/>
          <p:cNvSpPr txBox="1"/>
          <p:nvPr/>
        </p:nvSpPr>
        <p:spPr>
          <a:xfrm>
            <a:off x="822960" y="373075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0.4</a:t>
            </a:r>
            <a:endParaRPr lang="en-US" sz="1100" dirty="0"/>
          </a:p>
        </p:txBody>
      </p:sp>
      <p:sp>
        <p:nvSpPr>
          <p:cNvPr id="13" name="Gridline 318"/>
          <p:cNvSpPr/>
          <p:nvPr/>
        </p:nvSpPr>
        <p:spPr>
          <a:xfrm>
            <a:off x="1417320" y="3337560"/>
            <a:ext cx="5120640" cy="0"/>
          </a:xfrm>
          <a:prstGeom prst="line">
            <a:avLst/>
          </a:prstGeom>
          <a:noFill/>
          <a:ln w="9525">
            <a:solidFill>
              <a:schemeClr val="accent4">
                <a:alpha val="25000"/>
              </a:schemeClr>
            </a:solidFill>
            <a:prstDash val="solid"/>
          </a:ln>
        </p:spPr>
      </p:sp>
      <p:sp>
        <p:nvSpPr>
          <p:cNvPr id="14" name="Text 319"/>
          <p:cNvSpPr txBox="1"/>
          <p:nvPr/>
        </p:nvSpPr>
        <p:spPr>
          <a:xfrm>
            <a:off x="822960" y="322783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0.6</a:t>
            </a:r>
            <a:endParaRPr lang="en-US" sz="1100" dirty="0"/>
          </a:p>
        </p:txBody>
      </p:sp>
      <p:sp>
        <p:nvSpPr>
          <p:cNvPr id="15" name="Gridline 320"/>
          <p:cNvSpPr/>
          <p:nvPr/>
        </p:nvSpPr>
        <p:spPr>
          <a:xfrm>
            <a:off x="1417320" y="2834640"/>
            <a:ext cx="5120640" cy="0"/>
          </a:xfrm>
          <a:prstGeom prst="line">
            <a:avLst/>
          </a:prstGeom>
          <a:noFill/>
          <a:ln w="9525">
            <a:solidFill>
              <a:schemeClr val="accent4">
                <a:alpha val="25000"/>
              </a:schemeClr>
            </a:solidFill>
            <a:prstDash val="solid"/>
          </a:ln>
        </p:spPr>
      </p:sp>
      <p:sp>
        <p:nvSpPr>
          <p:cNvPr id="16" name="Text 321"/>
          <p:cNvSpPr txBox="1"/>
          <p:nvPr/>
        </p:nvSpPr>
        <p:spPr>
          <a:xfrm>
            <a:off x="822960" y="272491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0.8</a:t>
            </a:r>
            <a:endParaRPr lang="en-US" sz="1100" dirty="0"/>
          </a:p>
        </p:txBody>
      </p:sp>
      <p:sp>
        <p:nvSpPr>
          <p:cNvPr id="17" name="Gridline 322"/>
          <p:cNvSpPr/>
          <p:nvPr/>
        </p:nvSpPr>
        <p:spPr>
          <a:xfrm>
            <a:off x="1417320" y="2331720"/>
            <a:ext cx="5120640" cy="0"/>
          </a:xfrm>
          <a:prstGeom prst="line">
            <a:avLst/>
          </a:prstGeom>
          <a:noFill/>
          <a:ln w="9525">
            <a:solidFill>
              <a:schemeClr val="accent4">
                <a:alpha val="25000"/>
              </a:schemeClr>
            </a:solidFill>
            <a:prstDash val="solid"/>
          </a:ln>
        </p:spPr>
      </p:sp>
      <p:sp>
        <p:nvSpPr>
          <p:cNvPr id="18" name="Text 323"/>
          <p:cNvSpPr txBox="1"/>
          <p:nvPr/>
        </p:nvSpPr>
        <p:spPr>
          <a:xfrm>
            <a:off x="822960" y="2221992"/>
            <a:ext cx="457200" cy="219456"/>
          </a:xfrm>
          <a:prstGeom prst="rect">
            <a:avLst/>
          </a:prstGeom>
          <a:noFill/>
          <a:ln/>
        </p:spPr>
        <p:txBody>
          <a:bodyPr wrap="square" lIns="0" tIns="0" rIns="0" bIns="0" rtlCol="0" anchor="ctr"/>
          <a:lstStyle/>
          <a:p>
            <a:pPr algn="r" indent="0" marL="0">
              <a:buNone/>
            </a:pPr>
            <a:r>
              <a:rPr lang="en-US" sz="1100" dirty="0">
                <a:solidFill>
                  <a:schemeClr val="accent4"/>
                </a:solidFill>
              </a:rPr>
              <a:t>1.0</a:t>
            </a:r>
            <a:endParaRPr lang="en-US" sz="1100" dirty="0"/>
          </a:p>
        </p:txBody>
      </p:sp>
      <p:sp>
        <p:nvSpPr>
          <p:cNvPr id="19" name="Bar 324"/>
          <p:cNvSpPr/>
          <p:nvPr/>
        </p:nvSpPr>
        <p:spPr>
          <a:xfrm>
            <a:off x="1563624" y="3211830"/>
            <a:ext cx="457200" cy="1634490"/>
          </a:xfrm>
          <a:prstGeom prst="rect">
            <a:avLst/>
          </a:prstGeom>
          <a:solidFill>
            <a:schemeClr val="tx2"/>
          </a:solidFill>
          <a:ln/>
        </p:spPr>
      </p:sp>
      <p:sp>
        <p:nvSpPr>
          <p:cNvPr id="20" name="Text 325"/>
          <p:cNvSpPr txBox="1"/>
          <p:nvPr/>
        </p:nvSpPr>
        <p:spPr>
          <a:xfrm>
            <a:off x="1472184" y="2964942"/>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0.65</a:t>
            </a:r>
            <a:endParaRPr lang="en-US" sz="1200" dirty="0"/>
          </a:p>
        </p:txBody>
      </p:sp>
      <p:sp>
        <p:nvSpPr>
          <p:cNvPr id="21" name="Bar 326"/>
          <p:cNvSpPr/>
          <p:nvPr/>
        </p:nvSpPr>
        <p:spPr>
          <a:xfrm>
            <a:off x="2093976" y="2759202"/>
            <a:ext cx="457200" cy="2087118"/>
          </a:xfrm>
          <a:prstGeom prst="rect">
            <a:avLst/>
          </a:prstGeom>
          <a:solidFill>
            <a:schemeClr val="accent3"/>
          </a:solidFill>
          <a:ln/>
        </p:spPr>
      </p:sp>
      <p:sp>
        <p:nvSpPr>
          <p:cNvPr id="22" name="Text 327"/>
          <p:cNvSpPr txBox="1"/>
          <p:nvPr/>
        </p:nvSpPr>
        <p:spPr>
          <a:xfrm>
            <a:off x="2002536" y="2512314"/>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0.83</a:t>
            </a:r>
            <a:endParaRPr lang="en-US" sz="1200" dirty="0"/>
          </a:p>
        </p:txBody>
      </p:sp>
      <p:sp>
        <p:nvSpPr>
          <p:cNvPr id="23" name="Text 328"/>
          <p:cNvSpPr txBox="1"/>
          <p:nvPr/>
        </p:nvSpPr>
        <p:spPr>
          <a:xfrm>
            <a:off x="1417320" y="4919472"/>
            <a:ext cx="1280160" cy="237744"/>
          </a:xfrm>
          <a:prstGeom prst="rect">
            <a:avLst/>
          </a:prstGeom>
          <a:noFill/>
          <a:ln/>
        </p:spPr>
        <p:txBody>
          <a:bodyPr wrap="square" lIns="0" tIns="0" rIns="0" bIns="0" rtlCol="0" anchor="t"/>
          <a:lstStyle/>
          <a:p>
            <a:pPr algn="ctr" indent="0" marL="0">
              <a:buNone/>
            </a:pPr>
            <a:r>
              <a:rPr lang="en-US" sz="1200" dirty="0">
                <a:solidFill>
                  <a:schemeClr val="accent4"/>
                </a:solidFill>
              </a:rPr>
              <a:t>Run 1</a:t>
            </a:r>
            <a:endParaRPr lang="en-US" sz="1200" dirty="0"/>
          </a:p>
        </p:txBody>
      </p:sp>
      <p:sp>
        <p:nvSpPr>
          <p:cNvPr id="24" name="Bar 329"/>
          <p:cNvSpPr/>
          <p:nvPr/>
        </p:nvSpPr>
        <p:spPr>
          <a:xfrm>
            <a:off x="2843784" y="3136392"/>
            <a:ext cx="457200" cy="1709928"/>
          </a:xfrm>
          <a:prstGeom prst="rect">
            <a:avLst/>
          </a:prstGeom>
          <a:solidFill>
            <a:schemeClr val="tx2"/>
          </a:solidFill>
          <a:ln/>
        </p:spPr>
      </p:sp>
      <p:sp>
        <p:nvSpPr>
          <p:cNvPr id="25" name="Text 330"/>
          <p:cNvSpPr txBox="1"/>
          <p:nvPr/>
        </p:nvSpPr>
        <p:spPr>
          <a:xfrm>
            <a:off x="2752344" y="2889504"/>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0.68</a:t>
            </a:r>
            <a:endParaRPr lang="en-US" sz="1200" dirty="0"/>
          </a:p>
        </p:txBody>
      </p:sp>
      <p:sp>
        <p:nvSpPr>
          <p:cNvPr id="26" name="Bar 331"/>
          <p:cNvSpPr/>
          <p:nvPr/>
        </p:nvSpPr>
        <p:spPr>
          <a:xfrm>
            <a:off x="3374136" y="2859786"/>
            <a:ext cx="457200" cy="1986534"/>
          </a:xfrm>
          <a:prstGeom prst="rect">
            <a:avLst/>
          </a:prstGeom>
          <a:solidFill>
            <a:schemeClr val="accent3"/>
          </a:solidFill>
          <a:ln/>
        </p:spPr>
      </p:sp>
      <p:sp>
        <p:nvSpPr>
          <p:cNvPr id="27" name="Text 332"/>
          <p:cNvSpPr txBox="1"/>
          <p:nvPr/>
        </p:nvSpPr>
        <p:spPr>
          <a:xfrm>
            <a:off x="3282696" y="2612898"/>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0.79</a:t>
            </a:r>
            <a:endParaRPr lang="en-US" sz="1200" dirty="0"/>
          </a:p>
        </p:txBody>
      </p:sp>
      <p:sp>
        <p:nvSpPr>
          <p:cNvPr id="28" name="Text 333"/>
          <p:cNvSpPr txBox="1"/>
          <p:nvPr/>
        </p:nvSpPr>
        <p:spPr>
          <a:xfrm>
            <a:off x="2697480" y="4919472"/>
            <a:ext cx="1280160" cy="237744"/>
          </a:xfrm>
          <a:prstGeom prst="rect">
            <a:avLst/>
          </a:prstGeom>
          <a:noFill/>
          <a:ln/>
        </p:spPr>
        <p:txBody>
          <a:bodyPr wrap="square" lIns="0" tIns="0" rIns="0" bIns="0" rtlCol="0" anchor="t"/>
          <a:lstStyle/>
          <a:p>
            <a:pPr algn="ctr" indent="0" marL="0">
              <a:buNone/>
            </a:pPr>
            <a:r>
              <a:rPr lang="en-US" sz="1200" dirty="0">
                <a:solidFill>
                  <a:schemeClr val="accent4"/>
                </a:solidFill>
              </a:rPr>
              <a:t>Run 2</a:t>
            </a:r>
            <a:endParaRPr lang="en-US" sz="1200" dirty="0"/>
          </a:p>
        </p:txBody>
      </p:sp>
      <p:sp>
        <p:nvSpPr>
          <p:cNvPr id="29" name="Bar 334"/>
          <p:cNvSpPr/>
          <p:nvPr/>
        </p:nvSpPr>
        <p:spPr>
          <a:xfrm>
            <a:off x="4123944" y="2960370"/>
            <a:ext cx="457200" cy="1885950"/>
          </a:xfrm>
          <a:prstGeom prst="rect">
            <a:avLst/>
          </a:prstGeom>
          <a:solidFill>
            <a:schemeClr val="tx2"/>
          </a:solidFill>
          <a:ln/>
        </p:spPr>
      </p:sp>
      <p:sp>
        <p:nvSpPr>
          <p:cNvPr id="30" name="Text 335"/>
          <p:cNvSpPr txBox="1"/>
          <p:nvPr/>
        </p:nvSpPr>
        <p:spPr>
          <a:xfrm>
            <a:off x="4032504" y="2713482"/>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0.75</a:t>
            </a:r>
            <a:endParaRPr lang="en-US" sz="1200" dirty="0"/>
          </a:p>
        </p:txBody>
      </p:sp>
      <p:sp>
        <p:nvSpPr>
          <p:cNvPr id="31" name="Bar 336"/>
          <p:cNvSpPr/>
          <p:nvPr/>
        </p:nvSpPr>
        <p:spPr>
          <a:xfrm>
            <a:off x="4654296" y="3060954"/>
            <a:ext cx="457200" cy="1785366"/>
          </a:xfrm>
          <a:prstGeom prst="rect">
            <a:avLst/>
          </a:prstGeom>
          <a:solidFill>
            <a:schemeClr val="accent3"/>
          </a:solidFill>
          <a:ln/>
        </p:spPr>
      </p:sp>
      <p:sp>
        <p:nvSpPr>
          <p:cNvPr id="32" name="Text 337"/>
          <p:cNvSpPr txBox="1"/>
          <p:nvPr/>
        </p:nvSpPr>
        <p:spPr>
          <a:xfrm>
            <a:off x="4562856" y="2814066"/>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0.71</a:t>
            </a:r>
            <a:endParaRPr lang="en-US" sz="1200" dirty="0"/>
          </a:p>
        </p:txBody>
      </p:sp>
      <p:sp>
        <p:nvSpPr>
          <p:cNvPr id="33" name="Text 338"/>
          <p:cNvSpPr txBox="1"/>
          <p:nvPr/>
        </p:nvSpPr>
        <p:spPr>
          <a:xfrm>
            <a:off x="3977640" y="4919472"/>
            <a:ext cx="1280160" cy="237744"/>
          </a:xfrm>
          <a:prstGeom prst="rect">
            <a:avLst/>
          </a:prstGeom>
          <a:noFill/>
          <a:ln/>
        </p:spPr>
        <p:txBody>
          <a:bodyPr wrap="square" lIns="0" tIns="0" rIns="0" bIns="0" rtlCol="0" anchor="t"/>
          <a:lstStyle/>
          <a:p>
            <a:pPr algn="ctr" indent="0" marL="0">
              <a:buNone/>
            </a:pPr>
            <a:r>
              <a:rPr lang="en-US" sz="1200" dirty="0">
                <a:solidFill>
                  <a:schemeClr val="accent4"/>
                </a:solidFill>
              </a:rPr>
              <a:t>Run 3</a:t>
            </a:r>
            <a:endParaRPr lang="en-US" sz="1200" dirty="0"/>
          </a:p>
        </p:txBody>
      </p:sp>
      <p:sp>
        <p:nvSpPr>
          <p:cNvPr id="34" name="Bar 339"/>
          <p:cNvSpPr/>
          <p:nvPr/>
        </p:nvSpPr>
        <p:spPr>
          <a:xfrm>
            <a:off x="5404104" y="3111246"/>
            <a:ext cx="457200" cy="1735074"/>
          </a:xfrm>
          <a:prstGeom prst="rect">
            <a:avLst/>
          </a:prstGeom>
          <a:solidFill>
            <a:schemeClr val="tx2"/>
          </a:solidFill>
          <a:ln/>
        </p:spPr>
      </p:sp>
      <p:sp>
        <p:nvSpPr>
          <p:cNvPr id="35" name="Text 340"/>
          <p:cNvSpPr txBox="1"/>
          <p:nvPr/>
        </p:nvSpPr>
        <p:spPr>
          <a:xfrm>
            <a:off x="5312664" y="2864358"/>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0.69</a:t>
            </a:r>
            <a:endParaRPr lang="en-US" sz="1200" dirty="0"/>
          </a:p>
        </p:txBody>
      </p:sp>
      <p:sp>
        <p:nvSpPr>
          <p:cNvPr id="36" name="Bar 341"/>
          <p:cNvSpPr/>
          <p:nvPr/>
        </p:nvSpPr>
        <p:spPr>
          <a:xfrm>
            <a:off x="5934456" y="2884932"/>
            <a:ext cx="457200" cy="1961388"/>
          </a:xfrm>
          <a:prstGeom prst="rect">
            <a:avLst/>
          </a:prstGeom>
          <a:solidFill>
            <a:schemeClr val="accent3"/>
          </a:solidFill>
          <a:ln/>
        </p:spPr>
      </p:sp>
      <p:sp>
        <p:nvSpPr>
          <p:cNvPr id="37" name="Text 342"/>
          <p:cNvSpPr txBox="1"/>
          <p:nvPr/>
        </p:nvSpPr>
        <p:spPr>
          <a:xfrm>
            <a:off x="5843016" y="2638044"/>
            <a:ext cx="640080" cy="219456"/>
          </a:xfrm>
          <a:prstGeom prst="rect">
            <a:avLst/>
          </a:prstGeom>
          <a:noFill/>
          <a:ln/>
        </p:spPr>
        <p:txBody>
          <a:bodyPr wrap="square" lIns="0" tIns="0" rIns="0" bIns="0" rtlCol="0" anchor="t"/>
          <a:lstStyle/>
          <a:p>
            <a:pPr algn="ctr" indent="0" marL="0">
              <a:buNone/>
            </a:pPr>
            <a:r>
              <a:rPr lang="en-US" sz="1200" b="1" dirty="0">
                <a:solidFill>
                  <a:schemeClr val="tx1"/>
                </a:solidFill>
              </a:rPr>
              <a:t>0.78</a:t>
            </a:r>
            <a:endParaRPr lang="en-US" sz="1200" dirty="0"/>
          </a:p>
        </p:txBody>
      </p:sp>
      <p:sp>
        <p:nvSpPr>
          <p:cNvPr id="38" name="Text 343"/>
          <p:cNvSpPr txBox="1"/>
          <p:nvPr/>
        </p:nvSpPr>
        <p:spPr>
          <a:xfrm>
            <a:off x="5257800" y="4919472"/>
            <a:ext cx="1280160" cy="237744"/>
          </a:xfrm>
          <a:prstGeom prst="rect">
            <a:avLst/>
          </a:prstGeom>
          <a:noFill/>
          <a:ln/>
        </p:spPr>
        <p:txBody>
          <a:bodyPr wrap="square" lIns="0" tIns="0" rIns="0" bIns="0" rtlCol="0" anchor="t"/>
          <a:lstStyle/>
          <a:p>
            <a:pPr algn="ctr" indent="0" marL="0">
              <a:buNone/>
            </a:pPr>
            <a:r>
              <a:rPr lang="en-US" sz="1200" b="1" dirty="0">
                <a:solidFill>
                  <a:schemeClr val="tx1"/>
                </a:solidFill>
              </a:rPr>
              <a:t>Mean</a:t>
            </a:r>
            <a:endParaRPr lang="en-US" sz="1200" dirty="0"/>
          </a:p>
        </p:txBody>
      </p:sp>
      <p:sp>
        <p:nvSpPr>
          <p:cNvPr id="39" name="Legend 344"/>
          <p:cNvSpPr/>
          <p:nvPr/>
        </p:nvSpPr>
        <p:spPr>
          <a:xfrm>
            <a:off x="2651760" y="5321808"/>
            <a:ext cx="146304" cy="146304"/>
          </a:xfrm>
          <a:prstGeom prst="rect">
            <a:avLst/>
          </a:prstGeom>
          <a:solidFill>
            <a:schemeClr val="tx2"/>
          </a:solidFill>
          <a:ln/>
        </p:spPr>
      </p:sp>
      <p:sp>
        <p:nvSpPr>
          <p:cNvPr id="40" name="Text 345"/>
          <p:cNvSpPr txBox="1"/>
          <p:nvPr/>
        </p:nvSpPr>
        <p:spPr>
          <a:xfrm>
            <a:off x="2871216" y="5276088"/>
            <a:ext cx="1005840" cy="237744"/>
          </a:xfrm>
          <a:prstGeom prst="rect">
            <a:avLst/>
          </a:prstGeom>
          <a:noFill/>
          <a:ln/>
        </p:spPr>
        <p:txBody>
          <a:bodyPr wrap="square" lIns="0" tIns="0" rIns="0" bIns="0" rtlCol="0" anchor="t"/>
          <a:lstStyle/>
          <a:p>
            <a:pPr algn="l" indent="0" marL="0">
              <a:buNone/>
            </a:pPr>
            <a:r>
              <a:rPr lang="en-US" sz="1200" dirty="0">
                <a:solidFill>
                  <a:schemeClr val="tx1"/>
                </a:solidFill>
              </a:rPr>
              <a:t>Precision</a:t>
            </a:r>
            <a:endParaRPr lang="en-US" sz="1200" dirty="0"/>
          </a:p>
        </p:txBody>
      </p:sp>
      <p:sp>
        <p:nvSpPr>
          <p:cNvPr id="41" name="Legend 346"/>
          <p:cNvSpPr/>
          <p:nvPr/>
        </p:nvSpPr>
        <p:spPr>
          <a:xfrm>
            <a:off x="3977640" y="5321808"/>
            <a:ext cx="146304" cy="146304"/>
          </a:xfrm>
          <a:prstGeom prst="rect">
            <a:avLst/>
          </a:prstGeom>
          <a:solidFill>
            <a:schemeClr val="accent3"/>
          </a:solidFill>
          <a:ln/>
        </p:spPr>
      </p:sp>
      <p:sp>
        <p:nvSpPr>
          <p:cNvPr id="42" name="Text 347"/>
          <p:cNvSpPr txBox="1"/>
          <p:nvPr/>
        </p:nvSpPr>
        <p:spPr>
          <a:xfrm>
            <a:off x="4197096" y="5276088"/>
            <a:ext cx="1005840" cy="237744"/>
          </a:xfrm>
          <a:prstGeom prst="rect">
            <a:avLst/>
          </a:prstGeom>
          <a:noFill/>
          <a:ln/>
        </p:spPr>
        <p:txBody>
          <a:bodyPr wrap="square" lIns="0" tIns="0" rIns="0" bIns="0" rtlCol="0" anchor="t"/>
          <a:lstStyle/>
          <a:p>
            <a:pPr algn="l" indent="0" marL="0">
              <a:buNone/>
            </a:pPr>
            <a:r>
              <a:rPr lang="en-US" sz="1200" dirty="0">
                <a:solidFill>
                  <a:schemeClr val="tx1"/>
                </a:solidFill>
              </a:rPr>
              <a:t>Recall</a:t>
            </a:r>
            <a:endParaRPr lang="en-US" sz="1200" dirty="0"/>
          </a:p>
        </p:txBody>
      </p:sp>
      <p:sp>
        <p:nvSpPr>
          <p:cNvPr id="43" name="Text 348"/>
          <p:cNvSpPr txBox="1"/>
          <p:nvPr/>
        </p:nvSpPr>
        <p:spPr>
          <a:xfrm>
            <a:off x="822960" y="5650992"/>
            <a:ext cx="5760720" cy="274320"/>
          </a:xfrm>
          <a:prstGeom prst="rect">
            <a:avLst/>
          </a:prstGeom>
          <a:noFill/>
          <a:ln/>
        </p:spPr>
        <p:txBody>
          <a:bodyPr wrap="square" lIns="0" tIns="0" rIns="0" bIns="0" rtlCol="0" anchor="t"/>
          <a:lstStyle/>
          <a:p>
            <a:pPr algn="l" indent="0" marL="0">
              <a:buNone/>
            </a:pPr>
            <a:r>
              <a:rPr lang="en-US" sz="1100" dirty="0">
                <a:solidFill>
                  <a:schemeClr val="accent4"/>
                </a:solidFill>
              </a:rPr>
              <a:t>Reference: two Claude Opus 5.5 raters and a reviewed third pass; not clinical labels.</a:t>
            </a:r>
            <a:endParaRPr lang="en-US" sz="1100" dirty="0"/>
          </a:p>
        </p:txBody>
      </p:sp>
      <p:sp>
        <p:nvSpPr>
          <p:cNvPr id="44" name="Card 349"/>
          <p:cNvSpPr/>
          <p:nvPr/>
        </p:nvSpPr>
        <p:spPr>
          <a:xfrm>
            <a:off x="7132320" y="1554480"/>
            <a:ext cx="4510735" cy="1005840"/>
          </a:xfrm>
          <a:prstGeom prst="roundRect">
            <a:avLst>
              <a:gd name="adj" fmla="val 8182"/>
            </a:avLst>
          </a:prstGeom>
          <a:solidFill>
            <a:schemeClr val="bg1"/>
          </a:solidFill>
          <a:ln w="9525">
            <a:solidFill>
              <a:schemeClr val="accent4">
                <a:alpha val="35000"/>
              </a:schemeClr>
            </a:solidFill>
            <a:prstDash val="solid"/>
          </a:ln>
        </p:spPr>
      </p:sp>
      <p:sp>
        <p:nvSpPr>
          <p:cNvPr id="45" name="Text 350"/>
          <p:cNvSpPr txBox="1"/>
          <p:nvPr/>
        </p:nvSpPr>
        <p:spPr>
          <a:xfrm>
            <a:off x="7360920" y="1554480"/>
            <a:ext cx="1554480" cy="1005840"/>
          </a:xfrm>
          <a:prstGeom prst="rect">
            <a:avLst/>
          </a:prstGeom>
          <a:noFill/>
          <a:ln/>
        </p:spPr>
        <p:txBody>
          <a:bodyPr wrap="square" lIns="0" tIns="0" rIns="0" bIns="0" rtlCol="0" anchor="ctr"/>
          <a:lstStyle/>
          <a:p>
            <a:pPr algn="l" indent="0" marL="0">
              <a:buNone/>
            </a:pPr>
            <a:r>
              <a:rPr lang="en-US" sz="2800" b="1" dirty="0">
                <a:solidFill>
                  <a:schemeClr val="tx2"/>
                </a:solidFill>
              </a:rPr>
              <a:t>335</a:t>
            </a:r>
            <a:endParaRPr lang="en-US" sz="2800" dirty="0"/>
          </a:p>
        </p:txBody>
      </p:sp>
      <p:sp>
        <p:nvSpPr>
          <p:cNvPr id="46" name="Text 351"/>
          <p:cNvSpPr txBox="1"/>
          <p:nvPr/>
        </p:nvSpPr>
        <p:spPr>
          <a:xfrm>
            <a:off x="8961120" y="1554480"/>
            <a:ext cx="2453335" cy="1005840"/>
          </a:xfrm>
          <a:prstGeom prst="rect">
            <a:avLst/>
          </a:prstGeom>
          <a:noFill/>
          <a:ln/>
        </p:spPr>
        <p:txBody>
          <a:bodyPr wrap="square" lIns="0" tIns="0" rIns="0" bIns="0" rtlCol="0" anchor="ctr"/>
          <a:lstStyle/>
          <a:p>
            <a:pPr algn="l" indent="0" marL="0">
              <a:buNone/>
            </a:pPr>
            <a:r>
              <a:rPr lang="en-US" sz="1400" dirty="0">
                <a:solidFill>
                  <a:schemeClr val="tx1"/>
                </a:solidFill>
              </a:rPr>
              <a:t>reviews and 79 Alerts, from three replays of three full records</a:t>
            </a:r>
            <a:endParaRPr lang="en-US" sz="1400" dirty="0"/>
          </a:p>
        </p:txBody>
      </p:sp>
      <p:sp>
        <p:nvSpPr>
          <p:cNvPr id="47" name="Card 352"/>
          <p:cNvSpPr/>
          <p:nvPr/>
        </p:nvSpPr>
        <p:spPr>
          <a:xfrm>
            <a:off x="7132320" y="2727655"/>
            <a:ext cx="4510735" cy="1005840"/>
          </a:xfrm>
          <a:prstGeom prst="roundRect">
            <a:avLst>
              <a:gd name="adj" fmla="val 8182"/>
            </a:avLst>
          </a:prstGeom>
          <a:solidFill>
            <a:schemeClr val="bg1"/>
          </a:solidFill>
          <a:ln w="9525">
            <a:solidFill>
              <a:schemeClr val="accent4">
                <a:alpha val="35000"/>
              </a:schemeClr>
            </a:solidFill>
            <a:prstDash val="solid"/>
          </a:ln>
        </p:spPr>
      </p:sp>
      <p:sp>
        <p:nvSpPr>
          <p:cNvPr id="48" name="Text 353"/>
          <p:cNvSpPr txBox="1"/>
          <p:nvPr/>
        </p:nvSpPr>
        <p:spPr>
          <a:xfrm>
            <a:off x="7360920" y="2727655"/>
            <a:ext cx="1554480" cy="1005840"/>
          </a:xfrm>
          <a:prstGeom prst="rect">
            <a:avLst/>
          </a:prstGeom>
          <a:noFill/>
          <a:ln/>
        </p:spPr>
        <p:txBody>
          <a:bodyPr wrap="square" lIns="0" tIns="0" rIns="0" bIns="0" rtlCol="0" anchor="ctr"/>
          <a:lstStyle/>
          <a:p>
            <a:pPr algn="l" indent="0" marL="0">
              <a:buNone/>
            </a:pPr>
            <a:r>
              <a:rPr lang="en-US" sz="2800" b="1" dirty="0">
                <a:solidFill>
                  <a:schemeClr val="tx2"/>
                </a:solidFill>
              </a:rPr>
              <a:t>18/25</a:t>
            </a:r>
            <a:endParaRPr lang="en-US" sz="2800" dirty="0"/>
          </a:p>
        </p:txBody>
      </p:sp>
      <p:sp>
        <p:nvSpPr>
          <p:cNvPr id="49" name="Text 354"/>
          <p:cNvSpPr txBox="1"/>
          <p:nvPr/>
        </p:nvSpPr>
        <p:spPr>
          <a:xfrm>
            <a:off x="8961120" y="2727655"/>
            <a:ext cx="2453335" cy="1005840"/>
          </a:xfrm>
          <a:prstGeom prst="rect">
            <a:avLst/>
          </a:prstGeom>
          <a:noFill/>
          <a:ln/>
        </p:spPr>
        <p:txBody>
          <a:bodyPr wrap="square" lIns="0" tIns="0" rIns="0" bIns="0" rtlCol="0" anchor="ctr"/>
          <a:lstStyle/>
          <a:p>
            <a:pPr algn="l" indent="0" marL="0">
              <a:buNone/>
            </a:pPr>
            <a:r>
              <a:rPr lang="en-US" sz="1400" dirty="0">
                <a:solidFill>
                  <a:schemeClr val="tx1"/>
                </a:solidFill>
              </a:rPr>
              <a:t>unnecessary Alerts repeated a Condition already reported</a:t>
            </a:r>
            <a:endParaRPr lang="en-US" sz="1400" dirty="0"/>
          </a:p>
        </p:txBody>
      </p:sp>
      <p:sp>
        <p:nvSpPr>
          <p:cNvPr id="50" name="Card 355"/>
          <p:cNvSpPr/>
          <p:nvPr/>
        </p:nvSpPr>
        <p:spPr>
          <a:xfrm>
            <a:off x="7132320" y="3900830"/>
            <a:ext cx="4510735" cy="1005840"/>
          </a:xfrm>
          <a:prstGeom prst="roundRect">
            <a:avLst>
              <a:gd name="adj" fmla="val 8182"/>
            </a:avLst>
          </a:prstGeom>
          <a:solidFill>
            <a:schemeClr val="bg1"/>
          </a:solidFill>
          <a:ln w="9525">
            <a:solidFill>
              <a:schemeClr val="accent4">
                <a:alpha val="35000"/>
              </a:schemeClr>
            </a:solidFill>
            <a:prstDash val="solid"/>
          </a:ln>
        </p:spPr>
      </p:sp>
      <p:sp>
        <p:nvSpPr>
          <p:cNvPr id="51" name="Text 356"/>
          <p:cNvSpPr txBox="1"/>
          <p:nvPr/>
        </p:nvSpPr>
        <p:spPr>
          <a:xfrm>
            <a:off x="7360920" y="3900830"/>
            <a:ext cx="1554480" cy="1005840"/>
          </a:xfrm>
          <a:prstGeom prst="rect">
            <a:avLst/>
          </a:prstGeom>
          <a:noFill/>
          <a:ln/>
        </p:spPr>
        <p:txBody>
          <a:bodyPr wrap="square" lIns="0" tIns="0" rIns="0" bIns="0" rtlCol="0" anchor="ctr"/>
          <a:lstStyle/>
          <a:p>
            <a:pPr algn="l" indent="0" marL="0">
              <a:buNone/>
            </a:pPr>
            <a:r>
              <a:rPr lang="en-US" sz="2800" b="1" dirty="0">
                <a:solidFill>
                  <a:schemeClr val="tx2"/>
                </a:solidFill>
              </a:rPr>
              <a:t>6/15</a:t>
            </a:r>
            <a:endParaRPr lang="en-US" sz="2800" dirty="0"/>
          </a:p>
        </p:txBody>
      </p:sp>
      <p:sp>
        <p:nvSpPr>
          <p:cNvPr id="52" name="Text 357"/>
          <p:cNvSpPr txBox="1"/>
          <p:nvPr/>
        </p:nvSpPr>
        <p:spPr>
          <a:xfrm>
            <a:off x="8961120" y="3900830"/>
            <a:ext cx="2453335" cy="1005840"/>
          </a:xfrm>
          <a:prstGeom prst="rect">
            <a:avLst/>
          </a:prstGeom>
          <a:noFill/>
          <a:ln/>
        </p:spPr>
        <p:txBody>
          <a:bodyPr wrap="square" lIns="0" tIns="0" rIns="0" bIns="0" rtlCol="0" anchor="ctr"/>
          <a:lstStyle/>
          <a:p>
            <a:pPr algn="l" indent="0" marL="0">
              <a:buNone/>
            </a:pPr>
            <a:r>
              <a:rPr lang="en-US" sz="1400" dirty="0">
                <a:solidFill>
                  <a:schemeClr val="tx1"/>
                </a:solidFill>
              </a:rPr>
              <a:t>missed Alerts were sleep debt</a:t>
            </a:r>
            <a:endParaRPr lang="en-US" sz="1400" dirty="0"/>
          </a:p>
        </p:txBody>
      </p:sp>
      <p:sp>
        <p:nvSpPr>
          <p:cNvPr id="53" name="Card 358"/>
          <p:cNvSpPr/>
          <p:nvPr/>
        </p:nvSpPr>
        <p:spPr>
          <a:xfrm>
            <a:off x="7132320" y="5074006"/>
            <a:ext cx="4510735" cy="1005840"/>
          </a:xfrm>
          <a:prstGeom prst="roundRect">
            <a:avLst>
              <a:gd name="adj" fmla="val 8182"/>
            </a:avLst>
          </a:prstGeom>
          <a:solidFill>
            <a:schemeClr val="bg1"/>
          </a:solidFill>
          <a:ln w="9525">
            <a:solidFill>
              <a:schemeClr val="accent4">
                <a:alpha val="35000"/>
              </a:schemeClr>
            </a:solidFill>
            <a:prstDash val="solid"/>
          </a:ln>
        </p:spPr>
      </p:sp>
      <p:sp>
        <p:nvSpPr>
          <p:cNvPr id="54" name="Text 359"/>
          <p:cNvSpPr txBox="1"/>
          <p:nvPr/>
        </p:nvSpPr>
        <p:spPr>
          <a:xfrm>
            <a:off x="7360920" y="5074006"/>
            <a:ext cx="1554480" cy="1005840"/>
          </a:xfrm>
          <a:prstGeom prst="rect">
            <a:avLst/>
          </a:prstGeom>
          <a:noFill/>
          <a:ln/>
        </p:spPr>
        <p:txBody>
          <a:bodyPr wrap="square" lIns="0" tIns="0" rIns="0" bIns="0" rtlCol="0" anchor="ctr"/>
          <a:lstStyle/>
          <a:p>
            <a:pPr algn="l" indent="0" marL="0">
              <a:buNone/>
            </a:pPr>
            <a:r>
              <a:rPr lang="en-US" sz="2800" b="1" dirty="0">
                <a:solidFill>
                  <a:schemeClr val="tx2"/>
                </a:solidFill>
              </a:rPr>
              <a:t>96.4%</a:t>
            </a:r>
            <a:endParaRPr lang="en-US" sz="2800" dirty="0"/>
          </a:p>
        </p:txBody>
      </p:sp>
      <p:sp>
        <p:nvSpPr>
          <p:cNvPr id="55" name="Text 360"/>
          <p:cNvSpPr txBox="1"/>
          <p:nvPr/>
        </p:nvSpPr>
        <p:spPr>
          <a:xfrm>
            <a:off x="8961120" y="5074006"/>
            <a:ext cx="2453335" cy="1005840"/>
          </a:xfrm>
          <a:prstGeom prst="rect">
            <a:avLst/>
          </a:prstGeom>
          <a:noFill/>
          <a:ln/>
        </p:spPr>
        <p:txBody>
          <a:bodyPr wrap="square" lIns="0" tIns="0" rIns="0" bIns="0" rtlCol="0" anchor="ctr"/>
          <a:lstStyle/>
          <a:p>
            <a:pPr algn="l" indent="0" marL="0">
              <a:buNone/>
            </a:pPr>
            <a:r>
              <a:rPr lang="en-US" sz="1400" dirty="0">
                <a:solidFill>
                  <a:schemeClr val="tx1"/>
                </a:solidFill>
              </a:rPr>
              <a:t>of 1,120 Alert statements supported; 2.1% contradicted</a:t>
            </a:r>
            <a:endParaRPr lang="en-US" sz="14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56032"/>
          </a:xfrm>
          <a:prstGeom prst="rect">
            <a:avLst/>
          </a:prstGeom>
          <a:noFill/>
          <a:ln/>
        </p:spPr>
        <p:txBody>
          <a:bodyPr wrap="square" lIns="0" tIns="0" rIns="0" bIns="0" rtlCol="0" anchor="t"/>
          <a:lstStyle/>
          <a:p>
            <a:pPr indent="0" marL="0">
              <a:buNone/>
            </a:pPr>
            <a:r>
              <a:rPr lang="en-US" sz="1200" b="1" spc="150" kern="0" dirty="0">
                <a:solidFill>
                  <a:schemeClr val="accent2"/>
                </a:solidFill>
              </a:rPr>
              <a:t>CONCLUSION</a:t>
            </a:r>
            <a:endParaRPr lang="en-US" sz="1200" dirty="0"/>
          </a:p>
        </p:txBody>
      </p:sp>
      <p:sp>
        <p:nvSpPr>
          <p:cNvPr id="3" name="Text 0"/>
          <p:cNvSpPr/>
          <p:nvPr>
            <p:ph idx="101" type="title" hasCustomPrompt="1"/>
          </p:nvPr>
        </p:nvSpPr>
        <p:spPr>
          <a:xfrm>
            <a:off x="548640" y="676656"/>
            <a:ext cx="11094415" cy="658368"/>
          </a:xfrm>
          <a:prstGeom prst="rect">
            <a:avLst/>
          </a:prstGeom>
          <a:noFill/>
          <a:ln/>
        </p:spPr>
        <p:txBody>
          <a:bodyPr wrap="square" lIns="0" tIns="0" rIns="0" bIns="0" rtlCol="0" anchor="t"/>
          <a:lstStyle/>
          <a:p>
            <a:pPr algn="l" indent="0" marL="0">
              <a:buNone/>
            </a:pPr>
            <a:r>
              <a:rPr lang="en-US" sz="3000" b="1" dirty="0">
                <a:solidFill>
                  <a:schemeClr val="bg1"/>
                </a:solidFill>
              </a:rPr>
              <a:t>Useful, but not yet safe without a person checking</a:t>
            </a:r>
            <a:endParaRPr lang="en-US" sz="3000" dirty="0"/>
          </a:p>
        </p:txBody>
      </p:sp>
      <p:sp>
        <p:nvSpPr>
          <p:cNvPr id="5" name="Text 361"/>
          <p:cNvSpPr txBox="1"/>
          <p:nvPr/>
        </p:nvSpPr>
        <p:spPr>
          <a:xfrm>
            <a:off x="548640" y="1600200"/>
            <a:ext cx="11094415" cy="640080"/>
          </a:xfrm>
          <a:prstGeom prst="rect">
            <a:avLst/>
          </a:prstGeom>
          <a:noFill/>
          <a:ln/>
        </p:spPr>
        <p:txBody>
          <a:bodyPr wrap="square" lIns="0" tIns="0" rIns="0" bIns="0" rtlCol="0" anchor="t"/>
          <a:lstStyle/>
          <a:p>
            <a:pPr algn="l" indent="0" marL="0">
              <a:buNone/>
            </a:pPr>
            <a:r>
              <a:rPr lang="en-US" sz="1800" dirty="0">
                <a:solidFill>
                  <a:schemeClr val="bg1"/>
                </a:solidFill>
              </a:rPr>
              <a:t>The limits that code enforces held in every test. The Agent's judgement on when to alert was right about two times in three.</a:t>
            </a:r>
            <a:endParaRPr lang="en-US" sz="1800" dirty="0"/>
          </a:p>
        </p:txBody>
      </p:sp>
      <p:sp>
        <p:nvSpPr>
          <p:cNvPr id="6" name="Card 362"/>
          <p:cNvSpPr/>
          <p:nvPr/>
        </p:nvSpPr>
        <p:spPr>
          <a:xfrm>
            <a:off x="548640" y="2560320"/>
            <a:ext cx="5410048" cy="2971800"/>
          </a:xfrm>
          <a:prstGeom prst="roundRect">
            <a:avLst>
              <a:gd name="adj" fmla="val 2769"/>
            </a:avLst>
          </a:prstGeom>
          <a:solidFill>
            <a:schemeClr val="accent1"/>
          </a:solidFill>
          <a:ln/>
        </p:spPr>
      </p:sp>
      <p:sp>
        <p:nvSpPr>
          <p:cNvPr id="7" name="Text 363"/>
          <p:cNvSpPr txBox="1"/>
          <p:nvPr/>
        </p:nvSpPr>
        <p:spPr>
          <a:xfrm>
            <a:off x="822960" y="2816352"/>
            <a:ext cx="4861408" cy="219456"/>
          </a:xfrm>
          <a:prstGeom prst="rect">
            <a:avLst/>
          </a:prstGeom>
          <a:noFill/>
          <a:ln/>
        </p:spPr>
        <p:txBody>
          <a:bodyPr wrap="square" lIns="0" tIns="0" rIns="0" bIns="0" rtlCol="0" anchor="t"/>
          <a:lstStyle/>
          <a:p>
            <a:pPr algn="l" indent="0" marL="0">
              <a:buNone/>
            </a:pPr>
            <a:r>
              <a:rPr lang="en-US" sz="1050" b="1" spc="120" kern="0" dirty="0">
                <a:solidFill>
                  <a:schemeClr val="accent2"/>
                </a:solidFill>
              </a:rPr>
              <a:t>MAIN LIMITATIONS</a:t>
            </a:r>
            <a:endParaRPr lang="en-US" sz="1050" dirty="0"/>
          </a:p>
        </p:txBody>
      </p:sp>
      <p:sp>
        <p:nvSpPr>
          <p:cNvPr id="8" name="Text 364"/>
          <p:cNvSpPr txBox="1"/>
          <p:nvPr/>
        </p:nvSpPr>
        <p:spPr>
          <a:xfrm>
            <a:off x="822960" y="3246120"/>
            <a:ext cx="4861408" cy="2148840"/>
          </a:xfrm>
          <a:prstGeom prst="rect">
            <a:avLst/>
          </a:prstGeom>
          <a:noFill/>
          <a:ln/>
        </p:spPr>
        <p:txBody>
          <a:bodyPr wrap="square" lIns="0" tIns="0" rIns="0" bIns="0" rtlCol="0" anchor="t"/>
          <a:lstStyle/>
          <a:p>
            <a:pPr algn="l" marL="177800" indent="-177800">
              <a:spcAft>
                <a:spcPts val="1200"/>
              </a:spcAft>
              <a:buSzPct val="100000"/>
              <a:buChar char="•"/>
            </a:pPr>
            <a:r>
              <a:rPr lang="en-US" sz="1500" dirty="0">
                <a:solidFill>
                  <a:schemeClr val="bg1"/>
                </a:solidFill>
              </a:rPr>
              <a:t>Only the model recognises warning symptoms</a:t>
            </a:r>
            <a:endParaRPr lang="en-US" sz="1500" dirty="0"/>
          </a:p>
          <a:p>
            <a:pPr algn="l" marL="177800" indent="-177800">
              <a:spcAft>
                <a:spcPts val="1200"/>
              </a:spcAft>
              <a:buSzPct val="100000"/>
              <a:buChar char="•"/>
            </a:pPr>
            <a:r>
              <a:rPr lang="en-US" sz="1500" dirty="0">
                <a:solidFill>
                  <a:schemeClr val="bg1"/>
                </a:solidFill>
              </a:rPr>
              <a:t>One Alert in three is unnecessary; one case in five is missed</a:t>
            </a:r>
            <a:endParaRPr lang="en-US" sz="1500" dirty="0"/>
          </a:p>
          <a:p>
            <a:pPr algn="l" marL="177800" indent="-177800">
              <a:spcAft>
                <a:spcPts val="1200"/>
              </a:spcAft>
              <a:buSzPct val="100000"/>
              <a:buChar char="•"/>
            </a:pPr>
            <a:r>
              <a:rPr lang="en-US" sz="1500" dirty="0">
                <a:solidFill>
                  <a:schemeClr val="bg1"/>
                </a:solidFill>
              </a:rPr>
              <a:t>Reference labels come from language models, not clinicians</a:t>
            </a:r>
            <a:endParaRPr lang="en-US" sz="1500" dirty="0"/>
          </a:p>
          <a:p>
            <a:pPr algn="l" marL="177800" indent="-177800">
              <a:spcAft>
                <a:spcPts val="1200"/>
              </a:spcAft>
              <a:buSzPct val="100000"/>
              <a:buChar char="•"/>
            </a:pPr>
            <a:r>
              <a:rPr lang="en-US" sz="1500" dirty="0">
                <a:solidFill>
                  <a:schemeClr val="bg1"/>
                </a:solidFill>
              </a:rPr>
              <a:t>Three people, one dataset; no clinician in the loop</a:t>
            </a:r>
            <a:endParaRPr lang="en-US" sz="1500" dirty="0"/>
          </a:p>
        </p:txBody>
      </p:sp>
      <p:sp>
        <p:nvSpPr>
          <p:cNvPr id="9" name="Card 365"/>
          <p:cNvSpPr/>
          <p:nvPr/>
        </p:nvSpPr>
        <p:spPr>
          <a:xfrm>
            <a:off x="6233008" y="2560320"/>
            <a:ext cx="5410048" cy="2971800"/>
          </a:xfrm>
          <a:prstGeom prst="roundRect">
            <a:avLst>
              <a:gd name="adj" fmla="val 2769"/>
            </a:avLst>
          </a:prstGeom>
          <a:solidFill>
            <a:schemeClr val="accent1"/>
          </a:solidFill>
          <a:ln/>
        </p:spPr>
      </p:sp>
      <p:sp>
        <p:nvSpPr>
          <p:cNvPr id="10" name="Text 366"/>
          <p:cNvSpPr txBox="1"/>
          <p:nvPr/>
        </p:nvSpPr>
        <p:spPr>
          <a:xfrm>
            <a:off x="6507328" y="2816352"/>
            <a:ext cx="4861408" cy="219456"/>
          </a:xfrm>
          <a:prstGeom prst="rect">
            <a:avLst/>
          </a:prstGeom>
          <a:noFill/>
          <a:ln/>
        </p:spPr>
        <p:txBody>
          <a:bodyPr wrap="square" lIns="0" tIns="0" rIns="0" bIns="0" rtlCol="0" anchor="t"/>
          <a:lstStyle/>
          <a:p>
            <a:pPr algn="l" indent="0" marL="0">
              <a:buNone/>
            </a:pPr>
            <a:r>
              <a:rPr lang="en-US" sz="1050" b="1" spc="120" kern="0" dirty="0">
                <a:solidFill>
                  <a:schemeClr val="accent2"/>
                </a:solidFill>
              </a:rPr>
              <a:t>NEXT STEPS</a:t>
            </a:r>
            <a:endParaRPr lang="en-US" sz="1050" dirty="0"/>
          </a:p>
        </p:txBody>
      </p:sp>
      <p:sp>
        <p:nvSpPr>
          <p:cNvPr id="11" name="Text 367"/>
          <p:cNvSpPr txBox="1"/>
          <p:nvPr/>
        </p:nvSpPr>
        <p:spPr>
          <a:xfrm>
            <a:off x="6507328" y="3246120"/>
            <a:ext cx="4861408" cy="2148840"/>
          </a:xfrm>
          <a:prstGeom prst="rect">
            <a:avLst/>
          </a:prstGeom>
          <a:noFill/>
          <a:ln/>
        </p:spPr>
        <p:txBody>
          <a:bodyPr wrap="square" lIns="0" tIns="0" rIns="0" bIns="0" rtlCol="0" anchor="t"/>
          <a:lstStyle/>
          <a:p>
            <a:pPr algn="l" marL="177800" indent="-177800">
              <a:spcAft>
                <a:spcPts val="1200"/>
              </a:spcAft>
              <a:buSzPct val="100000"/>
              <a:buChar char="•"/>
            </a:pPr>
            <a:r>
              <a:rPr lang="en-US" sz="1500" dirty="0">
                <a:solidFill>
                  <a:schemeClr val="bg1"/>
                </a:solidFill>
              </a:rPr>
              <a:t>Fewer repeat Alerts on Conditions the person knows about</a:t>
            </a:r>
            <a:endParaRPr lang="en-US" sz="1500" dirty="0"/>
          </a:p>
          <a:p>
            <a:pPr algn="l" marL="177800" indent="-177800">
              <a:spcAft>
                <a:spcPts val="1200"/>
              </a:spcAft>
              <a:buSzPct val="100000"/>
              <a:buChar char="•"/>
            </a:pPr>
            <a:r>
              <a:rPr lang="en-US" sz="1500" dirty="0">
                <a:solidFill>
                  <a:schemeClr val="bg1"/>
                </a:solidFill>
              </a:rPr>
              <a:t>An injury detector for monitoring</a:t>
            </a:r>
            <a:endParaRPr lang="en-US" sz="1500" dirty="0"/>
          </a:p>
          <a:p>
            <a:pPr algn="l" marL="177800" indent="-177800">
              <a:spcAft>
                <a:spcPts val="1200"/>
              </a:spcAft>
              <a:buSzPct val="100000"/>
              <a:buChar char="•"/>
            </a:pPr>
            <a:r>
              <a:rPr lang="en-US" sz="1500" dirty="0">
                <a:solidFill>
                  <a:schemeClr val="bg1"/>
                </a:solidFill>
              </a:rPr>
              <a:t>A fixed symptom follow-up after serious heart-rate Alerts</a:t>
            </a:r>
            <a:endParaRPr lang="en-US" sz="1500" dirty="0"/>
          </a:p>
          <a:p>
            <a:pPr algn="l" marL="177800" indent="-177800">
              <a:spcAft>
                <a:spcPts val="1200"/>
              </a:spcAft>
              <a:buSzPct val="100000"/>
              <a:buChar char="•"/>
            </a:pPr>
            <a:r>
              <a:rPr lang="en-US" sz="1500" dirty="0">
                <a:solidFill>
                  <a:schemeClr val="bg1"/>
                </a:solidFill>
              </a:rPr>
              <a:t>Coach or clinician labels, and a study with real users</a:t>
            </a:r>
            <a:endParaRPr lang="en-US" sz="1500" dirty="0"/>
          </a:p>
        </p:txBody>
      </p:sp>
      <p:sp>
        <p:nvSpPr>
          <p:cNvPr id="12" name="Text 368"/>
          <p:cNvSpPr txBox="1"/>
          <p:nvPr/>
        </p:nvSpPr>
        <p:spPr>
          <a:xfrm>
            <a:off x="548640" y="5806440"/>
            <a:ext cx="11094415" cy="365760"/>
          </a:xfrm>
          <a:prstGeom prst="rect">
            <a:avLst/>
          </a:prstGeom>
          <a:noFill/>
          <a:ln/>
        </p:spPr>
        <p:txBody>
          <a:bodyPr wrap="square" lIns="0" tIns="0" rIns="0" bIns="0" rtlCol="0" anchor="t"/>
          <a:lstStyle/>
          <a:p>
            <a:pPr algn="l" indent="0" marL="0">
              <a:buNone/>
            </a:pPr>
            <a:r>
              <a:rPr lang="en-US" sz="2000" b="1" dirty="0">
                <a:solidFill>
                  <a:schemeClr val="accent2"/>
                </a:solidFill>
              </a:rPr>
              <a:t>Thank you. Questions?</a:t>
            </a:r>
            <a:endParaRPr lang="en-US" sz="2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FitCoach">
  <a:themeElements>
    <a:clrScheme name="FitCoach">
      <a:dk1>
        <a:srgbClr val="17241F"/>
      </a:dk1>
      <a:lt1>
        <a:srgbClr val="FFFFFF"/>
      </a:lt1>
      <a:dk2>
        <a:srgbClr val="0B382B"/>
      </a:dk2>
      <a:lt2>
        <a:srgbClr val="F7F5EE"/>
      </a:lt2>
      <a:accent1>
        <a:srgbClr val="2F6B4F"/>
      </a:accent1>
      <a:accent2>
        <a:srgbClr val="C8E942"/>
      </a:accent2>
      <a:accent3>
        <a:srgbClr val="B4532A"/>
      </a:accent3>
      <a:accent4>
        <a:srgbClr val="5F6B65"/>
      </a:accent4>
      <a:accent5>
        <a:srgbClr val="E6EDD5"/>
      </a:accent5>
      <a:accent6>
        <a:srgbClr val="F4E6DA"/>
      </a:accent6>
      <a:hlink>
        <a:srgbClr val="2F6B4F"/>
      </a:hlink>
      <a:folHlink>
        <a:srgbClr val="5F6B65"/>
      </a:folHlink>
    </a:clrScheme>
    <a:fontScheme name="FitCoa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FitCoach: an agentic personal coach grounded in a person's own health record</dc:title>
  <dc:subject>CA6117 AI in Healthcare, group project presentation</dc:subject>
  <dc:creator>CA6117 Group 22</dc:creator>
  <cp:lastModifiedBy>CA6117 Group 22</cp:lastModifiedBy>
  <cp:revision>1</cp:revision>
  <dcterms:created xsi:type="dcterms:W3CDTF">2026-10-14T15:45:00Z</dcterms:created>
  <dcterms:modified xsi:type="dcterms:W3CDTF">2026-10-14T15:45:00Z</dcterms:modified>
</cp:coreProperties>
</file>